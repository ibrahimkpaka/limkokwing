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10" Target="docProps/custom.xml" Type="http://schemas.openxmlformats.org/officeDocument/2006/relationships/custom-properties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ppt/slideLayouts/slideLayout2.xml" Type="http://schemas.openxmlformats.org/officeDocument/2006/relationships/slideLayout"/><Relationship Id="rId6" Target="ppt/slideLayouts/slideLayout3.xml" Type="http://schemas.openxmlformats.org/officeDocument/2006/relationships/slideLayout"/><Relationship Id="rId7" Target="ppt/slideLayouts/slideLayout4.xml" Type="http://schemas.openxmlformats.org/officeDocument/2006/relationships/slideLayout"/><Relationship Id="rId8" Target="ppt/slideLayouts/slideLayout5.xml" Type="http://schemas.openxmlformats.org/officeDocument/2006/relationships/slideLayout"/><Relationship Id="rId9" Target="ppt/slideLayouts/slideLayout6.xml" Type="http://schemas.openxmlformats.org/officeDocument/2006/relationships/slideLayou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Relationship Id="rId3" Target="../media/image1.png" Type="http://schemas.openxmlformats.org/officeDocument/2006/relationships/image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Relationship Id="rId3" Target="../media/image3.jpeg" Type="http://schemas.openxmlformats.org/officeDocument/2006/relationships/image"/><Relationship Id="rId4" Target="../media/image1.pn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Relationship Id="rId3" Target="../media/image1.png" Type="http://schemas.openxmlformats.org/officeDocument/2006/relationships/image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2.png" id="2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 flipV="true">
            <a:off x="0" y="0"/>
            <a:ext cx="12192000" cy="6858000"/>
          </a:xfrm>
          <a:prstGeom prst="rect">
            <a:avLst/>
          </a:prstGeom>
        </p:spPr>
      </p:pic>
      <p:pic>
        <p:nvPicPr>
          <p:cNvPr name="c95e7397e9584d7da242458f97e6facc.png" id="3"/>
          <p:cNvPicPr>
            <a:picLocks noChangeAspect="true"/>
          </p:cNvPicPr>
          <p:nvPr/>
        </p:nvPicPr>
        <p:blipFill>
          <a:blip r:embed="rId3"/>
          <a:srcRect/>
          <a:stretch>
            <a:fillRect t="0" l="0" b="0" r="0"/>
          </a:stretch>
        </p:blipFill>
        <p:spPr>
          <a:xfrm>
            <a:off x="10160000" y="127000"/>
            <a:ext cx="1905000" cy="63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V="true">
            <a:off x="0" y="0"/>
            <a:ext cx="12191998" cy="6858000"/>
            <a:chOff x="0" y="0"/>
            <a:chExt cx="12191998" cy="6858000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2191998" cy="68580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pic>
          <p:nvPicPr>
            <p:cNvPr name="image1.jpeg" id="4"/>
            <p:cNvPicPr>
              <a:picLocks noChangeAspect="true"/>
            </p:cNvPicPr>
            <p:nvPr/>
          </p:nvPicPr>
          <p:blipFill>
            <a:blip r:embed="rId2"/>
            <a:stretch>
              <a:fillRect t="0" l="0" b="0" r="0"/>
            </a:stretch>
          </p:blipFill>
          <p:spPr>
            <a:xfrm>
              <a:off x="0" y="0"/>
              <a:ext cx="10287000" cy="6858000"/>
            </a:xfrm>
            <a:prstGeom prst="rect">
              <a:avLst/>
            </a:prstGeom>
          </p:spPr>
        </p:pic>
      </p:grpSp>
      <p:sp>
        <p:nvSpPr>
          <p:cNvPr name="AutoShape 5" id="5"/>
          <p:cNvSpPr/>
          <p:nvPr>
            <p:ph type="ctrTitle"/>
          </p:nvPr>
        </p:nvSpPr>
        <p:spPr>
          <a:xfrm>
            <a:off x="6080815" y="2070007"/>
            <a:ext cx="5668126" cy="2387600"/>
          </a:xfrm>
        </p:spPr>
        <p:txBody>
          <a:bodyPr vert="horz" anchor="b" tIns="45720" lIns="91440" bIns="45720" rIns="91440">
            <a:normAutofit/>
          </a:bodyPr>
          <a:p>
            <a:pPr algn="l" marL="0">
              <a:lnSpc>
                <a:spcPct val="100000"/>
              </a:lnSpc>
              <a:spcBef>
                <a:spcPct val="0"/>
              </a:spcBef>
            </a:pPr>
            <a:r>
              <a:rPr lang="en-US" b="true" i="true" sz="48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title style </a:t>
            </a:r>
          </a:p>
        </p:txBody>
      </p:sp>
      <p:sp>
        <p:nvSpPr>
          <p:cNvPr name="AutoShape 6" id="6"/>
          <p:cNvSpPr/>
          <p:nvPr>
            <p:ph type="subTitle" idx="1"/>
          </p:nvPr>
        </p:nvSpPr>
        <p:spPr>
          <a:xfrm>
            <a:off x="6093513" y="4475308"/>
            <a:ext cx="5391606" cy="931862"/>
          </a:xfr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150000"/>
              </a:lnSpc>
              <a:spcBef>
                <a:spcPct val="0"/>
              </a:spcBef>
            </a:pPr>
            <a:r>
              <a:rPr lang="en-US" b="false" i="true" sz="1000" baseline="0" u="none">
                <a:solidFill>
                  <a:srgbClr val="FFFFFF">
                    <a:alpha val="50000"/>
                  </a:srgbClr>
                </a:solidFill>
                <a:latin typeface="Arial"/>
                <a:ea typeface="Arial"/>
              </a:rPr>
              <a:t>Click to edit Master subtitle style</a:t>
            </a:r>
          </a:p>
        </p:txBody>
      </p:sp>
      <p:pic>
        <p:nvPicPr>
          <p:cNvPr name="c95e7397e9584d7da242458f97e6facc.png" id="7"/>
          <p:cNvPicPr>
            <a:picLocks noChangeAspect="true"/>
          </p:cNvPicPr>
          <p:nvPr/>
        </p:nvPicPr>
        <p:blipFill>
          <a:blip r:embed="rId3"/>
          <a:srcRect/>
          <a:stretch>
            <a:fillRect t="0" l="0" b="0" r="0"/>
          </a:stretch>
        </p:blipFill>
        <p:spPr>
          <a:xfrm>
            <a:off x="10160000" y="127000"/>
            <a:ext cx="1905000" cy="63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2.png" id="2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 flipV="true">
            <a:off x="0" y="0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>
            <a:off x="7478022" y="1466850"/>
            <a:ext cx="4387914" cy="4667250"/>
          </a:xfrm>
          <a:prstGeom prst="parallelogram">
            <a:avLst>
              <a:gd name="adj" fmla="val 34424"/>
            </a:avLst>
          </a:prstGeom>
          <a:solidFill>
            <a:srgbClr val="FFFFFF">
              <a:alpha val="10000"/>
              <a:lumMod val="50000"/>
              <a:lumOff val="50000"/>
            </a:srgbClr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7135122" y="1130300"/>
            <a:ext cx="4387914" cy="4667250"/>
          </a:xfrm>
          <a:prstGeom prst="parallelogram">
            <a:avLst>
              <a:gd name="adj" fmla="val 34424"/>
            </a:avLst>
          </a:prstGeom>
          <a:blipFill>
            <a:blip r:embed="rId3">
              <a:duotone>
                <a:prstClr val="black"/>
                <a:schemeClr val="accent1">
                  <a:satMod val="400000"/>
                  <a:tint val="45000"/>
                </a:schemeClr>
              </a:duotone>
            </a:blip>
            <a:stretch>
              <a:fillRect t="0" l="2" b="0" r="2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8865497" y="4993280"/>
            <a:ext cx="2468142" cy="336550"/>
          </a:xfrm>
          <a:prstGeom prst="parallelogram">
            <a:avLst>
              <a:gd name="adj" fmla="val 34424"/>
            </a:avLst>
          </a:prstGeom>
          <a:solidFill>
            <a:schemeClr val="accent5"/>
          </a:solidFill>
          <a:ln cap="rnd">
            <a:noFill/>
            <a:prstDash val="solid"/>
          </a:ln>
          <a:effectLst/>
        </p:spPr>
        <p:txBody>
          <a:bodyPr vert="horz" rot="0" anchor="ctr" wrap="none" tIns="45720" lIns="91440" bIns="45720" rIns="91440">
            <a:prstTxWarp prst="textNoShape">
              <a:avLst/>
            </a:prstTxWarp>
            <a:noAutofit/>
          </a:bodyPr>
          <a:p>
            <a:pPr algn="ctr" marL="0"/>
            <a:r>
              <a:rPr lang="zh-CN" b="true" i="false" sz="12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目录</a:t>
            </a:r>
          </a:p>
        </p:txBody>
      </p:sp>
      <p:pic>
        <p:nvPicPr>
          <p:cNvPr name="c95e7397e9584d7da242458f97e6facc.png" id="6"/>
          <p:cNvPicPr>
            <a:picLocks noChangeAspect="true"/>
          </p:cNvPicPr>
          <p:nvPr/>
        </p:nvPicPr>
        <p:blipFill>
          <a:blip r:embed="rId4"/>
          <a:srcRect/>
          <a:stretch>
            <a:fillRect t="0" l="0" b="0" r="0"/>
          </a:stretch>
        </p:blipFill>
        <p:spPr>
          <a:xfrm>
            <a:off x="10160000" y="127000"/>
            <a:ext cx="1905000" cy="63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true" flipV="true">
            <a:off x="0" y="0"/>
            <a:ext cx="12191998" cy="6858000"/>
            <a:chOff x="0" y="0"/>
            <a:chExt cx="12191998" cy="6858000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2191998" cy="68580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pic>
          <p:nvPicPr>
            <p:cNvPr name="image1.jpeg" id="4"/>
            <p:cNvPicPr>
              <a:picLocks noChangeAspect="true"/>
            </p:cNvPicPr>
            <p:nvPr/>
          </p:nvPicPr>
          <p:blipFill>
            <a:blip r:embed="rId2"/>
            <a:stretch>
              <a:fillRect t="0" l="0" b="0" r="0"/>
            </a:stretch>
          </p:blipFill>
          <p:spPr>
            <a:xfrm>
              <a:off x="0" y="0"/>
              <a:ext cx="10287000" cy="6858000"/>
            </a:xfrm>
            <a:prstGeom prst="rect">
              <a:avLst/>
            </a:prstGeom>
          </p:spPr>
        </p:pic>
      </p:grpSp>
      <p:sp>
        <p:nvSpPr>
          <p:cNvPr name="AutoShape 5" id="5"/>
          <p:cNvSpPr/>
          <p:nvPr>
            <p:ph type="title"/>
          </p:nvPr>
        </p:nvSpPr>
        <p:spPr>
          <a:xfrm>
            <a:off x="709305" y="3429000"/>
            <a:ext cx="5677105" cy="1133475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true" sz="28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6" id="6"/>
          <p:cNvSpPr/>
          <p:nvPr>
            <p:ph type="body" idx="1"/>
          </p:nvPr>
        </p:nvSpPr>
        <p:spPr>
          <a:xfrm>
            <a:off x="709305" y="4589460"/>
            <a:ext cx="5677105" cy="965763"/>
          </a:xfr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150000"/>
              </a:lnSpc>
              <a:spcBef>
                <a:spcPct val="0"/>
              </a:spcBef>
            </a:pPr>
            <a:r>
              <a:rPr lang="en-US" b="false" i="true" sz="1000" baseline="0" u="none">
                <a:solidFill>
                  <a:srgbClr val="FFFFFF">
                    <a:alpha val="50000"/>
                  </a:srgbClr>
                </a:solidFill>
                <a:latin typeface="Arial"/>
                <a:ea typeface="Arial"/>
              </a:rPr>
              <a:t>Click to edit Master title style</a:t>
            </a:r>
          </a:p>
        </p:txBody>
      </p:sp>
      <p:pic>
        <p:nvPicPr>
          <p:cNvPr name="c95e7397e9584d7da242458f97e6facc.png" id="7"/>
          <p:cNvPicPr>
            <a:picLocks noChangeAspect="true"/>
          </p:cNvPicPr>
          <p:nvPr/>
        </p:nvPicPr>
        <p:blipFill>
          <a:blip r:embed="rId3"/>
          <a:srcRect/>
          <a:stretch>
            <a:fillRect t="0" l="0" b="0" r="0"/>
          </a:stretch>
        </p:blipFill>
        <p:spPr>
          <a:xfrm>
            <a:off x="10160000" y="127000"/>
            <a:ext cx="1905000" cy="63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2.png" id="2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 flipV="true">
            <a:off x="0" y="0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4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r>
              <a:rPr lang="zh-CN" b="false" i="false" sz="900" baseline="0" u="none" altLang="en-US">
                <a:solidFill>
                  <a:srgbClr val="FFFFFF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请在插入菜单</a:t>
            </a:r>
            <a:r>
              <a:rPr lang="en-US" b="false" i="false" sz="900" baseline="0" u="none">
                <a:solidFill>
                  <a:srgbClr val="FFFFFF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—</a:t>
            </a:r>
            <a:r>
              <a:rPr lang="zh-CN" b="false" i="false" sz="900" baseline="0" u="none" altLang="en-US">
                <a:solidFill>
                  <a:srgbClr val="FFFFFF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页眉和页脚中修改此文本</a:t>
            </a: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zh-CN" b="false" i="false" sz="900" baseline="0" u="none" altLang="en-US">
                <a:solidFill>
                  <a:srgbClr val="FFFFFF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  <p:pic>
        <p:nvPicPr>
          <p:cNvPr name="c95e7397e9584d7da242458f97e6facc.png" id="7"/>
          <p:cNvPicPr>
            <a:picLocks noChangeAspect="true"/>
          </p:cNvPicPr>
          <p:nvPr/>
        </p:nvPicPr>
        <p:blipFill>
          <a:blip r:embed="rId3"/>
          <a:srcRect/>
          <a:stretch>
            <a:fillRect t="0" l="0" b="0" r="0"/>
          </a:stretch>
        </p:blipFill>
        <p:spPr>
          <a:xfrm>
            <a:off x="10160000" y="127000"/>
            <a:ext cx="1905000" cy="63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末尾幻灯片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V="true">
            <a:off x="0" y="0"/>
            <a:ext cx="12191998" cy="6858000"/>
            <a:chOff x="0" y="0"/>
            <a:chExt cx="12191998" cy="6858000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2191998" cy="68580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pic>
          <p:nvPicPr>
            <p:cNvPr name="image1.jpeg" id="4"/>
            <p:cNvPicPr>
              <a:picLocks noChangeAspect="true"/>
            </p:cNvPicPr>
            <p:nvPr/>
          </p:nvPicPr>
          <p:blipFill>
            <a:blip r:embed="rId2"/>
            <a:stretch>
              <a:fillRect t="0" l="0" b="0" r="0"/>
            </a:stretch>
          </p:blipFill>
          <p:spPr>
            <a:xfrm>
              <a:off x="0" y="0"/>
              <a:ext cx="10287000" cy="6858000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>
            <a:off x="12191318" y="0"/>
            <a:ext cx="684" cy="13546"/>
          </a:xfrm>
          <a:custGeom>
            <a:avLst/>
            <a:gdLst/>
            <a:ahLst/>
            <a:cxnLst/>
            <a:rect r="r" b="b" t="t" l="l"/>
            <a:pathLst>
              <a:path w="684" h="13546" stroke="true" fill="norm" extrusionOk="true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  <a:miter lim="800000"/>
          </a:ln>
        </p:spPr>
        <p:txBody>
          <a:bodyPr vert="horz" anchor="ctr" wrap="square" tIns="45720" lIns="91440" bIns="45720" rIns="91440">
            <a:noAutofit/>
          </a:bodyPr>
          <a:p>
            <a:pPr algn="l" marL="0"/>
          </a:p>
        </p:txBody>
      </p:sp>
      <p:sp>
        <p:nvSpPr>
          <p:cNvPr name="AutoShape 6" id="6"/>
          <p:cNvSpPr/>
          <p:nvPr>
            <p:ph type="body" sz="quarter" idx="13"/>
          </p:nvPr>
        </p:nvSpPr>
        <p:spPr>
          <a:xfrm>
            <a:off x="6196394" y="3199003"/>
            <a:ext cx="5995606" cy="1618348"/>
          </a:xfrm>
        </p:spPr>
        <p:txBody>
          <a:bodyPr vert="horz" anchor="b" tIns="45720" lIns="91440" bIns="45720" rIns="91440">
            <a:normAutofit/>
          </a:bodyPr>
          <a:p>
            <a:pPr algn="l" indent="0" marL="0">
              <a:lnSpc>
                <a:spcPct val="100000"/>
              </a:lnSpc>
              <a:spcBef>
                <a:spcPct val="0"/>
              </a:spcBef>
            </a:pPr>
            <a:r>
              <a:rPr lang="en-US" b="true" i="true" sz="4800" baseline="0" u="none">
                <a:solidFill>
                  <a:srgbClr val="FFFFFF"/>
                </a:solidFill>
                <a:latin typeface="Arial"/>
                <a:ea typeface="Arial"/>
              </a:rPr>
              <a:t>Thank you</a:t>
            </a:r>
          </a:p>
        </p:txBody>
      </p:sp>
      <p:pic>
        <p:nvPicPr>
          <p:cNvPr name="c95e7397e9584d7da242458f97e6facc.png" id="7"/>
          <p:cNvPicPr>
            <a:picLocks noChangeAspect="true"/>
          </p:cNvPicPr>
          <p:nvPr/>
        </p:nvPicPr>
        <p:blipFill>
          <a:blip r:embed="rId3"/>
          <a:srcRect/>
          <a:stretch>
            <a:fillRect t="0" l="0" b="0" r="0"/>
          </a:stretch>
        </p:blipFill>
        <p:spPr>
          <a:xfrm>
            <a:off x="10160000" y="127000"/>
            <a:ext cx="1905000" cy="635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Relationship Id="rId3" Target="../media/image1.png" Type="http://schemas.openxmlformats.org/officeDocument/2006/relationships/image"/><Relationship Id="rId4" Target="../slideLayouts/slideLayout2.xml" Type="http://schemas.openxmlformats.org/officeDocument/2006/relationships/slideLayout"/><Relationship Id="rId5" Target="../slideLayouts/slideLayout3.xml" Type="http://schemas.openxmlformats.org/officeDocument/2006/relationships/slideLayout"/><Relationship Id="rId6" Target="../slideLayouts/slideLayout4.xml" Type="http://schemas.openxmlformats.org/officeDocument/2006/relationships/slideLayout"/><Relationship Id="rId7" Target="../slideLayouts/slideLayout5.xml" Type="http://schemas.openxmlformats.org/officeDocument/2006/relationships/slideLayout"/><Relationship Id="rId8" Target="../slideLayouts/slideLayout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2" y="0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28589" marL="228589">
              <a:lnSpc>
                <a:spcPct val="90000"/>
              </a:lnSpc>
              <a:spcBef>
                <a:spcPts val="1000"/>
              </a:spcBef>
            </a:pPr>
            <a:r>
              <a:rPr lang="zh-CN" b="fals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单击此处编辑母版文本样式</a:t>
            </a:r>
          </a:p>
          <a:p>
            <a:pPr algn="l" indent="-228589" lvl="1" marL="685766">
              <a:lnSpc>
                <a:spcPct val="90000"/>
              </a:lnSpc>
              <a:spcBef>
                <a:spcPts val="500"/>
              </a:spcBef>
            </a:pPr>
            <a:r>
              <a:rPr lang="zh-CN" b="fals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二级</a:t>
            </a:r>
          </a:p>
          <a:p>
            <a:pPr algn="l" indent="-228589" lvl="2" marL="1142942">
              <a:lnSpc>
                <a:spcPct val="90000"/>
              </a:lnSpc>
              <a:spcBef>
                <a:spcPts val="500"/>
              </a:spcBef>
            </a:pPr>
            <a:r>
              <a:rPr lang="zh-CN" b="fals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三级</a:t>
            </a:r>
          </a:p>
          <a:p>
            <a:pPr algn="l" indent="-228589" lvl="3" marL="1600120">
              <a:lnSpc>
                <a:spcPct val="90000"/>
              </a:lnSpc>
              <a:spcBef>
                <a:spcPts val="500"/>
              </a:spcBef>
            </a:pPr>
            <a:r>
              <a:rPr lang="zh-CN" b="fals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四级</a:t>
            </a:r>
          </a:p>
          <a:p>
            <a:pPr algn="l" indent="-228589" lvl="4" marL="2057298">
              <a:lnSpc>
                <a:spcPct val="90000"/>
              </a:lnSpc>
              <a:spcBef>
                <a:spcPts val="500"/>
              </a:spcBef>
            </a:pPr>
            <a:r>
              <a:rPr lang="zh-CN" b="fals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五级</a:t>
            </a:r>
          </a:p>
        </p:txBody>
      </p:sp>
      <p:sp>
        <p:nvSpPr>
          <p:cNvPr name="AutoShape 4" id="4"/>
          <p:cNvSpPr/>
          <p:nvPr>
            <p:ph type="dt" sz="half" idx="2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5" id="5"/>
          <p:cNvSpPr/>
          <p:nvPr>
            <p:ph type="ftr" sz="quarter" idx="3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r>
              <a:rPr lang="zh-CN" b="false" i="false" sz="1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请在插入菜单</a:t>
            </a:r>
            <a:r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—</a:t>
            </a:r>
            <a:r>
              <a:rPr lang="zh-CN" b="false" i="false" sz="1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页眉和页脚中修改此文本</a:t>
            </a:r>
          </a:p>
        </p:txBody>
      </p:sp>
      <p:sp>
        <p:nvSpPr>
          <p:cNvPr name="AutoShape 6" id="6"/>
          <p:cNvSpPr/>
          <p:nvPr>
            <p:ph type="sldNum" sz="quarter" idx="4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fld type="slidenum" id="{3386411A-70EE-422D-B97C-F56BEE3FF077}">
              <a:rPr lang="zh-CN" b="false" i="false" sz="1800" baseline="0" u="none" altLang="en-US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</a:p>
        </p:txBody>
      </p:sp>
      <p:pic>
        <p:nvPicPr>
          <p:cNvPr name="c95e7397e9584d7da242458f97e6facc.png" id="7"/>
          <p:cNvPicPr>
            <a:picLocks noChangeAspect="true"/>
          </p:cNvPicPr>
          <p:nvPr/>
        </p:nvPicPr>
        <p:blipFill>
          <a:blip r:embed="rId3"/>
          <a:srcRect/>
          <a:stretch>
            <a:fillRect t="0" l="0" b="0" r="0"/>
          </a:stretch>
        </p:blipFill>
        <p:spPr>
          <a:xfrm>
            <a:off x="10160000" y="127000"/>
            <a:ext cx="1905000" cy="635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4"/>
    <p:sldLayoutId id="2147483657" r:id="rId5"/>
    <p:sldLayoutId id="2147483658" r:id="rId6"/>
    <p:sldLayoutId id="2147483659" r:id="rId7"/>
    <p:sldLayoutId id="2147483660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body" sz="quarter" idx="4294967295"/>
          </p:nvPr>
        </p:nvSpPr>
        <p:spPr>
          <a:xfrm>
            <a:off x="5850774" y="4344784"/>
            <a:ext cx="1370888" cy="313932"/>
          </a:xfrm>
        </p:spPr>
        <p:txBody>
          <a:bodyPr vert="horz" anchor="t" tIns="45720" lIns="91440" bIns="45720" rIns="91440">
            <a:sp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zh-CN" b="false" i="tru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Reporter</a:t>
            </a:r>
          </a:p>
        </p:txBody>
      </p:sp>
      <p:sp>
        <p:nvSpPr>
          <p:cNvPr name="AutoShape 3" id="3"/>
          <p:cNvSpPr/>
          <p:nvPr>
            <p:ph type="ctrTitle"/>
          </p:nvPr>
        </p:nvSpPr>
        <p:spPr>
          <a:xfrm>
            <a:off x="5850774" y="2567224"/>
            <a:ext cx="5668126" cy="1569660"/>
          </a:xfrm>
        </p:spPr>
        <p:txBody>
          <a:bodyPr vert="horz" anchor="b" tIns="45720" lIns="91440" bIns="45720" rIns="91440">
            <a:spAutoFit/>
          </a:bodyPr>
          <a:p>
            <a:pPr algn="l" marL="0">
              <a:lnSpc>
                <a:spcPct val="100000"/>
              </a:lnSpc>
              <a:spcBef>
                <a:spcPct val="0"/>
              </a:spcBef>
            </a:pPr>
            <a:r>
              <a:rPr lang="zh-CN" b="true" i="true" sz="4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Mastering Figma: UI Design and Prototyping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057205" y="2961196"/>
            <a:ext cx="2542721" cy="7200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true" i="false" sz="2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UI Components and Elements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flipH="true">
            <a:off x="1720954" y="3058782"/>
            <a:ext cx="146383" cy="455462"/>
          </a:xfrm>
          <a:prstGeom prst="line">
            <a:avLst/>
          </a:prstGeom>
          <a:ln w="19050">
            <a:solidFill>
              <a:schemeClr val="accent2"/>
            </a:solidFill>
          </a:ln>
        </p:spPr>
      </p:cxnSp>
      <p:sp>
        <p:nvSpPr>
          <p:cNvPr name="TextBox 4" id="4"/>
          <p:cNvSpPr txBox="true"/>
          <p:nvPr/>
        </p:nvSpPr>
        <p:spPr>
          <a:xfrm>
            <a:off x="1094726" y="3058782"/>
            <a:ext cx="585418" cy="523220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GB" b="true" i="false" sz="2800" baseline="0" u="none">
                <a:solidFill>
                  <a:schemeClr val="accent2"/>
                </a:solidFill>
                <a:effectLst>
                  <a:outerShdw algn="ctr" blurRad="254000" dist="127000" rotWithShape="false">
                    <a:schemeClr val="accent1">
                      <a:alpha val="32000"/>
                    </a:schemeClr>
                  </a:outerShdw>
                </a:effectLst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2522025" y="1516673"/>
            <a:ext cx="2542721" cy="7200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true" i="false" sz="2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Introduction to Figma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flipH="true">
            <a:off x="2185774" y="1614259"/>
            <a:ext cx="146383" cy="455462"/>
          </a:xfrm>
          <a:prstGeom prst="line">
            <a:avLst/>
          </a:prstGeom>
          <a:ln w="19050">
            <a:solidFill>
              <a:schemeClr val="accent3"/>
            </a:solidFill>
          </a:ln>
        </p:spPr>
      </p:cxnSp>
      <p:sp>
        <p:nvSpPr>
          <p:cNvPr name="TextBox 7" id="7"/>
          <p:cNvSpPr txBox="true"/>
          <p:nvPr/>
        </p:nvSpPr>
        <p:spPr>
          <a:xfrm>
            <a:off x="1559546" y="1614259"/>
            <a:ext cx="585418" cy="523220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GB" b="true" i="false" sz="2800" baseline="0" u="none">
                <a:solidFill>
                  <a:schemeClr val="accent3"/>
                </a:solidFill>
                <a:effectLst>
                  <a:outerShdw algn="ctr" blurRad="254000" dist="127000" rotWithShape="false">
                    <a:schemeClr val="accent3">
                      <a:alpha val="32000"/>
                    </a:schemeClr>
                  </a:outerShdw>
                </a:effectLst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5562405" y="2961196"/>
            <a:ext cx="2542721" cy="116083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true" i="false" sz="2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Colors, Typography, and UI Styling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flipH="true">
            <a:off x="5226154" y="3058782"/>
            <a:ext cx="146383" cy="455462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name="TextBox 10" id="10"/>
          <p:cNvSpPr txBox="true"/>
          <p:nvPr/>
        </p:nvSpPr>
        <p:spPr>
          <a:xfrm>
            <a:off x="4599926" y="3058782"/>
            <a:ext cx="585418" cy="523220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GB" b="true" i="false" sz="2800" baseline="0" u="none">
                <a:solidFill>
                  <a:schemeClr val="accent1"/>
                </a:solidFill>
                <a:effectLst>
                  <a:outerShdw algn="ctr" blurRad="254000" dist="127000" rotWithShape="false">
                    <a:schemeClr val="accent4">
                      <a:alpha val="32000"/>
                    </a:schemeClr>
                  </a:outerShdw>
                </a:effectLst>
                <a:latin typeface="Arial"/>
                <a:ea typeface="Arial"/>
              </a:rPr>
              <a:t>04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027225" y="1516673"/>
            <a:ext cx="2542721" cy="7200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true" i="false" sz="2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Frames and Artboards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flipH="true">
            <a:off x="5690974" y="1614259"/>
            <a:ext cx="146383" cy="455462"/>
          </a:xfrm>
          <a:prstGeom prst="line">
            <a:avLst/>
          </a:prstGeom>
          <a:ln w="19050">
            <a:solidFill>
              <a:schemeClr val="accent2"/>
            </a:solidFill>
          </a:ln>
        </p:spPr>
      </p:cxnSp>
      <p:sp>
        <p:nvSpPr>
          <p:cNvPr name="TextBox 13" id="13"/>
          <p:cNvSpPr txBox="true"/>
          <p:nvPr/>
        </p:nvSpPr>
        <p:spPr>
          <a:xfrm>
            <a:off x="5064746" y="1614259"/>
            <a:ext cx="585418" cy="523220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GB" b="true" i="false" sz="2800" baseline="0" u="none">
                <a:solidFill>
                  <a:schemeClr val="accent2"/>
                </a:solidFill>
                <a:effectLst>
                  <a:outerShdw algn="ctr" blurRad="254000" dist="127000" rotWithShape="false">
                    <a:schemeClr val="accent2">
                      <a:alpha val="32000"/>
                    </a:schemeClr>
                  </a:outerShdw>
                </a:effectLst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14" id="14"/>
          <p:cNvSpPr/>
          <p:nvPr>
            <p:ph type="title" idx="4294967295"/>
          </p:nvPr>
        </p:nvSpPr>
        <p:spPr>
          <a:xfrm>
            <a:off x="695325" y="146050"/>
            <a:ext cx="5402263" cy="88265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tr-TR" b="true" i="false" sz="4000" baseline="0" u="none">
                <a:solidFill>
                  <a:srgbClr val="FFFFFF"/>
                </a:solidFill>
                <a:latin typeface="+mn-ea"/>
                <a:ea typeface="+mn-ea"/>
              </a:rPr>
              <a:t>CONTENTS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1526704" y="4502260"/>
            <a:ext cx="2542721" cy="7200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true" i="false" sz="2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Wireframing and Prototyping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flipH="true">
            <a:off x="1190453" y="4599846"/>
            <a:ext cx="146383" cy="455462"/>
          </a:xfrm>
          <a:prstGeom prst="line">
            <a:avLst/>
          </a:prstGeom>
          <a:ln w="19050">
            <a:solidFill>
              <a:schemeClr val="accent3"/>
            </a:solidFill>
          </a:ln>
        </p:spPr>
      </p:cxnSp>
      <p:sp>
        <p:nvSpPr>
          <p:cNvPr name="TextBox 17" id="17"/>
          <p:cNvSpPr txBox="true"/>
          <p:nvPr/>
        </p:nvSpPr>
        <p:spPr>
          <a:xfrm>
            <a:off x="564225" y="4599846"/>
            <a:ext cx="585418" cy="523220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GB" b="true" i="false" sz="2800" baseline="0" u="none">
                <a:solidFill>
                  <a:schemeClr val="accent3"/>
                </a:solidFill>
                <a:effectLst>
                  <a:outerShdw algn="ctr" blurRad="254000" dist="127000" rotWithShape="false">
                    <a:schemeClr val="accent3">
                      <a:alpha val="32000"/>
                    </a:schemeClr>
                  </a:outerShdw>
                </a:effectLst>
                <a:latin typeface="Arial"/>
                <a:ea typeface="Arial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709305" y="4082344"/>
            <a:ext cx="5677105" cy="480131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tru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Introduction to Figma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09613" y="2830923"/>
            <a:ext cx="1210588" cy="120032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true" sz="7200" baseline="0" u="none">
                <a:solidFill>
                  <a:schemeClr val="accent1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What is Figma?</a:t>
            </a:r>
          </a:p>
        </p:txBody>
      </p:sp>
      <p:sp>
        <p:nvSpPr>
          <p:cNvPr name="AutoShape 3" id="3"/>
          <p:cNvSpPr/>
          <p:nvPr/>
        </p:nvSpPr>
        <p:spPr>
          <a:xfrm>
            <a:off x="7001566" y="1467209"/>
            <a:ext cx="4199060" cy="4199060"/>
          </a:xfrm>
          <a:prstGeom prst="ellipse">
            <a:avLst/>
          </a:prstGeom>
          <a:noFill/>
          <a:ln w="57150">
            <a:solidFill>
              <a:srgbClr val="F0F0F0">
                <a:alpha val="15000"/>
              </a:srgbClr>
            </a:solidFill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7296862" y="1762505"/>
            <a:ext cx="3608468" cy="3608468"/>
          </a:xfrm>
          <a:prstGeom prst="ellipse">
            <a:avLst/>
          </a:prstGeom>
          <a:solidFill>
            <a:srgbClr val="F0F0F0">
              <a:alpha val="10000"/>
            </a:srgb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7820937" y="2286579"/>
            <a:ext cx="2560320" cy="2560320"/>
          </a:xfrm>
          <a:prstGeom prst="ellipse">
            <a:avLst/>
          </a:prstGeom>
          <a:blipFill>
            <a:blip r:embed="rId2"/>
            <a:stretch>
              <a:fillRect t="0" l="0" b="0" r="0"/>
            </a:stretch>
          </a:blipFill>
          <a:ln>
            <a:noFill/>
          </a:ln>
          <a:effectLst/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978618" y="1492461"/>
            <a:ext cx="4839632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Figma vs. Other Design Tools</a:t>
            </a:r>
          </a:p>
        </p:txBody>
      </p:sp>
      <p:sp>
        <p:nvSpPr>
          <p:cNvPr name="AutoShape 7" id="7"/>
          <p:cNvSpPr/>
          <p:nvPr/>
        </p:nvSpPr>
        <p:spPr>
          <a:xfrm>
            <a:off x="959568" y="1783097"/>
            <a:ext cx="4839632" cy="1023357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Compared to Sketch and Adobe XD, Figma excels in collaboration and platform accessibility. Its free tier also makes it accessible to beginners.</a:t>
            </a:r>
          </a:p>
        </p:txBody>
      </p:sp>
      <p:sp>
        <p:nvSpPr>
          <p:cNvPr name="AutoShape 8" id="8"/>
          <p:cNvSpPr/>
          <p:nvPr/>
        </p:nvSpPr>
        <p:spPr>
          <a:xfrm>
            <a:off x="6113543" y="1584820"/>
            <a:ext cx="433402" cy="43340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8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cxnSp>
        <p:nvCxnSpPr>
          <p:cNvPr name="Connector 9" id="9"/>
          <p:cNvCxnSpPr/>
          <p:nvPr/>
        </p:nvCxnSpPr>
        <p:spPr>
          <a:xfrm flipH="true">
            <a:off x="6565995" y="1791080"/>
            <a:ext cx="1273992" cy="0"/>
          </a:xfrm>
          <a:prstGeom prst="line">
            <a:avLst/>
          </a:prstGeom>
          <a:ln w="9525" cap="rnd">
            <a:solidFill>
              <a:srgbClr val="FFFFFF">
                <a:alpha val="20000"/>
                <a:lumMod val="50000"/>
                <a:lumOff val="50000"/>
              </a:srgbClr>
            </a:solidFill>
          </a:ln>
        </p:spPr>
      </p:cxnSp>
      <p:sp>
        <p:nvSpPr>
          <p:cNvPr name="AutoShape 10" id="10"/>
          <p:cNvSpPr/>
          <p:nvPr/>
        </p:nvSpPr>
        <p:spPr>
          <a:xfrm>
            <a:off x="695325" y="3114531"/>
            <a:ext cx="4193209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Definition and Overview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95325" y="3405167"/>
            <a:ext cx="4193209" cy="117729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Figma is a collaborative web-based interface design tool. It is used for UI and UX design, offering real-time collaboration, version control, and accessibility across different platforms.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5186113" y="3222248"/>
            <a:ext cx="433402" cy="4334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8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cxnSp>
        <p:nvCxnSpPr>
          <p:cNvPr name="Connector 13" id="13"/>
          <p:cNvCxnSpPr/>
          <p:nvPr/>
        </p:nvCxnSpPr>
        <p:spPr>
          <a:xfrm flipH="true">
            <a:off x="5631821" y="3452058"/>
            <a:ext cx="1315796" cy="0"/>
          </a:xfrm>
          <a:prstGeom prst="line">
            <a:avLst/>
          </a:prstGeom>
          <a:ln w="9525" cap="rnd">
            <a:solidFill>
              <a:srgbClr val="FFFFFF">
                <a:alpha val="20000"/>
                <a:lumMod val="50000"/>
                <a:lumOff val="50000"/>
              </a:srgbClr>
            </a:solidFill>
          </a:ln>
        </p:spPr>
      </p:cxnSp>
      <p:sp>
        <p:nvSpPr>
          <p:cNvPr name="AutoShape 14" id="14"/>
          <p:cNvSpPr/>
          <p:nvPr/>
        </p:nvSpPr>
        <p:spPr>
          <a:xfrm>
            <a:off x="660403" y="4741411"/>
            <a:ext cx="5157846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Key Features of Figma</a:t>
            </a:r>
          </a:p>
        </p:txBody>
      </p:sp>
      <p:sp>
        <p:nvSpPr>
          <p:cNvPr name="AutoShape 15" id="15"/>
          <p:cNvSpPr/>
          <p:nvPr/>
        </p:nvSpPr>
        <p:spPr>
          <a:xfrm>
            <a:off x="660403" y="5110743"/>
            <a:ext cx="5157846" cy="1023357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Vector editing tools; Prototyping capabilities; Real-time collaboration; Cloud-based accessibility; Plugin ecosystem. These features make it a versatile tool for design teams.</a:t>
            </a:r>
          </a:p>
        </p:txBody>
      </p:sp>
      <p:sp>
        <p:nvSpPr>
          <p:cNvPr name="AutoShape 16" id="16"/>
          <p:cNvSpPr/>
          <p:nvPr/>
        </p:nvSpPr>
        <p:spPr>
          <a:xfrm>
            <a:off x="6113543" y="4833945"/>
            <a:ext cx="433402" cy="43340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8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cxnSp>
        <p:nvCxnSpPr>
          <p:cNvPr name="Connector 17" id="17"/>
          <p:cNvCxnSpPr/>
          <p:nvPr/>
        </p:nvCxnSpPr>
        <p:spPr>
          <a:xfrm flipH="true">
            <a:off x="6585045" y="5049182"/>
            <a:ext cx="934072" cy="0"/>
          </a:xfrm>
          <a:prstGeom prst="line">
            <a:avLst/>
          </a:prstGeom>
          <a:ln w="9525" cap="rnd">
            <a:solidFill>
              <a:srgbClr val="FFFFFF">
                <a:alpha val="20000"/>
                <a:lumMod val="50000"/>
                <a:lumOff val="50000"/>
              </a:srgbClr>
            </a:solidFill>
          </a:ln>
        </p:spPr>
      </p:cxn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Why Use Figma for UI Design?</a:t>
            </a:r>
          </a:p>
        </p:txBody>
      </p:sp>
      <p:sp>
        <p:nvSpPr>
          <p:cNvPr name="Freeform 3" id="3"/>
          <p:cNvSpPr/>
          <p:nvPr/>
        </p:nvSpPr>
        <p:spPr>
          <a:xfrm>
            <a:off x="6197602" y="28023"/>
            <a:ext cx="5994398" cy="6801955"/>
          </a:xfrm>
          <a:custGeom>
            <a:avLst/>
            <a:gdLst/>
            <a:ahLst/>
            <a:cxnLst/>
            <a:rect r="r" b="b" t="t" l="l"/>
            <a:pathLst>
              <a:path w="5994398" h="6801955" stroke="true" fill="norm" extrusionOk="true">
                <a:moveTo>
                  <a:pt x="5994398" y="0"/>
                </a:moveTo>
                <a:lnTo>
                  <a:pt x="5994398" y="6801955"/>
                </a:lnTo>
                <a:lnTo>
                  <a:pt x="0" y="6801955"/>
                </a:lnTo>
                <a:cubicBezTo>
                  <a:pt x="0" y="3369471"/>
                  <a:pt x="2521711" y="525964"/>
                  <a:pt x="5813593" y="22975"/>
                </a:cubicBezTo>
                <a:close/>
              </a:path>
            </a:pathLst>
          </a:custGeom>
          <a:solidFill>
            <a:srgbClr val="01EEE6">
              <a:alpha val="50000"/>
            </a:srgbClr>
          </a:solidFill>
          <a:ln>
            <a:noFill/>
          </a:ln>
          <a:effectLst>
            <a:outerShdw algn="ctr" blurRad="317500" rotWithShape="false" sx="102000" sy="102000">
              <a:srgbClr val="F0F0F0">
                <a:alpha val="30000"/>
              </a:srgbClr>
            </a:outerShdw>
          </a:effectLst>
        </p:spPr>
        <p:txBody>
          <a:bodyPr vert="horz" anchor="t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sp>
        <p:nvSpPr>
          <p:cNvPr name="AutoShape 4" id="4"/>
          <p:cNvSpPr/>
          <p:nvPr/>
        </p:nvSpPr>
        <p:spPr>
          <a:xfrm>
            <a:off x="3444761" y="1474271"/>
            <a:ext cx="4257601" cy="338554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Versatility in Design Tasks</a:t>
            </a:r>
          </a:p>
        </p:txBody>
      </p:sp>
      <p:sp>
        <p:nvSpPr>
          <p:cNvPr name="AutoShape 5" id="5"/>
          <p:cNvSpPr/>
          <p:nvPr/>
        </p:nvSpPr>
        <p:spPr>
          <a:xfrm>
            <a:off x="3444760" y="1870154"/>
            <a:ext cx="4257601" cy="96012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From wireframing to high-fidelity mockups and interactive prototypes, Figma supports the entire design process. It enables designers to iterate quickly and efficiently.</a:t>
            </a:r>
          </a:p>
        </p:txBody>
      </p:sp>
      <p:sp>
        <p:nvSpPr>
          <p:cNvPr name="AutoShape 6" id="6"/>
          <p:cNvSpPr/>
          <p:nvPr/>
        </p:nvSpPr>
        <p:spPr>
          <a:xfrm>
            <a:off x="7808240" y="1522817"/>
            <a:ext cx="808314" cy="808314"/>
          </a:xfrm>
          <a:prstGeom prst="ellipse">
            <a:avLst/>
          </a:prstGeom>
          <a:gradFill>
            <a:gsLst>
              <a:gs pos="0">
                <a:srgbClr val="01EEE6">
                  <a:alpha val="50000"/>
                  <a:lumMod val="60000"/>
                  <a:lumOff val="40000"/>
                </a:srgbClr>
              </a:gs>
              <a:gs pos="60000">
                <a:srgbClr val="01EEE6">
                  <a:alpha val="50000"/>
                </a:srgbClr>
              </a:gs>
            </a:gsLst>
            <a:lin ang="2700000"/>
          </a:gradFill>
          <a:ln cap="rnd">
            <a:noFill/>
            <a:prstDash val="solid"/>
          </a:ln>
          <a:effectLst>
            <a:outerShdw algn="ctr" blurRad="254000" dir="5400000" dist="127000" rotWithShape="false">
              <a:schemeClr val="accent1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Freeform 7" id="7"/>
          <p:cNvSpPr/>
          <p:nvPr/>
        </p:nvSpPr>
        <p:spPr>
          <a:xfrm>
            <a:off x="8028045" y="1724895"/>
            <a:ext cx="368706" cy="404158"/>
          </a:xfrm>
          <a:custGeom>
            <a:avLst/>
            <a:gdLst/>
            <a:ahLst/>
            <a:cxnLst/>
            <a:rect r="r" b="b" t="t" l="l"/>
            <a:pathLst>
              <a:path w="495300" h="542925" stroke="true" fill="norm" extrusionOk="true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8" id="8"/>
          <p:cNvSpPr/>
          <p:nvPr/>
        </p:nvSpPr>
        <p:spPr>
          <a:xfrm>
            <a:off x="2348177" y="3100868"/>
            <a:ext cx="4257601" cy="338554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Cost-Effectiveness</a:t>
            </a:r>
          </a:p>
        </p:txBody>
      </p:sp>
      <p:sp>
        <p:nvSpPr>
          <p:cNvPr name="AutoShape 9" id="9"/>
          <p:cNvSpPr/>
          <p:nvPr/>
        </p:nvSpPr>
        <p:spPr>
          <a:xfrm>
            <a:off x="2348176" y="3503318"/>
            <a:ext cx="4257601" cy="96012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Figma offers a generous free plan suitable for individual designers and small teams. Paid plans provide additional features like team libraries and advanced permissions.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6711656" y="3152698"/>
            <a:ext cx="808314" cy="808314"/>
          </a:xfrm>
          <a:prstGeom prst="ellipse">
            <a:avLst/>
          </a:prstGeom>
          <a:gradFill>
            <a:gsLst>
              <a:gs pos="0">
                <a:srgbClr val="01EEE6">
                  <a:alpha val="50000"/>
                  <a:lumMod val="60000"/>
                  <a:lumOff val="40000"/>
                </a:srgbClr>
              </a:gs>
              <a:gs pos="60000">
                <a:srgbClr val="01EEE6">
                  <a:alpha val="50000"/>
                </a:srgbClr>
              </a:gs>
            </a:gsLst>
            <a:lin ang="2700000"/>
          </a:gradFill>
          <a:ln cap="rnd">
            <a:noFill/>
            <a:prstDash val="solid"/>
          </a:ln>
          <a:effectLst>
            <a:outerShdw algn="ctr" blurRad="254000" dir="5400000" dist="127000" rotWithShape="false">
              <a:schemeClr val="accent1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Freeform 11" id="11"/>
          <p:cNvSpPr/>
          <p:nvPr/>
        </p:nvSpPr>
        <p:spPr>
          <a:xfrm>
            <a:off x="6966125" y="3354777"/>
            <a:ext cx="299376" cy="404158"/>
          </a:xfrm>
          <a:custGeom>
            <a:avLst/>
            <a:gdLst/>
            <a:ahLst/>
            <a:cxnLst/>
            <a:rect r="r" b="b" t="t" l="l"/>
            <a:pathLst>
              <a:path w="381000" h="514350" stroke="true" fill="norm" extrusionOk="true">
                <a:moveTo>
                  <a:pt x="86973" y="38721"/>
                </a:moveTo>
                <a:lnTo>
                  <a:pt x="86973" y="57771"/>
                </a:lnTo>
                <a:cubicBezTo>
                  <a:pt x="86973" y="78155"/>
                  <a:pt x="102975" y="94823"/>
                  <a:pt x="123168" y="95871"/>
                </a:cubicBezTo>
                <a:lnTo>
                  <a:pt x="125073" y="95871"/>
                </a:lnTo>
                <a:lnTo>
                  <a:pt x="258423" y="95871"/>
                </a:lnTo>
                <a:cubicBezTo>
                  <a:pt x="278807" y="95871"/>
                  <a:pt x="295475" y="79869"/>
                  <a:pt x="296523" y="59676"/>
                </a:cubicBezTo>
                <a:lnTo>
                  <a:pt x="296523" y="57771"/>
                </a:lnTo>
                <a:lnTo>
                  <a:pt x="296523" y="38721"/>
                </a:lnTo>
                <a:lnTo>
                  <a:pt x="353673" y="38721"/>
                </a:lnTo>
                <a:cubicBezTo>
                  <a:pt x="369485" y="38721"/>
                  <a:pt x="382248" y="51485"/>
                  <a:pt x="382248" y="67296"/>
                </a:cubicBezTo>
                <a:lnTo>
                  <a:pt x="382248" y="486396"/>
                </a:lnTo>
                <a:cubicBezTo>
                  <a:pt x="382248" y="502207"/>
                  <a:pt x="369485" y="514971"/>
                  <a:pt x="353673" y="514971"/>
                </a:cubicBezTo>
                <a:lnTo>
                  <a:pt x="29823" y="514971"/>
                </a:lnTo>
                <a:cubicBezTo>
                  <a:pt x="14011" y="514971"/>
                  <a:pt x="1248" y="502207"/>
                  <a:pt x="1248" y="486396"/>
                </a:cubicBezTo>
                <a:lnTo>
                  <a:pt x="1248" y="67296"/>
                </a:lnTo>
                <a:cubicBezTo>
                  <a:pt x="1248" y="51485"/>
                  <a:pt x="14011" y="38721"/>
                  <a:pt x="29823" y="38721"/>
                </a:cubicBezTo>
                <a:lnTo>
                  <a:pt x="86973" y="38721"/>
                </a:lnTo>
                <a:close/>
                <a:moveTo>
                  <a:pt x="191748" y="333996"/>
                </a:moveTo>
                <a:lnTo>
                  <a:pt x="77448" y="333996"/>
                </a:lnTo>
                <a:lnTo>
                  <a:pt x="77448" y="353046"/>
                </a:lnTo>
                <a:lnTo>
                  <a:pt x="191748" y="353046"/>
                </a:lnTo>
                <a:lnTo>
                  <a:pt x="191748" y="333996"/>
                </a:lnTo>
                <a:close/>
                <a:moveTo>
                  <a:pt x="306048" y="257796"/>
                </a:moveTo>
                <a:lnTo>
                  <a:pt x="77448" y="257796"/>
                </a:lnTo>
                <a:lnTo>
                  <a:pt x="77448" y="276846"/>
                </a:lnTo>
                <a:lnTo>
                  <a:pt x="306048" y="276846"/>
                </a:lnTo>
                <a:lnTo>
                  <a:pt x="306048" y="257796"/>
                </a:lnTo>
                <a:close/>
                <a:moveTo>
                  <a:pt x="306048" y="181596"/>
                </a:moveTo>
                <a:lnTo>
                  <a:pt x="77448" y="181596"/>
                </a:lnTo>
                <a:lnTo>
                  <a:pt x="77448" y="200646"/>
                </a:lnTo>
                <a:lnTo>
                  <a:pt x="306048" y="200646"/>
                </a:lnTo>
                <a:lnTo>
                  <a:pt x="306048" y="181596"/>
                </a:lnTo>
                <a:close/>
                <a:moveTo>
                  <a:pt x="248898" y="621"/>
                </a:moveTo>
                <a:cubicBezTo>
                  <a:pt x="264710" y="621"/>
                  <a:pt x="277473" y="13385"/>
                  <a:pt x="277473" y="29196"/>
                </a:cubicBezTo>
                <a:lnTo>
                  <a:pt x="277473" y="48246"/>
                </a:lnTo>
                <a:cubicBezTo>
                  <a:pt x="277473" y="64057"/>
                  <a:pt x="264710" y="76821"/>
                  <a:pt x="248898" y="76821"/>
                </a:cubicBezTo>
                <a:lnTo>
                  <a:pt x="134598" y="76821"/>
                </a:lnTo>
                <a:cubicBezTo>
                  <a:pt x="118786" y="76821"/>
                  <a:pt x="106023" y="64057"/>
                  <a:pt x="106023" y="48246"/>
                </a:cubicBezTo>
                <a:lnTo>
                  <a:pt x="106023" y="29196"/>
                </a:lnTo>
                <a:cubicBezTo>
                  <a:pt x="106023" y="13385"/>
                  <a:pt x="118786" y="621"/>
                  <a:pt x="134598" y="621"/>
                </a:cubicBezTo>
                <a:lnTo>
                  <a:pt x="248898" y="621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2" id="12"/>
          <p:cNvSpPr/>
          <p:nvPr/>
        </p:nvSpPr>
        <p:spPr>
          <a:xfrm>
            <a:off x="1615239" y="4952087"/>
            <a:ext cx="4257601" cy="338554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Collaboration and Accessibility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615238" y="5347971"/>
            <a:ext cx="4257601" cy="96012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Figma's cloud-based nature allows multiple designers to work simultaneously on the same project, enhancing teamwork. It runs in a browser, making it accessible across different operating systems.</a:t>
            </a:r>
          </a:p>
        </p:txBody>
      </p:sp>
      <p:sp>
        <p:nvSpPr>
          <p:cNvPr name="AutoShape 14" id="14"/>
          <p:cNvSpPr/>
          <p:nvPr/>
        </p:nvSpPr>
        <p:spPr>
          <a:xfrm>
            <a:off x="5978718" y="5000634"/>
            <a:ext cx="808314" cy="808314"/>
          </a:xfrm>
          <a:prstGeom prst="ellipse">
            <a:avLst/>
          </a:prstGeom>
          <a:gradFill>
            <a:gsLst>
              <a:gs pos="0">
                <a:srgbClr val="01EEE6">
                  <a:alpha val="50000"/>
                  <a:lumMod val="60000"/>
                  <a:lumOff val="40000"/>
                </a:srgbClr>
              </a:gs>
              <a:gs pos="60000">
                <a:srgbClr val="01EEE6">
                  <a:alpha val="50000"/>
                </a:srgbClr>
              </a:gs>
            </a:gsLst>
            <a:lin ang="2700000"/>
          </a:gradFill>
          <a:ln cap="rnd">
            <a:noFill/>
            <a:prstDash val="solid"/>
          </a:ln>
          <a:effectLst>
            <a:outerShdw algn="ctr" blurRad="254000" dir="5400000" dist="127000" rotWithShape="false">
              <a:schemeClr val="accent1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Freeform 15" id="15"/>
          <p:cNvSpPr/>
          <p:nvPr/>
        </p:nvSpPr>
        <p:spPr>
          <a:xfrm>
            <a:off x="6183498" y="5190388"/>
            <a:ext cx="398756" cy="428804"/>
          </a:xfrm>
          <a:custGeom>
            <a:avLst/>
            <a:gdLst/>
            <a:ahLst/>
            <a:cxnLst/>
            <a:rect r="r" b="b" t="t" l="l"/>
            <a:pathLst>
              <a:path w="487162" h="523875" stroke="true" fill="norm" extrusionOk="true">
                <a:moveTo>
                  <a:pt x="8774" y="514114"/>
                </a:moveTo>
                <a:lnTo>
                  <a:pt x="8203" y="513447"/>
                </a:lnTo>
                <a:lnTo>
                  <a:pt x="8203" y="513447"/>
                </a:lnTo>
                <a:lnTo>
                  <a:pt x="7727" y="512780"/>
                </a:lnTo>
                <a:cubicBezTo>
                  <a:pt x="6964" y="511828"/>
                  <a:pt x="6393" y="510780"/>
                  <a:pt x="5726" y="509732"/>
                </a:cubicBezTo>
                <a:lnTo>
                  <a:pt x="5726" y="509732"/>
                </a:lnTo>
                <a:lnTo>
                  <a:pt x="5250" y="508970"/>
                </a:lnTo>
                <a:lnTo>
                  <a:pt x="4488" y="507446"/>
                </a:lnTo>
                <a:lnTo>
                  <a:pt x="3821" y="505827"/>
                </a:lnTo>
                <a:lnTo>
                  <a:pt x="3726" y="505637"/>
                </a:lnTo>
                <a:lnTo>
                  <a:pt x="3631" y="505351"/>
                </a:lnTo>
                <a:lnTo>
                  <a:pt x="3631" y="505160"/>
                </a:lnTo>
                <a:lnTo>
                  <a:pt x="2964" y="503160"/>
                </a:lnTo>
                <a:cubicBezTo>
                  <a:pt x="2869" y="502684"/>
                  <a:pt x="2678" y="502303"/>
                  <a:pt x="2583" y="501826"/>
                </a:cubicBezTo>
                <a:cubicBezTo>
                  <a:pt x="2393" y="501160"/>
                  <a:pt x="2202" y="500588"/>
                  <a:pt x="2107" y="499921"/>
                </a:cubicBezTo>
                <a:cubicBezTo>
                  <a:pt x="1726" y="498493"/>
                  <a:pt x="1535" y="497064"/>
                  <a:pt x="1250" y="495635"/>
                </a:cubicBezTo>
                <a:lnTo>
                  <a:pt x="964" y="493159"/>
                </a:lnTo>
                <a:cubicBezTo>
                  <a:pt x="773" y="490968"/>
                  <a:pt x="678" y="488777"/>
                  <a:pt x="773" y="486587"/>
                </a:cubicBezTo>
                <a:cubicBezTo>
                  <a:pt x="1059" y="480300"/>
                  <a:pt x="2583" y="474109"/>
                  <a:pt x="5345" y="468298"/>
                </a:cubicBezTo>
                <a:lnTo>
                  <a:pt x="154983" y="151592"/>
                </a:lnTo>
                <a:cubicBezTo>
                  <a:pt x="157364" y="146544"/>
                  <a:pt x="158603" y="140924"/>
                  <a:pt x="158603" y="135305"/>
                </a:cubicBezTo>
                <a:lnTo>
                  <a:pt x="158603" y="19671"/>
                </a:lnTo>
                <a:lnTo>
                  <a:pt x="120503" y="19671"/>
                </a:lnTo>
                <a:lnTo>
                  <a:pt x="120503" y="621"/>
                </a:lnTo>
                <a:lnTo>
                  <a:pt x="368153" y="621"/>
                </a:lnTo>
                <a:lnTo>
                  <a:pt x="368153" y="19671"/>
                </a:lnTo>
                <a:lnTo>
                  <a:pt x="330053" y="19671"/>
                </a:lnTo>
                <a:lnTo>
                  <a:pt x="330053" y="135305"/>
                </a:lnTo>
                <a:cubicBezTo>
                  <a:pt x="330053" y="140924"/>
                  <a:pt x="331291" y="146449"/>
                  <a:pt x="333672" y="151592"/>
                </a:cubicBezTo>
                <a:lnTo>
                  <a:pt x="483310" y="468298"/>
                </a:lnTo>
                <a:cubicBezTo>
                  <a:pt x="488834" y="480014"/>
                  <a:pt x="489406" y="493444"/>
                  <a:pt x="484834" y="505541"/>
                </a:cubicBezTo>
                <a:lnTo>
                  <a:pt x="484739" y="505732"/>
                </a:lnTo>
                <a:lnTo>
                  <a:pt x="484167" y="507160"/>
                </a:lnTo>
                <a:cubicBezTo>
                  <a:pt x="479690" y="517066"/>
                  <a:pt x="470165" y="523734"/>
                  <a:pt x="459307" y="524401"/>
                </a:cubicBezTo>
                <a:lnTo>
                  <a:pt x="457497" y="524496"/>
                </a:lnTo>
                <a:lnTo>
                  <a:pt x="31253" y="524496"/>
                </a:lnTo>
                <a:lnTo>
                  <a:pt x="29444" y="524401"/>
                </a:lnTo>
                <a:cubicBezTo>
                  <a:pt x="28586" y="524305"/>
                  <a:pt x="27824" y="524305"/>
                  <a:pt x="26967" y="524115"/>
                </a:cubicBezTo>
                <a:cubicBezTo>
                  <a:pt x="25634" y="523925"/>
                  <a:pt x="24395" y="523639"/>
                  <a:pt x="23157" y="523258"/>
                </a:cubicBezTo>
                <a:lnTo>
                  <a:pt x="23157" y="523258"/>
                </a:lnTo>
                <a:cubicBezTo>
                  <a:pt x="21252" y="522686"/>
                  <a:pt x="19347" y="521924"/>
                  <a:pt x="17633" y="520972"/>
                </a:cubicBezTo>
                <a:lnTo>
                  <a:pt x="16204" y="520210"/>
                </a:lnTo>
                <a:cubicBezTo>
                  <a:pt x="15918" y="520020"/>
                  <a:pt x="15632" y="519829"/>
                  <a:pt x="15251" y="519638"/>
                </a:cubicBezTo>
                <a:cubicBezTo>
                  <a:pt x="13442" y="518495"/>
                  <a:pt x="11727" y="517066"/>
                  <a:pt x="10298" y="515542"/>
                </a:cubicBezTo>
                <a:lnTo>
                  <a:pt x="8774" y="514114"/>
                </a:lnTo>
                <a:lnTo>
                  <a:pt x="8774" y="514114"/>
                </a:lnTo>
                <a:close/>
                <a:moveTo>
                  <a:pt x="255377" y="404767"/>
                </a:moveTo>
                <a:lnTo>
                  <a:pt x="252519" y="406576"/>
                </a:lnTo>
                <a:lnTo>
                  <a:pt x="246995" y="410291"/>
                </a:lnTo>
                <a:cubicBezTo>
                  <a:pt x="199751" y="441628"/>
                  <a:pt x="120217" y="442581"/>
                  <a:pt x="55161" y="416864"/>
                </a:cubicBezTo>
                <a:lnTo>
                  <a:pt x="51351" y="415339"/>
                </a:lnTo>
                <a:lnTo>
                  <a:pt x="22490" y="476395"/>
                </a:lnTo>
                <a:lnTo>
                  <a:pt x="21633" y="478300"/>
                </a:lnTo>
                <a:cubicBezTo>
                  <a:pt x="19156" y="484872"/>
                  <a:pt x="19061" y="492111"/>
                  <a:pt x="21538" y="498778"/>
                </a:cubicBezTo>
                <a:cubicBezTo>
                  <a:pt x="22776" y="502017"/>
                  <a:pt x="25443" y="504303"/>
                  <a:pt x="28681" y="505065"/>
                </a:cubicBezTo>
                <a:lnTo>
                  <a:pt x="29920" y="505255"/>
                </a:lnTo>
                <a:lnTo>
                  <a:pt x="31063" y="505351"/>
                </a:lnTo>
                <a:lnTo>
                  <a:pt x="457306" y="505351"/>
                </a:lnTo>
                <a:lnTo>
                  <a:pt x="458450" y="505255"/>
                </a:lnTo>
                <a:cubicBezTo>
                  <a:pt x="462260" y="504875"/>
                  <a:pt x="465498" y="502303"/>
                  <a:pt x="466831" y="498683"/>
                </a:cubicBezTo>
                <a:cubicBezTo>
                  <a:pt x="469118" y="492778"/>
                  <a:pt x="469308" y="486205"/>
                  <a:pt x="467403" y="480205"/>
                </a:cubicBezTo>
                <a:lnTo>
                  <a:pt x="466736" y="478205"/>
                </a:lnTo>
                <a:lnTo>
                  <a:pt x="465879" y="476300"/>
                </a:lnTo>
                <a:lnTo>
                  <a:pt x="424255" y="388098"/>
                </a:lnTo>
                <a:cubicBezTo>
                  <a:pt x="366152" y="373810"/>
                  <a:pt x="296715" y="379335"/>
                  <a:pt x="255377" y="404767"/>
                </a:cubicBezTo>
                <a:close/>
                <a:moveTo>
                  <a:pt x="306240" y="257796"/>
                </a:moveTo>
                <a:cubicBezTo>
                  <a:pt x="287857" y="257796"/>
                  <a:pt x="272903" y="272750"/>
                  <a:pt x="272903" y="291134"/>
                </a:cubicBezTo>
                <a:cubicBezTo>
                  <a:pt x="272903" y="309517"/>
                  <a:pt x="287857" y="324471"/>
                  <a:pt x="306240" y="324471"/>
                </a:cubicBezTo>
                <a:cubicBezTo>
                  <a:pt x="324623" y="324471"/>
                  <a:pt x="339578" y="309517"/>
                  <a:pt x="339578" y="291134"/>
                </a:cubicBezTo>
                <a:cubicBezTo>
                  <a:pt x="339578" y="272750"/>
                  <a:pt x="324623" y="257796"/>
                  <a:pt x="306240" y="257796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Setting Up Your Figma Account</a:t>
            </a:r>
          </a:p>
        </p:txBody>
      </p:sp>
      <p:sp>
        <p:nvSpPr>
          <p:cNvPr name="AutoShape 3" id="3"/>
          <p:cNvSpPr/>
          <p:nvPr/>
        </p:nvSpPr>
        <p:spPr>
          <a:xfrm>
            <a:off x="2239367" y="2586445"/>
            <a:ext cx="1854890" cy="4384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vert="horz" anchor="ctr" wrap="square" tIns="90000" lIns="91440" bIns="90000" rIns="91440">
            <a:no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4" id="4"/>
          <p:cNvSpPr/>
          <p:nvPr/>
        </p:nvSpPr>
        <p:spPr>
          <a:xfrm>
            <a:off x="2006499" y="3774814"/>
            <a:ext cx="2571835" cy="166380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effectLst/>
                <a:latin typeface="微软雅黑"/>
                <a:ea typeface="微软雅黑"/>
              </a:rPr>
              <a:t>Visit Figma's website and sign up for a free account using your email or Google account. The process is straightforward and takes just a few minutes.</a:t>
            </a:r>
          </a:p>
        </p:txBody>
      </p:sp>
      <p:grpSp>
        <p:nvGrpSpPr>
          <p:cNvPr name="Group 5" id="5"/>
          <p:cNvGrpSpPr/>
          <p:nvPr/>
        </p:nvGrpSpPr>
        <p:grpSpPr>
          <a:xfrm>
            <a:off x="1804815" y="2988380"/>
            <a:ext cx="139700" cy="139700"/>
            <a:chOff x="1886293" y="4670068"/>
            <a:chExt cx="139700" cy="139700"/>
          </a:xfrm>
        </p:grpSpPr>
        <p:sp>
          <p:nvSpPr>
            <p:cNvPr name="AutoShape 6" id="6"/>
            <p:cNvSpPr/>
            <p:nvPr/>
          </p:nvSpPr>
          <p:spPr>
            <a:xfrm>
              <a:off x="1886293" y="4670068"/>
              <a:ext cx="139700" cy="13970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7" id="7"/>
            <p:cNvSpPr/>
            <p:nvPr/>
          </p:nvSpPr>
          <p:spPr>
            <a:xfrm>
              <a:off x="1913018" y="4696793"/>
              <a:ext cx="86250" cy="8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algn="ctr" blurRad="127000" dir="2700000" dist="63500" rotWithShape="false">
                <a:schemeClr val="accent2">
                  <a:alpha val="40000"/>
                </a:scheme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cxnSp>
        <p:nvCxnSpPr>
          <p:cNvPr name="Connector 8" id="8"/>
          <p:cNvCxnSpPr/>
          <p:nvPr/>
        </p:nvCxnSpPr>
        <p:spPr>
          <a:xfrm>
            <a:off x="1870020" y="2986541"/>
            <a:ext cx="1" cy="2952780"/>
          </a:xfrm>
          <a:prstGeom prst="line">
            <a:avLst/>
          </a:prstGeom>
          <a:ln w="9525">
            <a:solidFill>
              <a:schemeClr val="accent1">
                <a:alpha val="50000"/>
              </a:schemeClr>
            </a:solidFill>
            <a:prstDash val="sysDash"/>
          </a:ln>
        </p:spPr>
      </p:cxnSp>
      <p:cxnSp>
        <p:nvCxnSpPr>
          <p:cNvPr name="Connector 9" id="9"/>
          <p:cNvCxnSpPr/>
          <p:nvPr/>
        </p:nvCxnSpPr>
        <p:spPr>
          <a:xfrm>
            <a:off x="4779508" y="2461497"/>
            <a:ext cx="0" cy="3584540"/>
          </a:xfrm>
          <a:prstGeom prst="line">
            <a:avLst/>
          </a:prstGeom>
          <a:ln w="9525">
            <a:solidFill>
              <a:schemeClr val="accent2">
                <a:alpha val="50000"/>
              </a:schemeClr>
            </a:solidFill>
            <a:prstDash val="sysDash"/>
          </a:ln>
        </p:spPr>
      </p:cxnSp>
      <p:sp>
        <p:nvSpPr>
          <p:cNvPr name="AutoShape 10" id="10"/>
          <p:cNvSpPr/>
          <p:nvPr/>
        </p:nvSpPr>
        <p:spPr>
          <a:xfrm>
            <a:off x="5157998" y="1858051"/>
            <a:ext cx="1854890" cy="43847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vert="horz" anchor="ctr" wrap="square" tIns="90000" lIns="91440" bIns="90000" rIns="91440">
            <a:no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grpSp>
        <p:nvGrpSpPr>
          <p:cNvPr name="Group 11" id="11"/>
          <p:cNvGrpSpPr/>
          <p:nvPr/>
        </p:nvGrpSpPr>
        <p:grpSpPr>
          <a:xfrm>
            <a:off x="4723446" y="2464700"/>
            <a:ext cx="139700" cy="139700"/>
            <a:chOff x="1886293" y="4670068"/>
            <a:chExt cx="139700" cy="139700"/>
          </a:xfrm>
        </p:grpSpPr>
        <p:sp>
          <p:nvSpPr>
            <p:cNvPr name="AutoShape 12" id="12"/>
            <p:cNvSpPr/>
            <p:nvPr/>
          </p:nvSpPr>
          <p:spPr>
            <a:xfrm>
              <a:off x="1886293" y="4670068"/>
              <a:ext cx="139700" cy="13970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3" id="13"/>
            <p:cNvSpPr/>
            <p:nvPr/>
          </p:nvSpPr>
          <p:spPr>
            <a:xfrm>
              <a:off x="1913018" y="4696793"/>
              <a:ext cx="86250" cy="86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algn="ctr" blurRad="127000" dir="2700000" dist="63500" rotWithShape="false">
                <a:schemeClr val="accent4">
                  <a:alpha val="40000"/>
                </a:scheme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14" id="14"/>
          <p:cNvSpPr/>
          <p:nvPr/>
        </p:nvSpPr>
        <p:spPr>
          <a:xfrm>
            <a:off x="8113866" y="1220830"/>
            <a:ext cx="1854890" cy="4384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vert="horz" anchor="ctr" wrap="square" tIns="90000" lIns="91440" bIns="90000" rIns="91440">
            <a:no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>
            <a:off x="7642077" y="1659305"/>
            <a:ext cx="139700" cy="139700"/>
            <a:chOff x="1886293" y="4670068"/>
            <a:chExt cx="139700" cy="139700"/>
          </a:xfrm>
        </p:grpSpPr>
        <p:sp>
          <p:nvSpPr>
            <p:cNvPr name="AutoShape 16" id="16"/>
            <p:cNvSpPr/>
            <p:nvPr/>
          </p:nvSpPr>
          <p:spPr>
            <a:xfrm>
              <a:off x="1886293" y="4670068"/>
              <a:ext cx="139700" cy="1397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7" id="17"/>
            <p:cNvSpPr/>
            <p:nvPr/>
          </p:nvSpPr>
          <p:spPr>
            <a:xfrm>
              <a:off x="1913018" y="4696793"/>
              <a:ext cx="86250" cy="86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algn="ctr" blurRad="127000" dir="2700000" dist="63500" rotWithShape="false">
                <a:schemeClr val="accent6">
                  <a:alpha val="40000"/>
                </a:scheme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cxnSp>
        <p:nvCxnSpPr>
          <p:cNvPr name="Connector 18" id="18"/>
          <p:cNvCxnSpPr/>
          <p:nvPr/>
        </p:nvCxnSpPr>
        <p:spPr>
          <a:xfrm>
            <a:off x="7695002" y="1687319"/>
            <a:ext cx="0" cy="3778487"/>
          </a:xfrm>
          <a:prstGeom prst="line">
            <a:avLst/>
          </a:prstGeom>
          <a:ln w="9525">
            <a:solidFill>
              <a:schemeClr val="accent1">
                <a:alpha val="50000"/>
              </a:schemeClr>
            </a:solidFill>
            <a:prstDash val="sysDash"/>
          </a:ln>
        </p:spPr>
      </p:cxnSp>
      <p:sp>
        <p:nvSpPr>
          <p:cNvPr name="TextBox 19" id="19"/>
          <p:cNvSpPr txBox="true"/>
          <p:nvPr/>
        </p:nvSpPr>
        <p:spPr>
          <a:xfrm>
            <a:off x="2006499" y="3258432"/>
            <a:ext cx="257183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Creating an Account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>
            <a:off x="4889346" y="3064387"/>
            <a:ext cx="2571835" cy="166380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effectLst/>
                <a:latin typeface="微软雅黑"/>
                <a:ea typeface="微软雅黑"/>
              </a:rPr>
              <a:t>Familiarize yourself with the main sections: Files, Recent, Community, and your profile settings. The toolbar at the top provides access to design tools.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4889346" y="2548005"/>
            <a:ext cx="257183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Navigating the Figma Interface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>
            <a:off x="7815348" y="2402087"/>
            <a:ext cx="2571835" cy="166380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effectLst/>
                <a:latin typeface="微软雅黑"/>
                <a:ea typeface="微软雅黑"/>
              </a:rPr>
              <a:t>Projects are organized into files, and files contain pages. Each page can hold multiple frames or artboards, keeping your workspace organized.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7815348" y="1885705"/>
            <a:ext cx="257183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Understanding Figma's File Structure</a:t>
            </a:r>
            <a:endParaRPr lang="en-US" sz="1100"/>
          </a:p>
        </p:txBody>
      </p:sp>
      <p:grpSp>
        <p:nvGrpSpPr>
          <p:cNvPr name="Group 24" id="24"/>
          <p:cNvGrpSpPr/>
          <p:nvPr/>
        </p:nvGrpSpPr>
        <p:grpSpPr>
          <a:xfrm rot="405838">
            <a:off x="1901579" y="3130561"/>
            <a:ext cx="8929531" cy="3610665"/>
            <a:chOff x="1785483" y="1336696"/>
            <a:chExt cx="7702756" cy="3929491"/>
          </a:xfrm>
        </p:grpSpPr>
        <p:sp>
          <p:nvSpPr>
            <p:cNvPr name="Freeform 25" id="25"/>
            <p:cNvSpPr/>
            <p:nvPr/>
          </p:nvSpPr>
          <p:spPr>
            <a:xfrm>
              <a:off x="1785483" y="1614094"/>
              <a:ext cx="7550848" cy="3652093"/>
            </a:xfrm>
            <a:custGeom>
              <a:avLst/>
              <a:gdLst/>
              <a:ahLst/>
              <a:cxnLst/>
              <a:rect r="r" b="b" t="t" l="l"/>
              <a:pathLst>
                <a:path w="7550848" h="3652093" stroke="true" fill="norm" extrusionOk="true">
                  <a:moveTo>
                    <a:pt x="1424" y="3618319"/>
                  </a:moveTo>
                  <a:cubicBezTo>
                    <a:pt x="179089" y="3630541"/>
                    <a:pt x="357295" y="3632900"/>
                    <a:pt x="535220" y="3625383"/>
                  </a:cubicBezTo>
                  <a:cubicBezTo>
                    <a:pt x="2850736" y="3533018"/>
                    <a:pt x="5062424" y="2437037"/>
                    <a:pt x="6669143" y="790200"/>
                  </a:cubicBezTo>
                  <a:cubicBezTo>
                    <a:pt x="6917315" y="538296"/>
                    <a:pt x="7153225" y="275103"/>
                    <a:pt x="7376873" y="635"/>
                  </a:cubicBezTo>
                  <a:lnTo>
                    <a:pt x="7550807" y="145912"/>
                  </a:lnTo>
                  <a:cubicBezTo>
                    <a:pt x="7316136" y="419408"/>
                    <a:pt x="7069164" y="681534"/>
                    <a:pt x="6809889" y="932278"/>
                  </a:cubicBezTo>
                  <a:cubicBezTo>
                    <a:pt x="5142394" y="2558191"/>
                    <a:pt x="2879658" y="3616586"/>
                    <a:pt x="535887" y="3652040"/>
                  </a:cubicBezTo>
                  <a:cubicBezTo>
                    <a:pt x="357006" y="3655038"/>
                    <a:pt x="178094" y="3648241"/>
                    <a:pt x="-42" y="3631647"/>
                  </a:cubicBezTo>
                  <a:lnTo>
                    <a:pt x="1424" y="3618319"/>
                  </a:lnTo>
                  <a:close/>
                </a:path>
              </a:pathLst>
            </a:custGeom>
            <a:gradFill>
              <a:gsLst>
                <a:gs pos="0">
                  <a:srgbClr val="BE02DB">
                    <a:alpha val="0"/>
                  </a:srgbClr>
                </a:gs>
                <a:gs pos="77000">
                  <a:srgbClr val="BE02DB"/>
                </a:gs>
              </a:gsLst>
              <a:lin ang="1200000"/>
            </a:gradFill>
            <a:ln cap="flat">
              <a:noFill/>
              <a:prstDash val="solid"/>
              <a:miter lim="800000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6" id="26"/>
            <p:cNvSpPr/>
            <p:nvPr/>
          </p:nvSpPr>
          <p:spPr>
            <a:xfrm rot="698765">
              <a:off x="9002135" y="1336696"/>
              <a:ext cx="486104" cy="570182"/>
            </a:xfrm>
            <a:custGeom>
              <a:avLst/>
              <a:gdLst/>
              <a:ahLst/>
              <a:cxnLst/>
              <a:rect r="r" b="b" t="t" l="l"/>
              <a:pathLst>
                <a:path w="486104" h="570182" stroke="true" fill="norm" extrusionOk="true">
                  <a:moveTo>
                    <a:pt x="0" y="223733"/>
                  </a:moveTo>
                  <a:lnTo>
                    <a:pt x="486104" y="570182"/>
                  </a:lnTo>
                  <a:lnTo>
                    <a:pt x="486104" y="0"/>
                  </a:lnTo>
                  <a:lnTo>
                    <a:pt x="0" y="223733"/>
                  </a:ln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  <a:miter lim="800000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709305" y="4082344"/>
            <a:ext cx="5677105" cy="480131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tru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Frames and Artboards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09613" y="2830923"/>
            <a:ext cx="1210588" cy="120032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true" sz="7200" baseline="0" u="none">
                <a:solidFill>
                  <a:schemeClr val="accent1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Understanding Frames</a:t>
            </a:r>
          </a:p>
        </p:txBody>
      </p:sp>
      <p:grpSp>
        <p:nvGrpSpPr>
          <p:cNvPr name="Group 3" id="3"/>
          <p:cNvGrpSpPr/>
          <p:nvPr/>
        </p:nvGrpSpPr>
        <p:grpSpPr>
          <a:xfrm rot="21314955">
            <a:off x="-1226458" y="2749927"/>
            <a:ext cx="14644914" cy="2027172"/>
            <a:chOff x="-1357086" y="2808513"/>
            <a:chExt cx="14644914" cy="2027172"/>
          </a:xfrm>
        </p:grpSpPr>
        <p:sp>
          <p:nvSpPr>
            <p:cNvPr name="Freeform 4" id="4"/>
            <p:cNvSpPr/>
            <p:nvPr/>
          </p:nvSpPr>
          <p:spPr>
            <a:xfrm>
              <a:off x="-1357086" y="2866571"/>
              <a:ext cx="14383657" cy="1771492"/>
            </a:xfrm>
            <a:custGeom>
              <a:avLst/>
              <a:gdLst/>
              <a:ahLst/>
              <a:cxnLst/>
              <a:rect r="r" b="b" t="t" l="l"/>
              <a:pathLst>
                <a:path w="14383657" h="2111829" stroke="true" fill="norm" extrusionOk="true">
                  <a:moveTo>
                    <a:pt x="0" y="2111829"/>
                  </a:moveTo>
                  <a:cubicBezTo>
                    <a:pt x="620485" y="1631648"/>
                    <a:pt x="1240971" y="1151467"/>
                    <a:pt x="1814285" y="1117600"/>
                  </a:cubicBezTo>
                  <a:cubicBezTo>
                    <a:pt x="2387599" y="1083733"/>
                    <a:pt x="2737152" y="1978781"/>
                    <a:pt x="3439885" y="1908629"/>
                  </a:cubicBezTo>
                  <a:cubicBezTo>
                    <a:pt x="4142618" y="1838477"/>
                    <a:pt x="5289247" y="749905"/>
                    <a:pt x="6030685" y="696686"/>
                  </a:cubicBezTo>
                  <a:cubicBezTo>
                    <a:pt x="6772123" y="643467"/>
                    <a:pt x="7218438" y="1611086"/>
                    <a:pt x="7888514" y="1589315"/>
                  </a:cubicBezTo>
                  <a:cubicBezTo>
                    <a:pt x="8558590" y="1567544"/>
                    <a:pt x="9368972" y="625324"/>
                    <a:pt x="10051143" y="566057"/>
                  </a:cubicBezTo>
                  <a:cubicBezTo>
                    <a:pt x="10733314" y="506790"/>
                    <a:pt x="11259457" y="1328058"/>
                    <a:pt x="11981543" y="1233715"/>
                  </a:cubicBezTo>
                  <a:cubicBezTo>
                    <a:pt x="12703629" y="1139372"/>
                    <a:pt x="13543643" y="569686"/>
                    <a:pt x="14383657" y="0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  <p:sp>
          <p:nvSpPr>
            <p:cNvPr name="Freeform 5" id="5"/>
            <p:cNvSpPr/>
            <p:nvPr/>
          </p:nvSpPr>
          <p:spPr>
            <a:xfrm>
              <a:off x="-1349829" y="3018971"/>
              <a:ext cx="14586857" cy="1473200"/>
            </a:xfrm>
            <a:custGeom>
              <a:avLst/>
              <a:gdLst/>
              <a:ahLst/>
              <a:cxnLst/>
              <a:rect r="r" b="b" t="t" l="l"/>
              <a:pathLst>
                <a:path w="14586857" h="1756229" stroke="true" fill="norm" extrusionOk="true">
                  <a:moveTo>
                    <a:pt x="0" y="1756229"/>
                  </a:moveTo>
                  <a:cubicBezTo>
                    <a:pt x="620485" y="1276048"/>
                    <a:pt x="1352247" y="1151467"/>
                    <a:pt x="1959428" y="1117600"/>
                  </a:cubicBezTo>
                  <a:cubicBezTo>
                    <a:pt x="2566609" y="1083733"/>
                    <a:pt x="2940352" y="1623181"/>
                    <a:pt x="3643085" y="1553029"/>
                  </a:cubicBezTo>
                  <a:cubicBezTo>
                    <a:pt x="4345818" y="1482877"/>
                    <a:pt x="5473095" y="737810"/>
                    <a:pt x="6175828" y="696686"/>
                  </a:cubicBezTo>
                  <a:cubicBezTo>
                    <a:pt x="6878561" y="655562"/>
                    <a:pt x="7189409" y="1328057"/>
                    <a:pt x="7859485" y="1306286"/>
                  </a:cubicBezTo>
                  <a:cubicBezTo>
                    <a:pt x="8529561" y="1284515"/>
                    <a:pt x="9493553" y="628952"/>
                    <a:pt x="10196286" y="566057"/>
                  </a:cubicBezTo>
                  <a:cubicBezTo>
                    <a:pt x="10899019" y="503162"/>
                    <a:pt x="11353800" y="1023258"/>
                    <a:pt x="12075886" y="928915"/>
                  </a:cubicBezTo>
                  <a:cubicBezTo>
                    <a:pt x="12797972" y="834572"/>
                    <a:pt x="13746843" y="569686"/>
                    <a:pt x="14586857" y="0"/>
                  </a:cubicBezTo>
                </a:path>
              </a:pathLst>
            </a:custGeom>
            <a:noFill/>
            <a:ln w="12700">
              <a:solidFill>
                <a:schemeClr val="accent1"/>
              </a:solidFill>
              <a:prstDash val="sysDot"/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  <p:sp>
          <p:nvSpPr>
            <p:cNvPr name="Freeform 6" id="6"/>
            <p:cNvSpPr/>
            <p:nvPr/>
          </p:nvSpPr>
          <p:spPr>
            <a:xfrm>
              <a:off x="-1182915" y="2808513"/>
              <a:ext cx="14470743" cy="2027172"/>
            </a:xfrm>
            <a:custGeom>
              <a:avLst/>
              <a:gdLst/>
              <a:ahLst/>
              <a:cxnLst/>
              <a:rect r="r" b="b" t="t" l="l"/>
              <a:pathLst>
                <a:path w="14470743" h="2416629" stroke="true" fill="norm" extrusionOk="true">
                  <a:moveTo>
                    <a:pt x="0" y="2416629"/>
                  </a:moveTo>
                  <a:cubicBezTo>
                    <a:pt x="620485" y="1936448"/>
                    <a:pt x="1342571" y="1152676"/>
                    <a:pt x="1915885" y="1117600"/>
                  </a:cubicBezTo>
                  <a:cubicBezTo>
                    <a:pt x="2489199" y="1082524"/>
                    <a:pt x="2731105" y="2279953"/>
                    <a:pt x="3439886" y="2206172"/>
                  </a:cubicBezTo>
                  <a:cubicBezTo>
                    <a:pt x="4148667" y="2132391"/>
                    <a:pt x="5442857" y="714830"/>
                    <a:pt x="6168571" y="674915"/>
                  </a:cubicBezTo>
                  <a:cubicBezTo>
                    <a:pt x="6894285" y="635001"/>
                    <a:pt x="7116838" y="1984828"/>
                    <a:pt x="7794171" y="1966685"/>
                  </a:cubicBezTo>
                  <a:cubicBezTo>
                    <a:pt x="8471504" y="1948542"/>
                    <a:pt x="9525001" y="641046"/>
                    <a:pt x="10232572" y="566056"/>
                  </a:cubicBezTo>
                  <a:cubicBezTo>
                    <a:pt x="10940144" y="491066"/>
                    <a:pt x="11317514" y="1611086"/>
                    <a:pt x="12039600" y="1516743"/>
                  </a:cubicBezTo>
                  <a:cubicBezTo>
                    <a:pt x="12761686" y="1422400"/>
                    <a:pt x="13630729" y="569686"/>
                    <a:pt x="14470743" y="0"/>
                  </a:cubicBezTo>
                </a:path>
              </a:pathLst>
            </a:custGeom>
            <a:noFill/>
            <a:ln w="6350">
              <a:gradFill>
                <a:gsLst>
                  <a:gs pos="0">
                    <a:srgbClr val="01EEE6">
                      <a:alpha val="5000"/>
                    </a:srgbClr>
                  </a:gs>
                  <a:gs pos="74000">
                    <a:srgbClr val="01EEE6"/>
                  </a:gs>
                  <a:gs pos="83000">
                    <a:srgbClr val="01EEE6">
                      <a:lumMod val="45000"/>
                      <a:lumOff val="55000"/>
                    </a:srgbClr>
                  </a:gs>
                  <a:gs pos="100000">
                    <a:srgbClr val="01EEE6">
                      <a:lumMod val="30000"/>
                      <a:lumOff val="70000"/>
                    </a:srgbClr>
                  </a:gs>
                </a:gsLst>
              </a:gradFill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</p:grpSp>
      <p:sp>
        <p:nvSpPr>
          <p:cNvPr name="AutoShape 7" id="7"/>
          <p:cNvSpPr/>
          <p:nvPr/>
        </p:nvSpPr>
        <p:spPr>
          <a:xfrm>
            <a:off x="855758" y="4180776"/>
            <a:ext cx="136671" cy="136671"/>
          </a:xfrm>
          <a:prstGeom prst="ellipse">
            <a:avLst/>
          </a:prstGeom>
          <a:solidFill>
            <a:schemeClr val="accent1"/>
          </a:solidFill>
          <a:ln w="177800">
            <a:solidFill>
              <a:schemeClr val="accent1">
                <a:alpha val="40000"/>
              </a:schemeClr>
            </a:solidFill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4917198" y="3435109"/>
            <a:ext cx="136671" cy="136671"/>
          </a:xfrm>
          <a:prstGeom prst="ellipse">
            <a:avLst/>
          </a:prstGeom>
          <a:solidFill>
            <a:schemeClr val="accent1"/>
          </a:solidFill>
          <a:ln w="177800">
            <a:solidFill>
              <a:schemeClr val="accent1">
                <a:alpha val="40000"/>
              </a:schemeClr>
            </a:solidFill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8247596" y="3401703"/>
            <a:ext cx="136671" cy="136671"/>
          </a:xfrm>
          <a:prstGeom prst="ellipse">
            <a:avLst/>
          </a:prstGeom>
          <a:solidFill>
            <a:schemeClr val="accent1"/>
          </a:solidFill>
          <a:ln w="177800">
            <a:solidFill>
              <a:schemeClr val="accent1">
                <a:alpha val="40000"/>
              </a:schemeClr>
            </a:solidFill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TextBox 10" id="10"/>
          <p:cNvSpPr txBox="true"/>
          <p:nvPr/>
        </p:nvSpPr>
        <p:spPr>
          <a:xfrm>
            <a:off x="1031545" y="1886123"/>
            <a:ext cx="3606824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600" baseline="0" u="none" altLang="en-US">
                <a:solidFill>
                  <a:schemeClr val="accent1"/>
                </a:solidFill>
                <a:latin typeface="思源黑体 CN Bold"/>
                <a:ea typeface="思源黑体 CN Bold"/>
              </a:rPr>
              <a:t>Definition of Frames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031545" y="2214352"/>
            <a:ext cx="3606824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思源黑体 CN Regular"/>
                <a:ea typeface="思源黑体 CN Regular"/>
              </a:rPr>
              <a:t>Frames are containers for your design elements. They can be resized and act as a viewport for your content, defining the boundaries of your design.</a:t>
            </a:r>
            <a:endParaRPr lang="en-US" sz="1100"/>
          </a:p>
        </p:txBody>
      </p:sp>
      <p:grpSp>
        <p:nvGrpSpPr>
          <p:cNvPr name="Group 12" id="12"/>
          <p:cNvGrpSpPr/>
          <p:nvPr/>
        </p:nvGrpSpPr>
        <p:grpSpPr>
          <a:xfrm>
            <a:off x="844184" y="1939730"/>
            <a:ext cx="159042" cy="2241046"/>
            <a:chOff x="713942" y="2558079"/>
            <a:chExt cx="159042" cy="2241046"/>
          </a:xfrm>
        </p:grpSpPr>
        <p:cxnSp>
          <p:nvCxnSpPr>
            <p:cNvPr name="Connector 13" id="13"/>
            <p:cNvCxnSpPr/>
            <p:nvPr/>
          </p:nvCxnSpPr>
          <p:spPr>
            <a:xfrm flipH="true" flipV="true">
              <a:off x="793464" y="2620257"/>
              <a:ext cx="388" cy="2178868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</p:cxnSp>
        <p:sp>
          <p:nvSpPr>
            <p:cNvPr name="AutoShape 14" id="14"/>
            <p:cNvSpPr/>
            <p:nvPr/>
          </p:nvSpPr>
          <p:spPr>
            <a:xfrm>
              <a:off x="713942" y="2558079"/>
              <a:ext cx="159042" cy="159042"/>
            </a:xfrm>
            <a:prstGeom prst="ellipse">
              <a:avLst/>
            </a:prstGeom>
            <a:solidFill>
              <a:srgbClr val="000000"/>
            </a:solidFill>
            <a:ln w="6350">
              <a:solidFill>
                <a:schemeClr val="accent1"/>
              </a:solidFill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</p:grpSp>
      <p:sp>
        <p:nvSpPr>
          <p:cNvPr name="TextBox 15" id="15"/>
          <p:cNvSpPr txBox="true"/>
          <p:nvPr/>
        </p:nvSpPr>
        <p:spPr>
          <a:xfrm>
            <a:off x="5123147" y="1710188"/>
            <a:ext cx="4510053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600" baseline="0" u="none" altLang="en-US">
                <a:solidFill>
                  <a:schemeClr val="accent1"/>
                </a:solidFill>
                <a:latin typeface="思源黑体 CN Bold"/>
                <a:ea typeface="思源黑体 CN Bold"/>
              </a:rPr>
              <a:t>Creating and Resizing Frames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5123146" y="2038417"/>
            <a:ext cx="4510053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思源黑体 CN Regular"/>
                <a:ea typeface="思源黑体 CN Regular"/>
              </a:rPr>
              <a:t>Use the Frame tool (F) to draw a new frame, or select a preset size from the right sidebar. Resize by dragging the handles or entering specific dimensions.</a:t>
            </a:r>
            <a:endParaRPr lang="en-US" sz="1100"/>
          </a:p>
        </p:txBody>
      </p:sp>
      <p:grpSp>
        <p:nvGrpSpPr>
          <p:cNvPr name="Group 17" id="17"/>
          <p:cNvGrpSpPr/>
          <p:nvPr/>
        </p:nvGrpSpPr>
        <p:grpSpPr>
          <a:xfrm>
            <a:off x="4914344" y="1682527"/>
            <a:ext cx="159042" cy="1752582"/>
            <a:chOff x="713942" y="2522351"/>
            <a:chExt cx="159042" cy="1752582"/>
          </a:xfrm>
        </p:grpSpPr>
        <p:cxnSp>
          <p:nvCxnSpPr>
            <p:cNvPr name="Connector 18" id="18"/>
            <p:cNvCxnSpPr/>
            <p:nvPr/>
          </p:nvCxnSpPr>
          <p:spPr>
            <a:xfrm flipH="true" flipV="true">
              <a:off x="782314" y="2620259"/>
              <a:ext cx="2818" cy="1654674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</p:cxnSp>
        <p:sp>
          <p:nvSpPr>
            <p:cNvPr name="AutoShape 19" id="19"/>
            <p:cNvSpPr/>
            <p:nvPr/>
          </p:nvSpPr>
          <p:spPr>
            <a:xfrm>
              <a:off x="713942" y="2522351"/>
              <a:ext cx="159042" cy="159042"/>
            </a:xfrm>
            <a:prstGeom prst="ellipse">
              <a:avLst/>
            </a:prstGeom>
            <a:solidFill>
              <a:srgbClr val="000000"/>
            </a:solidFill>
            <a:ln w="6350">
              <a:solidFill>
                <a:schemeClr val="accent1"/>
              </a:solidFill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</p:grpSp>
      <p:grpSp>
        <p:nvGrpSpPr>
          <p:cNvPr name="Group 20" id="20"/>
          <p:cNvGrpSpPr/>
          <p:nvPr/>
        </p:nvGrpSpPr>
        <p:grpSpPr>
          <a:xfrm flipV="true">
            <a:off x="8247596" y="3634275"/>
            <a:ext cx="159042" cy="562296"/>
            <a:chOff x="713942" y="1899867"/>
            <a:chExt cx="159042" cy="562296"/>
          </a:xfrm>
        </p:grpSpPr>
        <p:cxnSp>
          <p:nvCxnSpPr>
            <p:cNvPr name="Connector 21" id="21"/>
            <p:cNvCxnSpPr/>
            <p:nvPr/>
          </p:nvCxnSpPr>
          <p:spPr>
            <a:xfrm flipV="true">
              <a:off x="793464" y="1979364"/>
              <a:ext cx="0" cy="482799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</p:cxnSp>
        <p:sp>
          <p:nvSpPr>
            <p:cNvPr name="AutoShape 22" id="22"/>
            <p:cNvSpPr/>
            <p:nvPr/>
          </p:nvSpPr>
          <p:spPr>
            <a:xfrm>
              <a:off x="713942" y="1899867"/>
              <a:ext cx="159042" cy="159042"/>
            </a:xfrm>
            <a:prstGeom prst="ellipse">
              <a:avLst/>
            </a:prstGeom>
            <a:solidFill>
              <a:srgbClr val="000000"/>
            </a:solidFill>
            <a:ln w="6350">
              <a:solidFill>
                <a:schemeClr val="accent1"/>
              </a:solidFill>
            </a:ln>
          </p:spPr>
          <p:txBody>
            <a:bodyPr vert="horz" anchor="ctr" tIns="45720" lIns="91440" bIns="45720" rIns="91440">
              <a:spAutoFit/>
            </a:bodyPr>
            <a:p>
              <a:pPr algn="ctr" marL="0"/>
            </a:p>
          </p:txBody>
        </p:sp>
      </p:grpSp>
      <p:sp>
        <p:nvSpPr>
          <p:cNvPr name="TextBox 23" id="23"/>
          <p:cNvSpPr txBox="true"/>
          <p:nvPr/>
        </p:nvSpPr>
        <p:spPr>
          <a:xfrm>
            <a:off x="6018970" y="4288000"/>
            <a:ext cx="4616296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600" baseline="0" u="none" altLang="en-US">
                <a:solidFill>
                  <a:schemeClr val="accent1"/>
                </a:solidFill>
                <a:latin typeface="思源黑体 CN Bold"/>
                <a:ea typeface="思源黑体 CN Bold"/>
              </a:rPr>
              <a:t>Properties of Frames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6018970" y="4616229"/>
            <a:ext cx="4616296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思源黑体 CN Regular"/>
                <a:ea typeface="思源黑体 CN Regular"/>
              </a:rPr>
              <a:t>Frames have properties like width, height, fill, stroke, and corner radius. Adjust these in the right sidebar to customize your frame's appearance.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Working with Artboards</a:t>
            </a:r>
          </a:p>
        </p:txBody>
      </p:sp>
      <p:sp>
        <p:nvSpPr>
          <p:cNvPr name="AutoShape 3" id="3"/>
          <p:cNvSpPr/>
          <p:nvPr/>
        </p:nvSpPr>
        <p:spPr>
          <a:xfrm>
            <a:off x="5155918" y="1259279"/>
            <a:ext cx="1988458" cy="198845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 rot="21439082">
            <a:off x="2963725" y="1675327"/>
            <a:ext cx="6496671" cy="1692976"/>
          </a:xfrm>
          <a:custGeom>
            <a:avLst/>
            <a:gdLst/>
            <a:ahLst/>
            <a:cxnLst/>
            <a:rect r="r" b="b" t="t" l="l"/>
            <a:pathLst>
              <a:path w="5746" h="1503" stroke="true" fill="norm" extrusionOk="true">
                <a:moveTo>
                  <a:pt x="3663" y="153"/>
                </a:moveTo>
                <a:cubicBezTo>
                  <a:pt x="4811" y="0"/>
                  <a:pt x="5665" y="14"/>
                  <a:pt x="5701" y="211"/>
                </a:cubicBezTo>
                <a:cubicBezTo>
                  <a:pt x="5746" y="456"/>
                  <a:pt x="4515" y="888"/>
                  <a:pt x="2951" y="1177"/>
                </a:cubicBezTo>
                <a:cubicBezTo>
                  <a:pt x="1387" y="1467"/>
                  <a:pt x="82" y="1503"/>
                  <a:pt x="37" y="1259"/>
                </a:cubicBezTo>
                <a:cubicBezTo>
                  <a:pt x="0" y="1061"/>
                  <a:pt x="800" y="740"/>
                  <a:pt x="1935" y="471"/>
                </a:cubicBezTo>
              </a:path>
            </a:pathLst>
          </a:custGeom>
          <a:ln w="19050">
            <a:solidFill>
              <a:srgbClr val="F99A04">
                <a:alpha val="20000"/>
              </a:srgbClr>
            </a:solidFill>
            <a:prstDash val="dash"/>
            <a:tailEnd type="triangle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3215237" y="2481610"/>
            <a:ext cx="654116" cy="6541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ctr" marL="0">
              <a:lnSpc>
                <a:spcPct val="150000"/>
              </a:lnSpc>
            </a:pPr>
            <a:r>
              <a:rPr lang="en-US" b="true" i="false" sz="1600" baseline="0" u="none">
                <a:solidFill>
                  <a:srgbClr val="000000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6" id="6"/>
          <p:cNvSpPr/>
          <p:nvPr/>
        </p:nvSpPr>
        <p:spPr>
          <a:xfrm>
            <a:off x="8661806" y="1407858"/>
            <a:ext cx="834641" cy="8346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ctr" marL="0">
              <a:lnSpc>
                <a:spcPct val="150000"/>
              </a:lnSpc>
            </a:pPr>
            <a:r>
              <a:rPr lang="en-US" b="true" i="false" sz="1800" baseline="0" u="none">
                <a:solidFill>
                  <a:srgbClr val="000000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7" id="7"/>
          <p:cNvSpPr/>
          <p:nvPr/>
        </p:nvSpPr>
        <p:spPr>
          <a:xfrm>
            <a:off x="4521577" y="3135727"/>
            <a:ext cx="383646" cy="383646"/>
          </a:xfrm>
          <a:prstGeom prst="ellipse">
            <a:avLst/>
          </a:prstGeom>
          <a:solidFill>
            <a:srgbClr val="778495"/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TextBox 8" id="8"/>
          <p:cNvSpPr txBox="true"/>
          <p:nvPr/>
        </p:nvSpPr>
        <p:spPr>
          <a:xfrm>
            <a:off x="8294074" y="2890552"/>
            <a:ext cx="3199925" cy="1669688"/>
          </a:xfrm>
          <a:prstGeom prst="rect">
            <a:avLst/>
          </a:prstGeom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rgbClr val="FFFFFF"/>
                </a:solidFill>
                <a:effectLst/>
                <a:latin typeface="微软雅黑"/>
                <a:ea typeface="微软雅黑"/>
              </a:rPr>
              <a:t>While using presets, you can still customize artboards by adjusting their dimensions, layout grids, and constraints to suit your unique design needs.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8294074" y="2358899"/>
            <a:ext cx="319992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chemeClr val="accent1"/>
                </a:solidFill>
                <a:latin typeface="+mn-ea"/>
                <a:ea typeface="+mn-ea"/>
              </a:rPr>
              <a:t>Customizing Artboards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695325" y="3012343"/>
            <a:ext cx="2209235" cy="2316019"/>
          </a:xfrm>
          <a:prstGeom prst="rect">
            <a:avLst/>
          </a:prstGeom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rgbClr val="FFFFFF"/>
                </a:solidFill>
                <a:effectLst/>
                <a:latin typeface="微软雅黑"/>
                <a:ea typeface="微软雅黑"/>
              </a:rPr>
              <a:t>Artboards are preset frame sizes designed for specific devices or screen dimensions. Frames are more flexible and can be any size.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95325" y="2480690"/>
            <a:ext cx="223234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chemeClr val="accent1"/>
                </a:solidFill>
                <a:latin typeface="+mn-ea"/>
                <a:ea typeface="+mn-ea"/>
              </a:rPr>
              <a:t>Artboards vs. Frames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6667344" y="3155509"/>
            <a:ext cx="727727" cy="727728"/>
          </a:xfrm>
          <a:prstGeom prst="ellipse">
            <a:avLst/>
          </a:prstGeom>
          <a:solidFill>
            <a:srgbClr val="FFFFFF">
              <a:alpha val="16000"/>
            </a:srgbClr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>
              <a:lnSpc>
                <a:spcPct val="150000"/>
              </a:lnSpc>
            </a:pPr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970326" y="4464412"/>
            <a:ext cx="3199924" cy="1669688"/>
          </a:xfrm>
          <a:prstGeom prst="rect">
            <a:avLst/>
          </a:prstGeom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rgbClr val="FFFFFF"/>
                </a:solidFill>
                <a:effectLst/>
                <a:latin typeface="微软雅黑"/>
                <a:ea typeface="微软雅黑"/>
              </a:rPr>
              <a:t>When creating a frame, choose from a list of artboard presets for iPhone, Android, Desktop, and more. This ensures your design is optimized for the target device.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4970326" y="3932759"/>
            <a:ext cx="3199924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chemeClr val="accent1"/>
                </a:solidFill>
                <a:latin typeface="+mn-ea"/>
                <a:ea typeface="+mn-ea"/>
              </a:rPr>
              <a:t>Selecting Artboard Presets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Grids and Layouts</a:t>
            </a:r>
          </a:p>
        </p:txBody>
      </p:sp>
      <p:sp>
        <p:nvSpPr>
          <p:cNvPr name="AutoShape 3" id="3"/>
          <p:cNvSpPr/>
          <p:nvPr/>
        </p:nvSpPr>
        <p:spPr>
          <a:xfrm>
            <a:off x="4253306" y="0"/>
            <a:ext cx="3672688" cy="6858000"/>
          </a:xfrm>
          <a:prstGeom prst="rect">
            <a:avLst/>
          </a:prstGeom>
          <a:solidFill>
            <a:srgbClr val="FFFFFF">
              <a:alpha val="5000"/>
              <a:lumMod val="50000"/>
              <a:lumOff val="50000"/>
            </a:srgb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815483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01EEE6">
                        <a:lumMod val="60000"/>
                        <a:lumOff val="40000"/>
                      </a:srgbClr>
                    </a:gs>
                    <a:gs pos="61062">
                      <a:srgbClr val="01EEE6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3">
                      <a:alpha val="20000"/>
                    </a:schemeClr>
                  </a:outerShdw>
                </a:effectLst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813895" y="3668995"/>
            <a:ext cx="3234731" cy="1177290"/>
          </a:xfrm>
          <a:prstGeom prst="rect">
            <a:avLst/>
          </a:prstGeom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Layout grids help maintain consistency and alignment in your designs. Figma offers grid, column, and row layouts.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815483" y="3035116"/>
            <a:ext cx="3233144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Using Layout Grids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4724992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BE02DB">
                        <a:lumMod val="60000"/>
                        <a:lumOff val="40000"/>
                      </a:srgbClr>
                    </a:gs>
                    <a:gs pos="60000">
                      <a:srgbClr val="BE02DB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2">
                      <a:alpha val="20000"/>
                    </a:schemeClr>
                  </a:outerShdw>
                </a:effectLst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4724992" y="3668995"/>
            <a:ext cx="3101550" cy="1400384"/>
          </a:xfrm>
          <a:prstGeom prst="rect">
            <a:avLst/>
          </a:prstGeom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Create a column grid by specifying the number of columns, margin, and gutter width. This helps structure your content and maintain a balanced layout.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726579" y="3035116"/>
            <a:ext cx="309975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Setting Up Column Grids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8698537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01EEE6">
                        <a:lumMod val="60000"/>
                        <a:lumOff val="40000"/>
                      </a:srgbClr>
                    </a:gs>
                    <a:gs pos="61062">
                      <a:srgbClr val="01EEE6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3">
                      <a:alpha val="20000"/>
                    </a:schemeClr>
                  </a:outerShdw>
                </a:effectLst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8636089" y="3668995"/>
            <a:ext cx="2742017" cy="1400384"/>
          </a:xfrm>
          <a:prstGeom prst="rect">
            <a:avLst/>
          </a:prstGeom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Similar to column grids, row grids help vertically align elements. Define the row height and gutter to create a consistent vertical rhythm.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8637676" y="3035116"/>
            <a:ext cx="274042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Using Row Grids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709305" y="4082344"/>
            <a:ext cx="5677105" cy="480131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tru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UI Components and Elements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09613" y="2830923"/>
            <a:ext cx="1210588" cy="120032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true" sz="7200" baseline="0" u="none">
                <a:solidFill>
                  <a:schemeClr val="accent1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Basic UI Elements</a:t>
            </a:r>
          </a:p>
        </p:txBody>
      </p:sp>
      <p:sp>
        <p:nvSpPr>
          <p:cNvPr name="AutoShape 3" id="3"/>
          <p:cNvSpPr/>
          <p:nvPr/>
        </p:nvSpPr>
        <p:spPr>
          <a:xfrm>
            <a:off x="4253306" y="0"/>
            <a:ext cx="3672688" cy="6858000"/>
          </a:xfrm>
          <a:prstGeom prst="rect">
            <a:avLst/>
          </a:prstGeom>
          <a:solidFill>
            <a:srgbClr val="FFFFFF">
              <a:alpha val="5000"/>
              <a:lumMod val="50000"/>
              <a:lumOff val="50000"/>
            </a:srgb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815483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01EEE6">
                        <a:lumMod val="60000"/>
                        <a:lumOff val="40000"/>
                      </a:srgbClr>
                    </a:gs>
                    <a:gs pos="61062">
                      <a:srgbClr val="01EEE6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3">
                      <a:alpha val="20000"/>
                    </a:schemeClr>
                  </a:outerShdw>
                </a:effectLst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813895" y="3668995"/>
            <a:ext cx="3234731" cy="815340"/>
          </a:xfrm>
          <a:prstGeom prst="rect">
            <a:avLst/>
          </a:prstGeom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Add and format text using the Text tool (T). Adjust font size, weight, color, and line height in the right sidebar.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815483" y="3035116"/>
            <a:ext cx="3233144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Text Elements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4724992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BE02DB">
                        <a:lumMod val="60000"/>
                        <a:lumOff val="40000"/>
                      </a:srgbClr>
                    </a:gs>
                    <a:gs pos="60000">
                      <a:srgbClr val="BE02DB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2">
                      <a:alpha val="20000"/>
                    </a:schemeClr>
                  </a:outerShdw>
                </a:effectLst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4724992" y="3668995"/>
            <a:ext cx="3101550" cy="1177290"/>
          </a:xfrm>
          <a:prstGeom prst="rect">
            <a:avLst/>
          </a:prstGeom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Create rectangles, ellipses, and lines using the Shape tools. Modify their size, color, and borders to fit your design.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726579" y="3035116"/>
            <a:ext cx="309975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Shape Elements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8698537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01EEE6">
                        <a:lumMod val="60000"/>
                        <a:lumOff val="40000"/>
                      </a:srgbClr>
                    </a:gs>
                    <a:gs pos="61062">
                      <a:srgbClr val="01EEE6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3">
                      <a:alpha val="20000"/>
                    </a:schemeClr>
                  </a:outerShdw>
                </a:effectLst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8636089" y="3668995"/>
            <a:ext cx="2742017" cy="1177290"/>
          </a:xfrm>
          <a:prstGeom prst="rect">
            <a:avLst/>
          </a:prstGeom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Import images into your design by dragging and dropping them onto the canvas. Resize and reposition images within frames.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8637676" y="3035116"/>
            <a:ext cx="274042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Image Elements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UI Components</a:t>
            </a:r>
          </a:p>
        </p:txBody>
      </p:sp>
      <p:cxnSp>
        <p:nvCxnSpPr>
          <p:cNvPr name="Connector 3" id="3"/>
          <p:cNvCxnSpPr/>
          <p:nvPr/>
        </p:nvCxnSpPr>
        <p:spPr>
          <a:xfrm flipV="true">
            <a:off x="3717131" y="1459186"/>
            <a:ext cx="0" cy="3850514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name="Connector 4" id="4"/>
          <p:cNvCxnSpPr/>
          <p:nvPr/>
        </p:nvCxnSpPr>
        <p:spPr>
          <a:xfrm flipV="true">
            <a:off x="3717131" y="1459186"/>
            <a:ext cx="0" cy="798286"/>
          </a:xfrm>
          <a:prstGeom prst="line">
            <a:avLst/>
          </a:prstGeom>
          <a:ln w="85725">
            <a:solidFill>
              <a:schemeClr val="accent1"/>
            </a:solidFill>
          </a:ln>
        </p:spPr>
      </p:cxnSp>
      <p:sp>
        <p:nvSpPr>
          <p:cNvPr name="TextBox 5" id="5"/>
          <p:cNvSpPr txBox="true"/>
          <p:nvPr/>
        </p:nvSpPr>
        <p:spPr>
          <a:xfrm>
            <a:off x="2877999" y="1297723"/>
            <a:ext cx="697627" cy="646331"/>
          </a:xfrm>
          <a:prstGeom prst="rect">
            <a:avLst/>
          </a:prstGeom>
          <a:noFill/>
        </p:spPr>
        <p:txBody>
          <a:bodyPr anchor="b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chemeClr val="accent1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669925" y="2033147"/>
            <a:ext cx="2905701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Buttons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669925" y="2588173"/>
            <a:ext cx="2905701" cy="166968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ln/>
                <a:solidFill>
                  <a:srgbClr val="FFFFFF">
                    <a:alpha val="70000"/>
                  </a:srgbClr>
                </a:solidFill>
                <a:effectLst/>
                <a:latin typeface="微软雅黑"/>
                <a:ea typeface="微软雅黑"/>
              </a:rPr>
              <a:t>Design buttons with different states (default, hover, pressed) using shapes and text. Group these elements to create a reusable button component.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flipV="true">
            <a:off x="7136990" y="2131182"/>
            <a:ext cx="0" cy="3178518"/>
          </a:xfrm>
          <a:prstGeom prst="line">
            <a:avLst/>
          </a:prstGeom>
          <a:ln w="9525">
            <a:solidFill>
              <a:schemeClr val="accent2"/>
            </a:solidFill>
          </a:ln>
        </p:spPr>
      </p:cxnSp>
      <p:cxnSp>
        <p:nvCxnSpPr>
          <p:cNvPr name="Connector 9" id="9"/>
          <p:cNvCxnSpPr/>
          <p:nvPr/>
        </p:nvCxnSpPr>
        <p:spPr>
          <a:xfrm flipV="true">
            <a:off x="7136990" y="2131182"/>
            <a:ext cx="0" cy="798286"/>
          </a:xfrm>
          <a:prstGeom prst="line">
            <a:avLst/>
          </a:prstGeom>
          <a:ln w="85725">
            <a:solidFill>
              <a:schemeClr val="accent2"/>
            </a:solidFill>
          </a:ln>
        </p:spPr>
      </p:cxnSp>
      <p:sp>
        <p:nvSpPr>
          <p:cNvPr name="TextBox 10" id="10"/>
          <p:cNvSpPr txBox="true"/>
          <p:nvPr/>
        </p:nvSpPr>
        <p:spPr>
          <a:xfrm>
            <a:off x="6302696" y="1971986"/>
            <a:ext cx="697627" cy="646331"/>
          </a:xfrm>
          <a:prstGeom prst="rect">
            <a:avLst/>
          </a:prstGeom>
          <a:noFill/>
        </p:spPr>
        <p:txBody>
          <a:bodyPr anchor="b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chemeClr val="accent2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4318000" y="2677478"/>
            <a:ext cx="2682323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chemeClr val="accent2"/>
                </a:solidFill>
                <a:latin typeface="微软雅黑"/>
                <a:ea typeface="微软雅黑"/>
              </a:rPr>
              <a:t>Input Fields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318000" y="3232504"/>
            <a:ext cx="2682323" cy="166821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ln/>
                <a:solidFill>
                  <a:srgbClr val="FFFFFF">
                    <a:alpha val="70000"/>
                  </a:srgbClr>
                </a:solidFill>
                <a:effectLst/>
                <a:latin typeface="微软雅黑"/>
                <a:ea typeface="微软雅黑"/>
              </a:rPr>
              <a:t>Create input fields using rectangles and text elements. Add states for focused and error conditions to provide user feedback.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flipV="true">
            <a:off x="11455631" y="1444183"/>
            <a:ext cx="0" cy="3865517"/>
          </a:xfrm>
          <a:prstGeom prst="line">
            <a:avLst/>
          </a:prstGeom>
          <a:ln w="9525">
            <a:solidFill>
              <a:srgbClr val="01B3AD"/>
            </a:solidFill>
          </a:ln>
        </p:spPr>
      </p:cxnSp>
      <p:cxnSp>
        <p:nvCxnSpPr>
          <p:cNvPr name="Connector 14" id="14"/>
          <p:cNvCxnSpPr/>
          <p:nvPr/>
        </p:nvCxnSpPr>
        <p:spPr>
          <a:xfrm flipV="true">
            <a:off x="11455631" y="1444183"/>
            <a:ext cx="0" cy="798286"/>
          </a:xfrm>
          <a:prstGeom prst="line">
            <a:avLst/>
          </a:prstGeom>
          <a:ln w="85725">
            <a:solidFill>
              <a:srgbClr val="01B3AD"/>
            </a:solidFill>
          </a:ln>
        </p:spPr>
      </p:cxnSp>
      <p:sp>
        <p:nvSpPr>
          <p:cNvPr name="TextBox 15" id="15"/>
          <p:cNvSpPr txBox="true"/>
          <p:nvPr/>
        </p:nvSpPr>
        <p:spPr>
          <a:xfrm>
            <a:off x="10616498" y="1308581"/>
            <a:ext cx="697627" cy="646331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>
            <a:off x="8515350" y="2052162"/>
            <a:ext cx="2798775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Navigation Bars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8515350" y="2607188"/>
            <a:ext cx="2798775" cy="166821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ln/>
                <a:solidFill>
                  <a:srgbClr val="FFFFFF">
                    <a:alpha val="70000"/>
                  </a:srgbClr>
                </a:solidFill>
                <a:effectLst/>
                <a:latin typeface="微软雅黑"/>
                <a:ea typeface="微软雅黑"/>
              </a:rPr>
              <a:t>Design navigation bars with links, icons, and a logo. Use auto layout to ensure the navigation bar adapts to different screen sizes.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>
            <a:off x="0" y="5309700"/>
            <a:ext cx="12192000" cy="157699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Creating Reusable Components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2" y="1410916"/>
            <a:ext cx="3377074" cy="427979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90000" lIns="91440" bIns="9000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Turning Elements into Components</a:t>
            </a:r>
          </a:p>
        </p:txBody>
      </p:sp>
      <p:sp>
        <p:nvSpPr>
          <p:cNvPr name="AutoShape 4" id="4"/>
          <p:cNvSpPr/>
          <p:nvPr/>
        </p:nvSpPr>
        <p:spPr>
          <a:xfrm>
            <a:off x="660403" y="1895292"/>
            <a:ext cx="3377074" cy="179546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>
                    <a:alpha val="60000"/>
                  </a:srgbClr>
                </a:solidFill>
                <a:effectLst/>
                <a:latin typeface="微软雅黑"/>
                <a:ea typeface="微软雅黑"/>
              </a:rPr>
              <a:t>Select elements and click "Create Component" to turn them into a reusable component. Changes to the master component will propagate to all instances.</a:t>
            </a:r>
          </a:p>
        </p:txBody>
      </p:sp>
      <p:cxnSp>
        <p:nvCxnSpPr>
          <p:cNvPr name="Connector 5" id="5"/>
          <p:cNvCxnSpPr/>
          <p:nvPr/>
        </p:nvCxnSpPr>
        <p:spPr>
          <a:xfrm flipH="true">
            <a:off x="4297856" y="1611118"/>
            <a:ext cx="1426023" cy="0"/>
          </a:xfrm>
          <a:prstGeom prst="line">
            <a:avLst/>
          </a:prstGeom>
          <a:ln w="19050">
            <a:gradFill>
              <a:gsLst>
                <a:gs pos="0">
                  <a:srgbClr val="F0F0F0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tailEnd type="oval"/>
          </a:ln>
        </p:spPr>
      </p:cxnSp>
      <p:sp>
        <p:nvSpPr>
          <p:cNvPr name="AutoShape 6" id="6"/>
          <p:cNvSpPr/>
          <p:nvPr/>
        </p:nvSpPr>
        <p:spPr>
          <a:xfrm>
            <a:off x="8391725" y="2834786"/>
            <a:ext cx="3127177" cy="427979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90000" lIns="91440" bIns="9000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Managing Component Libraries</a:t>
            </a:r>
          </a:p>
        </p:txBody>
      </p:sp>
      <p:sp>
        <p:nvSpPr>
          <p:cNvPr name="AutoShape 7" id="7"/>
          <p:cNvSpPr/>
          <p:nvPr/>
        </p:nvSpPr>
        <p:spPr>
          <a:xfrm>
            <a:off x="8391726" y="3319162"/>
            <a:ext cx="3127177" cy="179399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>
                    <a:alpha val="60000"/>
                  </a:srgbClr>
                </a:solidFill>
                <a:effectLst/>
                <a:latin typeface="微软雅黑"/>
                <a:ea typeface="微软雅黑"/>
              </a:rPr>
              <a:t>Organize components into libraries for consistent design across projects. Share libraries with your team to ensure everyone uses the same components.</a:t>
            </a:r>
          </a:p>
        </p:txBody>
      </p:sp>
      <p:cxnSp>
        <p:nvCxnSpPr>
          <p:cNvPr name="Connector 8" id="8"/>
          <p:cNvCxnSpPr/>
          <p:nvPr/>
        </p:nvCxnSpPr>
        <p:spPr>
          <a:xfrm>
            <a:off x="6790680" y="3016781"/>
            <a:ext cx="1426023" cy="0"/>
          </a:xfrm>
          <a:prstGeom prst="line">
            <a:avLst/>
          </a:prstGeom>
          <a:ln w="19050">
            <a:gradFill>
              <a:gsLst>
                <a:gs pos="0">
                  <a:srgbClr val="F0F0F0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tailEnd type="oval"/>
          </a:ln>
        </p:spPr>
      </p:cxnSp>
      <p:sp>
        <p:nvSpPr>
          <p:cNvPr name="Freeform 9" id="9"/>
          <p:cNvSpPr/>
          <p:nvPr/>
        </p:nvSpPr>
        <p:spPr>
          <a:xfrm>
            <a:off x="4297856" y="4820852"/>
            <a:ext cx="3917577" cy="1300634"/>
          </a:xfrm>
          <a:custGeom>
            <a:avLst/>
            <a:gdLst/>
            <a:ahLst/>
            <a:cxnLst/>
            <a:rect r="r" b="b" t="t" l="l"/>
            <a:pathLst>
              <a:path w="3917577" h="1300634" stroke="true" fill="norm" extrusionOk="true">
                <a:moveTo>
                  <a:pt x="828926" y="0"/>
                </a:moveTo>
                <a:lnTo>
                  <a:pt x="3105726" y="0"/>
                </a:lnTo>
                <a:lnTo>
                  <a:pt x="3178250" y="138207"/>
                </a:lnTo>
                <a:cubicBezTo>
                  <a:pt x="3376266" y="503376"/>
                  <a:pt x="3619401" y="892116"/>
                  <a:pt x="3917577" y="1300634"/>
                </a:cubicBezTo>
                <a:lnTo>
                  <a:pt x="34675" y="1300634"/>
                </a:lnTo>
                <a:lnTo>
                  <a:pt x="0" y="1300634"/>
                </a:lnTo>
                <a:lnTo>
                  <a:pt x="0" y="1299061"/>
                </a:lnTo>
                <a:lnTo>
                  <a:pt x="3876" y="1294271"/>
                </a:lnTo>
                <a:cubicBezTo>
                  <a:pt x="47982" y="1239414"/>
                  <a:pt x="368888" y="833652"/>
                  <a:pt x="709309" y="224137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cap="flat">
            <a:noFill/>
            <a:prstDash val="solid"/>
            <a:miter lim="800000"/>
          </a:ln>
        </p:spPr>
        <p:txBody>
          <a:bodyPr vert="horz" anchor="ctr" wrap="square" tIns="45720" lIns="91440" bIns="45720" rIns="91440">
            <a:noAutofit/>
          </a:bodyPr>
          <a:p>
            <a:pPr algn="l" marL="0"/>
          </a:p>
        </p:txBody>
      </p:sp>
      <p:grpSp>
        <p:nvGrpSpPr>
          <p:cNvPr name="Group 10" id="10"/>
          <p:cNvGrpSpPr/>
          <p:nvPr/>
        </p:nvGrpSpPr>
        <p:grpSpPr>
          <a:xfrm>
            <a:off x="5511707" y="915602"/>
            <a:ext cx="1480320" cy="1301750"/>
            <a:chOff x="5586768" y="1651000"/>
            <a:chExt cx="1480320" cy="1301750"/>
          </a:xfrm>
        </p:grpSpPr>
        <p:sp>
          <p:nvSpPr>
            <p:cNvPr name="Freeform 11" id="11"/>
            <p:cNvSpPr/>
            <p:nvPr/>
          </p:nvSpPr>
          <p:spPr>
            <a:xfrm>
              <a:off x="5586768" y="1651000"/>
              <a:ext cx="1480320" cy="1301750"/>
            </a:xfrm>
            <a:custGeom>
              <a:avLst/>
              <a:gdLst/>
              <a:ahLst/>
              <a:cxnLst/>
              <a:rect r="r" b="b" t="t" l="l"/>
              <a:pathLst>
                <a:path w="1480320" h="1301750" stroke="true" fill="norm" extrusionOk="true">
                  <a:moveTo>
                    <a:pt x="742815" y="0"/>
                  </a:moveTo>
                  <a:lnTo>
                    <a:pt x="744874" y="0"/>
                  </a:lnTo>
                  <a:lnTo>
                    <a:pt x="1480320" y="786943"/>
                  </a:lnTo>
                  <a:lnTo>
                    <a:pt x="1141531" y="786943"/>
                  </a:lnTo>
                  <a:cubicBezTo>
                    <a:pt x="1141531" y="786943"/>
                    <a:pt x="1107729" y="963157"/>
                    <a:pt x="1119490" y="1285240"/>
                  </a:cubicBezTo>
                  <a:lnTo>
                    <a:pt x="1120522" y="1301750"/>
                  </a:lnTo>
                  <a:lnTo>
                    <a:pt x="359642" y="1301750"/>
                  </a:lnTo>
                  <a:lnTo>
                    <a:pt x="361413" y="1227292"/>
                  </a:lnTo>
                  <a:cubicBezTo>
                    <a:pt x="361217" y="1090654"/>
                    <a:pt x="353988" y="953480"/>
                    <a:pt x="338790" y="816305"/>
                  </a:cubicBezTo>
                  <a:lnTo>
                    <a:pt x="0" y="816305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AutoShape 12" id="12"/>
            <p:cNvSpPr/>
            <p:nvPr/>
          </p:nvSpPr>
          <p:spPr>
            <a:xfrm>
              <a:off x="6053847" y="2196708"/>
              <a:ext cx="556986" cy="551090"/>
            </a:xfrm>
            <a:prstGeom prst="rect">
              <a:avLst/>
            </a:prstGeom>
            <a:noFill/>
            <a:ln>
              <a:noFill/>
            </a:ln>
          </p:spPr>
          <p:txBody>
            <a:bodyPr vert="horz" anchor="b" wrap="square" tIns="90000" lIns="91440" bIns="90000" rIns="91440">
              <a:spAutoFit/>
            </a:bodyPr>
            <a:p>
              <a:pPr algn="ctr" marL="0"/>
              <a:r>
                <a:rPr lang="en-US" b="true" i="false" sz="2400" baseline="0" u="none">
                  <a:solidFill>
                    <a:schemeClr val="lt1"/>
                  </a:solidFill>
                  <a:latin typeface="Arial"/>
                  <a:ea typeface="Arial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>
            <a:off x="5658229" y="2217352"/>
            <a:ext cx="1208676" cy="1301750"/>
            <a:chOff x="5733290" y="2952750"/>
            <a:chExt cx="1208676" cy="1301750"/>
          </a:xfrm>
        </p:grpSpPr>
        <p:sp>
          <p:nvSpPr>
            <p:cNvPr name="Freeform 14" id="14"/>
            <p:cNvSpPr/>
            <p:nvPr/>
          </p:nvSpPr>
          <p:spPr>
            <a:xfrm>
              <a:off x="5733290" y="2952750"/>
              <a:ext cx="1208676" cy="1301750"/>
            </a:xfrm>
            <a:custGeom>
              <a:avLst/>
              <a:gdLst/>
              <a:ahLst/>
              <a:cxnLst/>
              <a:rect r="r" b="b" t="t" l="l"/>
              <a:pathLst>
                <a:path w="1208676" h="1301750" stroke="true" fill="norm" extrusionOk="true">
                  <a:moveTo>
                    <a:pt x="213120" y="0"/>
                  </a:moveTo>
                  <a:lnTo>
                    <a:pt x="974000" y="0"/>
                  </a:lnTo>
                  <a:lnTo>
                    <a:pt x="986126" y="194001"/>
                  </a:lnTo>
                  <a:cubicBezTo>
                    <a:pt x="1006021" y="421530"/>
                    <a:pt x="1048033" y="699388"/>
                    <a:pt x="1129304" y="1021019"/>
                  </a:cubicBezTo>
                  <a:lnTo>
                    <a:pt x="1208676" y="1301750"/>
                  </a:lnTo>
                  <a:lnTo>
                    <a:pt x="0" y="1301750"/>
                  </a:lnTo>
                  <a:lnTo>
                    <a:pt x="52059" y="1126354"/>
                  </a:lnTo>
                  <a:cubicBezTo>
                    <a:pt x="135984" y="804851"/>
                    <a:pt x="193519" y="469953"/>
                    <a:pt x="210027" y="13003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AutoShape 15" id="15"/>
            <p:cNvSpPr/>
            <p:nvPr/>
          </p:nvSpPr>
          <p:spPr>
            <a:xfrm>
              <a:off x="6053847" y="3439476"/>
              <a:ext cx="556986" cy="551090"/>
            </a:xfrm>
            <a:prstGeom prst="rect">
              <a:avLst/>
            </a:prstGeom>
            <a:noFill/>
            <a:ln>
              <a:noFill/>
            </a:ln>
          </p:spPr>
          <p:txBody>
            <a:bodyPr vert="horz" anchor="b" wrap="square" tIns="90000" lIns="91440" bIns="90000" rIns="91440">
              <a:spAutoFit/>
            </a:bodyPr>
            <a:p>
              <a:pPr algn="ctr" marL="0"/>
              <a:r>
                <a:rPr lang="en-US" b="true" i="false" sz="2400" baseline="0" u="none">
                  <a:solidFill>
                    <a:schemeClr val="lt1"/>
                  </a:solidFill>
                  <a:latin typeface="Arial"/>
                  <a:ea typeface="Arial"/>
                </a:rPr>
                <a:t>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>
            <a:off x="5126782" y="3519102"/>
            <a:ext cx="2276800" cy="1301750"/>
            <a:chOff x="5201843" y="4254500"/>
            <a:chExt cx="2276800" cy="1301750"/>
          </a:xfrm>
        </p:grpSpPr>
        <p:sp>
          <p:nvSpPr>
            <p:cNvPr name="Freeform 17" id="17"/>
            <p:cNvSpPr/>
            <p:nvPr/>
          </p:nvSpPr>
          <p:spPr>
            <a:xfrm>
              <a:off x="5201843" y="4254500"/>
              <a:ext cx="2276800" cy="1301750"/>
            </a:xfrm>
            <a:custGeom>
              <a:avLst/>
              <a:gdLst/>
              <a:ahLst/>
              <a:cxnLst/>
              <a:rect r="r" b="b" t="t" l="l"/>
              <a:pathLst>
                <a:path w="2276800" h="1301750" stroke="true" fill="norm" extrusionOk="true">
                  <a:moveTo>
                    <a:pt x="531447" y="0"/>
                  </a:moveTo>
                  <a:lnTo>
                    <a:pt x="1740123" y="0"/>
                  </a:lnTo>
                  <a:lnTo>
                    <a:pt x="1755743" y="55248"/>
                  </a:lnTo>
                  <a:cubicBezTo>
                    <a:pt x="1865092" y="405333"/>
                    <a:pt x="2019413" y="797007"/>
                    <a:pt x="2235850" y="1223714"/>
                  </a:cubicBezTo>
                  <a:lnTo>
                    <a:pt x="2276800" y="1301750"/>
                  </a:lnTo>
                  <a:lnTo>
                    <a:pt x="0" y="1301750"/>
                  </a:lnTo>
                  <a:lnTo>
                    <a:pt x="37949" y="1230641"/>
                  </a:lnTo>
                  <a:cubicBezTo>
                    <a:pt x="195027" y="921999"/>
                    <a:pt x="347831" y="574776"/>
                    <a:pt x="471065" y="203441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AutoShape 18" id="18"/>
            <p:cNvSpPr/>
            <p:nvPr/>
          </p:nvSpPr>
          <p:spPr>
            <a:xfrm>
              <a:off x="6053847" y="4682243"/>
              <a:ext cx="556986" cy="551090"/>
            </a:xfrm>
            <a:prstGeom prst="rect">
              <a:avLst/>
            </a:prstGeom>
            <a:noFill/>
            <a:ln>
              <a:noFill/>
            </a:ln>
          </p:spPr>
          <p:txBody>
            <a:bodyPr vert="horz" anchor="b" wrap="square" tIns="90000" lIns="91440" bIns="90000" rIns="91440">
              <a:spAutoFit/>
            </a:bodyPr>
            <a:p>
              <a:pPr algn="ctr" marL="0"/>
              <a:r>
                <a:rPr lang="en-US" b="true" i="false" sz="2400" baseline="0" u="none">
                  <a:solidFill>
                    <a:schemeClr val="lt1"/>
                  </a:solidFill>
                  <a:latin typeface="Arial"/>
                  <a:ea typeface="Arial"/>
                </a:rPr>
                <a:t>03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660402" y="3909367"/>
            <a:ext cx="3377074" cy="427979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90000" lIns="91440" bIns="9000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Using Instances of Components</a:t>
            </a:r>
          </a:p>
        </p:txBody>
      </p:sp>
      <p:sp>
        <p:nvSpPr>
          <p:cNvPr name="AutoShape 20" id="20"/>
          <p:cNvSpPr/>
          <p:nvPr/>
        </p:nvSpPr>
        <p:spPr>
          <a:xfrm>
            <a:off x="660403" y="4393743"/>
            <a:ext cx="3377074" cy="179546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>
                    <a:alpha val="60000"/>
                  </a:srgbClr>
                </a:solidFill>
                <a:effectLst/>
                <a:latin typeface="微软雅黑"/>
                <a:ea typeface="微软雅黑"/>
              </a:rPr>
              <a:t>Drag and drop instances of components into your design. Override properties like text and color while maintaining the component's structure.</a:t>
            </a:r>
          </a:p>
        </p:txBody>
      </p:sp>
      <p:cxnSp>
        <p:nvCxnSpPr>
          <p:cNvPr name="Connector 21" id="21"/>
          <p:cNvCxnSpPr/>
          <p:nvPr/>
        </p:nvCxnSpPr>
        <p:spPr>
          <a:xfrm flipH="true">
            <a:off x="4297856" y="4109569"/>
            <a:ext cx="1121223" cy="0"/>
          </a:xfrm>
          <a:prstGeom prst="line">
            <a:avLst/>
          </a:prstGeom>
          <a:ln w="19050">
            <a:gradFill>
              <a:gsLst>
                <a:gs pos="0">
                  <a:srgbClr val="F0F0F0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tailEnd type="oval"/>
          </a:ln>
        </p:spPr>
      </p:cxn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709305" y="4082344"/>
            <a:ext cx="5677105" cy="480131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tru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Colors, Typography, and UI Styling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09613" y="2830923"/>
            <a:ext cx="1210588" cy="120032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true" sz="7200" baseline="0" u="none">
                <a:solidFill>
                  <a:schemeClr val="accent1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2435925" y="1130300"/>
            <a:ext cx="2883252" cy="1605948"/>
          </a:xfrm>
          <a:custGeom>
            <a:avLst/>
            <a:gdLst/>
            <a:ahLst/>
            <a:cxnLst/>
            <a:rect r="r" b="b" t="t" l="l"/>
            <a:pathLst>
              <a:path w="2883252" h="1605948" stroke="true" fill="norm" extrusionOk="true">
                <a:moveTo>
                  <a:pt x="838550" y="0"/>
                </a:moveTo>
                <a:lnTo>
                  <a:pt x="2883252" y="0"/>
                </a:lnTo>
                <a:lnTo>
                  <a:pt x="2883252" y="2"/>
                </a:lnTo>
                <a:lnTo>
                  <a:pt x="2058597" y="1605948"/>
                </a:lnTo>
                <a:lnTo>
                  <a:pt x="0" y="1605948"/>
                </a:lnTo>
                <a:close/>
              </a:path>
            </a:pathLst>
          </a:custGeom>
          <a:blipFill>
            <a:blip r:embed="rId2">
              <a:duotone>
                <a:prstClr val="black"/>
                <a:schemeClr val="accent1">
                  <a:satMod val="400000"/>
                  <a:tint val="45000"/>
                </a:schemeClr>
              </a:duotone>
            </a:blip>
            <a:stretch>
              <a:fillRect t="0" l="0" b="0" r="0"/>
            </a:stretch>
          </a:blipFill>
          <a:ln>
            <a:noFill/>
          </a:ln>
          <a:effectLst/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>
            <a:off x="1559276" y="2833196"/>
            <a:ext cx="2897147" cy="1605947"/>
          </a:xfrm>
          <a:custGeom>
            <a:avLst/>
            <a:gdLst/>
            <a:ahLst/>
            <a:cxnLst/>
            <a:rect r="r" b="b" t="t" l="l"/>
            <a:pathLst>
              <a:path w="2897147" h="1605947" stroke="true" fill="norm" extrusionOk="true">
                <a:moveTo>
                  <a:pt x="838550" y="0"/>
                </a:moveTo>
                <a:lnTo>
                  <a:pt x="2897147" y="0"/>
                </a:lnTo>
                <a:lnTo>
                  <a:pt x="2072492" y="1605947"/>
                </a:lnTo>
                <a:lnTo>
                  <a:pt x="0" y="1605947"/>
                </a:lnTo>
                <a:close/>
              </a:path>
            </a:pathLst>
          </a:custGeom>
          <a:blipFill>
            <a:blip r:embed="rId3">
              <a:duotone>
                <a:prstClr val="black"/>
                <a:schemeClr val="accent2">
                  <a:satMod val="400000"/>
                  <a:tint val="45000"/>
                </a:schemeClr>
              </a:duotone>
            </a:blip>
            <a:stretch>
              <a:fillRect t="0" l="0" b="0" r="0"/>
            </a:stretch>
          </a:blipFill>
          <a:ln>
            <a:noFill/>
          </a:ln>
          <a:effectLst/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>
            <a:off x="695325" y="4546122"/>
            <a:ext cx="2911043" cy="1605948"/>
          </a:xfrm>
          <a:custGeom>
            <a:avLst/>
            <a:gdLst/>
            <a:ahLst/>
            <a:cxnLst/>
            <a:rect r="r" b="b" t="t" l="l"/>
            <a:pathLst>
              <a:path w="2911043" h="1605948" stroke="true" fill="norm" extrusionOk="true">
                <a:moveTo>
                  <a:pt x="838551" y="0"/>
                </a:moveTo>
                <a:lnTo>
                  <a:pt x="2911043" y="0"/>
                </a:lnTo>
                <a:lnTo>
                  <a:pt x="2086387" y="1605948"/>
                </a:lnTo>
                <a:lnTo>
                  <a:pt x="0" y="1605948"/>
                </a:lnTo>
                <a:close/>
              </a:path>
            </a:pathLst>
          </a:custGeom>
          <a:blipFill>
            <a:blip r:embed="rId4">
              <a:duotone>
                <a:prstClr val="black"/>
                <a:schemeClr val="accent1">
                  <a:satMod val="400000"/>
                  <a:tint val="45000"/>
                </a:schemeClr>
              </a:duotone>
            </a:blip>
            <a:stretch>
              <a:fillRect t="0" l="0" b="0" r="0"/>
            </a:stretch>
          </a:blipFill>
          <a:ln>
            <a:noFill/>
          </a:ln>
          <a:effectLst/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5497594" y="1470894"/>
            <a:ext cx="6192890" cy="41529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en-US" b="false" i="false" sz="1400" baseline="0" u="none">
                <a:solidFill>
                  <a:srgbClr val="FFFFFF"/>
                </a:solidFill>
                <a:latin typeface="+mn-ea"/>
                <a:ea typeface="+mn-ea"/>
              </a:rPr>
              <a:t>Use color styles to define and reuse colors throughout your design. Variables allow you to change colors globally, ensuring design consistency.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5497594" y="1230141"/>
            <a:ext cx="6001768" cy="338554"/>
          </a:xfrm>
          <a:prstGeom prst="rect">
            <a:avLst/>
          </a:prstGeom>
          <a:noFill/>
          <a:ln cap="rnd">
            <a:noFill/>
            <a:prstDash val="solid"/>
          </a:ln>
          <a:effectLst>
            <a:outerShdw algn="ctr" blurRad="254000" dist="127000" rotWithShape="false">
              <a:schemeClr val="accent2">
                <a:alpha val="32000"/>
              </a:schemeClr>
            </a:outerShdw>
          </a:effectLst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Color Styles and Variables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4799155" y="2918025"/>
            <a:ext cx="6001770" cy="338554"/>
          </a:xfrm>
          <a:prstGeom prst="rect">
            <a:avLst/>
          </a:prstGeom>
          <a:noFill/>
          <a:ln cap="rnd">
            <a:noFill/>
            <a:prstDash val="solid"/>
          </a:ln>
          <a:effectLst>
            <a:outerShdw algn="ctr" blurRad="254000" dist="127000" rotWithShape="false">
              <a:schemeClr val="accent4">
                <a:alpha val="32000"/>
              </a:schemeClr>
            </a:outerShdw>
          </a:effectLst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4"/>
                </a:solidFill>
                <a:latin typeface="微软雅黑"/>
                <a:ea typeface="微软雅黑"/>
              </a:rPr>
              <a:t>Applying Colors in Figma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4799155" y="3178442"/>
            <a:ext cx="6192890" cy="41529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en-US" b="false" i="false" sz="1400" baseline="0" u="none">
                <a:solidFill>
                  <a:srgbClr val="FFFFFF"/>
                </a:solidFill>
                <a:latin typeface="+mn-ea"/>
                <a:ea typeface="+mn-ea"/>
              </a:rPr>
              <a:t>Apply colors to elements using the Fill property in the right sidebar. Save colors as styles for easy reuse across your design.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3921804" y="4600355"/>
            <a:ext cx="6001768" cy="338554"/>
          </a:xfrm>
          <a:prstGeom prst="rect">
            <a:avLst/>
          </a:prstGeom>
          <a:noFill/>
          <a:ln cap="rnd">
            <a:noFill/>
            <a:prstDash val="solid"/>
          </a:ln>
          <a:effectLst>
            <a:outerShdw algn="ctr" blurRad="254000" dist="127000" rotWithShape="false">
              <a:schemeClr val="accent6">
                <a:alpha val="32000"/>
              </a:schemeClr>
            </a:outerShdw>
          </a:effectLst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Choosing a Color Palette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3921804" y="4911415"/>
            <a:ext cx="6192890" cy="73914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en-US" b="false" i="false" sz="1400" baseline="0" u="none">
                <a:solidFill>
                  <a:srgbClr val="FFFFFF"/>
                </a:solidFill>
                <a:latin typeface="+mn-ea"/>
                <a:ea typeface="+mn-ea"/>
              </a:rPr>
              <a:t>Select a color palette that aligns with your brand and design goals. Consider using tools like Adobe Color or Coolors to generate harmonious color schemes.</a:t>
            </a:r>
          </a:p>
        </p:txBody>
      </p:sp>
      <p:sp>
        <p:nvSpPr>
          <p:cNvPr name="AutoShape 11" id="11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Color Palettes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01631" y="0"/>
            <a:ext cx="4464093" cy="6858000"/>
          </a:xfrm>
          <a:prstGeom prst="parallelogram">
            <a:avLst>
              <a:gd name="adj" fmla="val 48735"/>
            </a:avLst>
          </a:prstGeom>
          <a:solidFill>
            <a:srgbClr val="FFFFFF">
              <a:alpha val="10000"/>
              <a:lumMod val="50000"/>
              <a:lumOff val="50000"/>
            </a:srgbClr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5477267" y="1705057"/>
            <a:ext cx="5854551" cy="70057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rgbClr val="FFFFFF"/>
                </a:solidFill>
                <a:latin typeface="+mn-ea"/>
                <a:ea typeface="+mn-ea"/>
              </a:rPr>
              <a:t>Apply text styles to ensure consistent typography across your design. Update styles globally to make changes quickly and easily.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4135901" y="1632348"/>
            <a:ext cx="870751" cy="830997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GB" b="true" i="false" sz="4800" baseline="0" u="none">
                <a:solidFill>
                  <a:schemeClr val="accent5"/>
                </a:solidFill>
                <a:effectLst/>
                <a:latin typeface="Arial"/>
                <a:ea typeface="Arial"/>
              </a:rPr>
              <a:t>01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flipH="true">
            <a:off x="5112688" y="1455938"/>
            <a:ext cx="269163" cy="843461"/>
          </a:xfrm>
          <a:prstGeom prst="line">
            <a:avLst/>
          </a:prstGeom>
          <a:ln w="9525">
            <a:solidFill>
              <a:schemeClr val="accent5"/>
            </a:solidFill>
          </a:ln>
        </p:spPr>
      </p:cxnSp>
      <p:sp>
        <p:nvSpPr>
          <p:cNvPr name="TextBox 6" id="6"/>
          <p:cNvSpPr txBox="true"/>
          <p:nvPr/>
        </p:nvSpPr>
        <p:spPr>
          <a:xfrm>
            <a:off x="5082818" y="3327218"/>
            <a:ext cx="5854551" cy="70057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rgbClr val="FFFFFF"/>
                </a:solidFill>
                <a:latin typeface="+mn-ea"/>
                <a:ea typeface="+mn-ea"/>
              </a:rPr>
              <a:t>Create text styles for headings, body text, and captions. Define the font family, size, weight, and line height for each style.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3658882" y="3262008"/>
            <a:ext cx="870752" cy="830997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GB" b="true" i="false" sz="4800" baseline="0" u="none">
                <a:solidFill>
                  <a:schemeClr val="accent2"/>
                </a:solidFill>
                <a:effectLst/>
                <a:latin typeface="Arial"/>
                <a:ea typeface="Arial"/>
              </a:rPr>
              <a:t>02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flipH="true">
            <a:off x="4619708" y="3078099"/>
            <a:ext cx="260441" cy="865748"/>
          </a:xfrm>
          <a:prstGeom prst="line">
            <a:avLst/>
          </a:prstGeom>
          <a:ln w="9525">
            <a:solidFill>
              <a:schemeClr val="accent2"/>
            </a:solidFill>
          </a:ln>
        </p:spPr>
      </p:cxnSp>
      <p:sp>
        <p:nvSpPr>
          <p:cNvPr name="TextBox 9" id="9"/>
          <p:cNvSpPr txBox="true"/>
          <p:nvPr/>
        </p:nvSpPr>
        <p:spPr>
          <a:xfrm>
            <a:off x="4696320" y="4877817"/>
            <a:ext cx="5854551" cy="70057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rgbClr val="FFFFFF"/>
                </a:solidFill>
                <a:latin typeface="+mn-ea"/>
                <a:ea typeface="+mn-ea"/>
              </a:rPr>
              <a:t>Choose fonts that are readable and match the tone of your design. Google Fonts offers a wide variety of free fonts to choose from.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3084468" y="4771302"/>
            <a:ext cx="870752" cy="830997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GB" b="true" i="false" sz="4800" baseline="0" u="none">
                <a:solidFill>
                  <a:schemeClr val="accent1"/>
                </a:solidFill>
                <a:effectLst/>
                <a:latin typeface="Arial"/>
                <a:ea typeface="Arial"/>
              </a:rPr>
              <a:t>03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flipH="true">
            <a:off x="4094367" y="4558601"/>
            <a:ext cx="306573" cy="901094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name="AutoShape 12" id="12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Typography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5477267" y="1426880"/>
            <a:ext cx="5854550" cy="338554"/>
          </a:xfrm>
          <a:prstGeom prst="rect">
            <a:avLst/>
          </a:prstGeom>
          <a:noFill/>
          <a:ln cap="rnd">
            <a:noFill/>
            <a:prstDash val="solid"/>
          </a:ln>
          <a:effectLst>
            <a:outerShdw algn="ctr" blurRad="254000" dist="127000" rotWithShape="false">
              <a:schemeClr val="accent2">
                <a:alpha val="32000"/>
              </a:schemeClr>
            </a:outerShdw>
          </a:effectLst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Using Text Styles Consistently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5063029" y="3006827"/>
            <a:ext cx="5874340" cy="338554"/>
          </a:xfrm>
          <a:prstGeom prst="rect">
            <a:avLst/>
          </a:prstGeom>
          <a:noFill/>
          <a:ln cap="rnd">
            <a:noFill/>
            <a:prstDash val="solid"/>
          </a:ln>
          <a:effectLst>
            <a:outerShdw algn="ctr" blurRad="254000" dist="127000" rotWithShape="false">
              <a:schemeClr val="accent4">
                <a:alpha val="32000"/>
              </a:schemeClr>
            </a:outerShdw>
          </a:effectLst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4"/>
                </a:solidFill>
                <a:latin typeface="微软雅黑"/>
                <a:ea typeface="微软雅黑"/>
              </a:rPr>
              <a:t>Defining Typography Styles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4679235" y="4558601"/>
            <a:ext cx="5871635" cy="338554"/>
          </a:xfrm>
          <a:prstGeom prst="rect">
            <a:avLst/>
          </a:prstGeom>
          <a:noFill/>
          <a:ln cap="rnd">
            <a:noFill/>
            <a:prstDash val="solid"/>
          </a:ln>
          <a:effectLst>
            <a:outerShdw algn="ctr" blurRad="254000" dist="127000" rotWithShape="false">
              <a:schemeClr val="accent6">
                <a:alpha val="32000"/>
              </a:schemeClr>
            </a:outerShdw>
          </a:effectLst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Selecting Fonts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UI Styling Techniques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2144701" y="2523518"/>
            <a:ext cx="979128" cy="979948"/>
            <a:chOff x="3287425" y="3613920"/>
            <a:chExt cx="648499" cy="649042"/>
          </a:xfrm>
        </p:grpSpPr>
        <p:sp>
          <p:nvSpPr>
            <p:cNvPr name="AutoShape 4" id="4"/>
            <p:cNvSpPr/>
            <p:nvPr/>
          </p:nvSpPr>
          <p:spPr>
            <a:xfrm>
              <a:off x="3287425" y="3613920"/>
              <a:ext cx="648499" cy="64904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5" id="5"/>
            <p:cNvSpPr/>
            <p:nvPr/>
          </p:nvSpPr>
          <p:spPr>
            <a:xfrm>
              <a:off x="3362252" y="3688810"/>
              <a:ext cx="498845" cy="49926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anchor="ctr" wrap="none" tIns="45720" lIns="91440" bIns="45720" rIns="91440">
              <a:normAutofit/>
            </a:bodyPr>
            <a:p>
              <a:pPr algn="ctr" marL="0"/>
              <a:r>
                <a:rPr lang="en-US" b="true" i="false" sz="2135" baseline="0" u="none">
                  <a:solidFill>
                    <a:srgbClr val="000000"/>
                  </a:solidFill>
                  <a:latin typeface="Arial"/>
                  <a:ea typeface="Arial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>
            <a:off x="2745046" y="2006869"/>
            <a:ext cx="1142741" cy="1629867"/>
            <a:chOff x="3732213" y="2166938"/>
            <a:chExt cx="1679575" cy="2395538"/>
          </a:xfrm>
        </p:grpSpPr>
        <p:sp>
          <p:nvSpPr>
            <p:cNvPr name="Freeform 7" id="7"/>
            <p:cNvSpPr/>
            <p:nvPr/>
          </p:nvSpPr>
          <p:spPr>
            <a:xfrm>
              <a:off x="4572000" y="2317750"/>
              <a:ext cx="839788" cy="2244725"/>
            </a:xfrm>
            <a:custGeom>
              <a:avLst/>
              <a:gdLst/>
              <a:ahLst/>
              <a:cxnLst/>
              <a:rect r="r" b="b" t="t" l="l"/>
              <a:pathLst>
                <a:path w="529" h="1414" stroke="true" fill="norm" extrusionOk="true">
                  <a:moveTo>
                    <a:pt x="529" y="0"/>
                  </a:moveTo>
                  <a:lnTo>
                    <a:pt x="0" y="1414"/>
                  </a:lnTo>
                  <a:lnTo>
                    <a:pt x="0" y="90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3732213" y="2306638"/>
              <a:ext cx="839788" cy="2255838"/>
            </a:xfrm>
            <a:custGeom>
              <a:avLst/>
              <a:gdLst/>
              <a:ahLst/>
              <a:cxnLst/>
              <a:rect r="r" b="b" t="t" l="l"/>
              <a:pathLst>
                <a:path w="529" h="1421" stroke="true" fill="norm" extrusionOk="true">
                  <a:moveTo>
                    <a:pt x="529" y="1421"/>
                  </a:moveTo>
                  <a:lnTo>
                    <a:pt x="0" y="0"/>
                  </a:lnTo>
                  <a:lnTo>
                    <a:pt x="529" y="97"/>
                  </a:lnTo>
                  <a:lnTo>
                    <a:pt x="529" y="142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9" id="9"/>
            <p:cNvSpPr/>
            <p:nvPr/>
          </p:nvSpPr>
          <p:spPr>
            <a:xfrm>
              <a:off x="3732213" y="2166938"/>
              <a:ext cx="1679575" cy="293688"/>
            </a:xfrm>
            <a:custGeom>
              <a:avLst/>
              <a:gdLst/>
              <a:ahLst/>
              <a:cxnLst/>
              <a:rect r="r" b="b" t="t" l="l"/>
              <a:pathLst>
                <a:path w="1058" h="185" stroke="true" fill="norm" extrusionOk="true">
                  <a:moveTo>
                    <a:pt x="1058" y="95"/>
                  </a:moveTo>
                  <a:lnTo>
                    <a:pt x="529" y="185"/>
                  </a:lnTo>
                  <a:lnTo>
                    <a:pt x="0" y="88"/>
                  </a:lnTo>
                  <a:lnTo>
                    <a:pt x="529" y="0"/>
                  </a:lnTo>
                  <a:lnTo>
                    <a:pt x="1058" y="95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grpSp>
        <p:nvGrpSpPr>
          <p:cNvPr name="Group 10" id="10"/>
          <p:cNvGrpSpPr/>
          <p:nvPr/>
        </p:nvGrpSpPr>
        <p:grpSpPr>
          <a:xfrm>
            <a:off x="2566832" y="1498469"/>
            <a:ext cx="1497014" cy="708544"/>
            <a:chOff x="1576436" y="2533941"/>
            <a:chExt cx="1338219" cy="633386"/>
          </a:xfrm>
        </p:grpSpPr>
        <p:grpSp>
          <p:nvGrpSpPr>
            <p:cNvPr name="Group 11" id="11"/>
            <p:cNvGrpSpPr/>
            <p:nvPr/>
          </p:nvGrpSpPr>
          <p:grpSpPr>
            <a:xfrm>
              <a:off x="1576436" y="2533941"/>
              <a:ext cx="1338219" cy="546488"/>
              <a:chOff x="1576436" y="2571750"/>
              <a:chExt cx="1338219" cy="546488"/>
            </a:xfrm>
          </p:grpSpPr>
          <p:sp>
            <p:nvSpPr>
              <p:cNvPr name="Freeform 12" id="12"/>
              <p:cNvSpPr/>
              <p:nvPr/>
            </p:nvSpPr>
            <p:spPr>
              <a:xfrm>
                <a:off x="1576436" y="2571750"/>
                <a:ext cx="670075" cy="539730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59" stroke="true" fill="norm" extrusionOk="true">
                    <a:moveTo>
                      <a:pt x="165" y="559"/>
                    </a:moveTo>
                    <a:lnTo>
                      <a:pt x="0" y="119"/>
                    </a:lnTo>
                    <a:lnTo>
                      <a:pt x="694" y="0"/>
                    </a:lnTo>
                    <a:lnTo>
                      <a:pt x="694" y="471"/>
                    </a:lnTo>
                    <a:lnTo>
                      <a:pt x="165" y="559"/>
                    </a:lnTo>
                    <a:close/>
                  </a:path>
                </a:pathLst>
              </a:custGeom>
              <a:solidFill>
                <a:schemeClr val="accent3">
                  <a:alpha val="66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13" id="13"/>
              <p:cNvSpPr/>
              <p:nvPr/>
            </p:nvSpPr>
            <p:spPr>
              <a:xfrm>
                <a:off x="2246511" y="2571750"/>
                <a:ext cx="668144" cy="546488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66" stroke="true" fill="norm" extrusionOk="true">
                    <a:moveTo>
                      <a:pt x="692" y="126"/>
                    </a:moveTo>
                    <a:lnTo>
                      <a:pt x="529" y="566"/>
                    </a:lnTo>
                    <a:lnTo>
                      <a:pt x="0" y="471"/>
                    </a:lnTo>
                    <a:lnTo>
                      <a:pt x="0" y="0"/>
                    </a:lnTo>
                    <a:lnTo>
                      <a:pt x="692" y="126"/>
                    </a:lnTo>
                    <a:close/>
                  </a:path>
                </a:pathLst>
              </a:custGeom>
              <a:solidFill>
                <a:schemeClr val="accent3">
                  <a:alpha val="49000"/>
                  <a:lumMod val="75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>
              <a:off x="1576436" y="2648839"/>
              <a:ext cx="1338219" cy="518488"/>
              <a:chOff x="1576436" y="2686648"/>
              <a:chExt cx="1338219" cy="518488"/>
            </a:xfrm>
          </p:grpSpPr>
          <p:sp>
            <p:nvSpPr>
              <p:cNvPr name="Freeform 15" id="15"/>
              <p:cNvSpPr/>
              <p:nvPr/>
            </p:nvSpPr>
            <p:spPr>
              <a:xfrm>
                <a:off x="2246511" y="2693406"/>
                <a:ext cx="668144" cy="511729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30" stroke="true" fill="norm" extrusionOk="true">
                    <a:moveTo>
                      <a:pt x="692" y="0"/>
                    </a:moveTo>
                    <a:lnTo>
                      <a:pt x="529" y="440"/>
                    </a:lnTo>
                    <a:lnTo>
                      <a:pt x="0" y="530"/>
                    </a:lnTo>
                    <a:lnTo>
                      <a:pt x="0" y="109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accent3">
                  <a:alpha val="57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16" id="16"/>
              <p:cNvSpPr/>
              <p:nvPr/>
            </p:nvSpPr>
            <p:spPr>
              <a:xfrm>
                <a:off x="1576436" y="2686648"/>
                <a:ext cx="670075" cy="518488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37" stroke="true" fill="norm" extrusionOk="true">
                    <a:moveTo>
                      <a:pt x="694" y="537"/>
                    </a:moveTo>
                    <a:lnTo>
                      <a:pt x="165" y="440"/>
                    </a:lnTo>
                    <a:lnTo>
                      <a:pt x="0" y="0"/>
                    </a:lnTo>
                    <a:lnTo>
                      <a:pt x="694" y="116"/>
                    </a:lnTo>
                    <a:lnTo>
                      <a:pt x="694" y="537"/>
                    </a:lnTo>
                    <a:close/>
                  </a:path>
                </a:pathLst>
              </a:custGeom>
              <a:solidFill>
                <a:schemeClr val="accent3">
                  <a:alpha val="31000"/>
                  <a:lumMod val="75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>
            <a:off x="7786692" y="2523518"/>
            <a:ext cx="979128" cy="979948"/>
            <a:chOff x="5249342" y="1406453"/>
            <a:chExt cx="648499" cy="649042"/>
          </a:xfrm>
        </p:grpSpPr>
        <p:sp>
          <p:nvSpPr>
            <p:cNvPr name="AutoShape 18" id="18"/>
            <p:cNvSpPr/>
            <p:nvPr/>
          </p:nvSpPr>
          <p:spPr>
            <a:xfrm>
              <a:off x="5249342" y="1406453"/>
              <a:ext cx="648499" cy="649042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9" id="19"/>
            <p:cNvSpPr/>
            <p:nvPr/>
          </p:nvSpPr>
          <p:spPr>
            <a:xfrm>
              <a:off x="5324169" y="1481343"/>
              <a:ext cx="498845" cy="49926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anchor="ctr" wrap="none" tIns="45720" lIns="91440" bIns="45720" rIns="91440">
              <a:normAutofit/>
            </a:bodyPr>
            <a:p>
              <a:pPr algn="ctr" marL="0"/>
              <a:r>
                <a:rPr lang="en-US" b="true" i="false" sz="2135" baseline="0" u="none">
                  <a:solidFill>
                    <a:srgbClr val="000000"/>
                  </a:solidFill>
                  <a:latin typeface="Arial"/>
                  <a:ea typeface="Arial"/>
                </a:rPr>
                <a:t>03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>
            <a:off x="8401173" y="2006869"/>
            <a:ext cx="1142741" cy="1629867"/>
            <a:chOff x="3732213" y="2166938"/>
            <a:chExt cx="1679575" cy="2395538"/>
          </a:xfrm>
        </p:grpSpPr>
        <p:sp>
          <p:nvSpPr>
            <p:cNvPr name="Freeform 21" id="21"/>
            <p:cNvSpPr/>
            <p:nvPr/>
          </p:nvSpPr>
          <p:spPr>
            <a:xfrm>
              <a:off x="4572000" y="2317750"/>
              <a:ext cx="839788" cy="2244725"/>
            </a:xfrm>
            <a:custGeom>
              <a:avLst/>
              <a:gdLst/>
              <a:ahLst/>
              <a:cxnLst/>
              <a:rect r="r" b="b" t="t" l="l"/>
              <a:pathLst>
                <a:path w="529" h="1414" stroke="true" fill="norm" extrusionOk="true">
                  <a:moveTo>
                    <a:pt x="529" y="0"/>
                  </a:moveTo>
                  <a:lnTo>
                    <a:pt x="0" y="1414"/>
                  </a:lnTo>
                  <a:lnTo>
                    <a:pt x="0" y="90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2" id="22"/>
            <p:cNvSpPr/>
            <p:nvPr/>
          </p:nvSpPr>
          <p:spPr>
            <a:xfrm>
              <a:off x="3732213" y="2306638"/>
              <a:ext cx="839788" cy="2255838"/>
            </a:xfrm>
            <a:custGeom>
              <a:avLst/>
              <a:gdLst/>
              <a:ahLst/>
              <a:cxnLst/>
              <a:rect r="r" b="b" t="t" l="l"/>
              <a:pathLst>
                <a:path w="529" h="1421" stroke="true" fill="norm" extrusionOk="true">
                  <a:moveTo>
                    <a:pt x="529" y="1421"/>
                  </a:moveTo>
                  <a:lnTo>
                    <a:pt x="0" y="0"/>
                  </a:lnTo>
                  <a:lnTo>
                    <a:pt x="529" y="97"/>
                  </a:lnTo>
                  <a:lnTo>
                    <a:pt x="529" y="142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3" id="23"/>
            <p:cNvSpPr/>
            <p:nvPr/>
          </p:nvSpPr>
          <p:spPr>
            <a:xfrm>
              <a:off x="3732213" y="2166938"/>
              <a:ext cx="1679575" cy="293688"/>
            </a:xfrm>
            <a:custGeom>
              <a:avLst/>
              <a:gdLst/>
              <a:ahLst/>
              <a:cxnLst/>
              <a:rect r="r" b="b" t="t" l="l"/>
              <a:pathLst>
                <a:path w="1058" h="185" stroke="true" fill="norm" extrusionOk="true">
                  <a:moveTo>
                    <a:pt x="1058" y="95"/>
                  </a:moveTo>
                  <a:lnTo>
                    <a:pt x="529" y="185"/>
                  </a:lnTo>
                  <a:lnTo>
                    <a:pt x="0" y="88"/>
                  </a:lnTo>
                  <a:lnTo>
                    <a:pt x="529" y="0"/>
                  </a:lnTo>
                  <a:lnTo>
                    <a:pt x="1058" y="95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grpSp>
        <p:nvGrpSpPr>
          <p:cNvPr name="Group 24" id="24"/>
          <p:cNvGrpSpPr/>
          <p:nvPr/>
        </p:nvGrpSpPr>
        <p:grpSpPr>
          <a:xfrm>
            <a:off x="8222959" y="1498144"/>
            <a:ext cx="1497014" cy="708544"/>
            <a:chOff x="6533739" y="2526030"/>
            <a:chExt cx="1338219" cy="633386"/>
          </a:xfrm>
        </p:grpSpPr>
        <p:grpSp>
          <p:nvGrpSpPr>
            <p:cNvPr name="Group 25" id="25"/>
            <p:cNvGrpSpPr/>
            <p:nvPr/>
          </p:nvGrpSpPr>
          <p:grpSpPr>
            <a:xfrm>
              <a:off x="6533739" y="2526030"/>
              <a:ext cx="1338219" cy="546488"/>
              <a:chOff x="3470275" y="1419225"/>
              <a:chExt cx="2200275" cy="898525"/>
            </a:xfrm>
          </p:grpSpPr>
          <p:sp>
            <p:nvSpPr>
              <p:cNvPr name="Freeform 26" id="26"/>
              <p:cNvSpPr/>
              <p:nvPr/>
            </p:nvSpPr>
            <p:spPr>
              <a:xfrm>
                <a:off x="3470275" y="1419225"/>
                <a:ext cx="1101725" cy="887413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59" stroke="true" fill="norm" extrusionOk="true">
                    <a:moveTo>
                      <a:pt x="165" y="559"/>
                    </a:moveTo>
                    <a:lnTo>
                      <a:pt x="0" y="119"/>
                    </a:lnTo>
                    <a:lnTo>
                      <a:pt x="694" y="0"/>
                    </a:lnTo>
                    <a:lnTo>
                      <a:pt x="694" y="471"/>
                    </a:lnTo>
                    <a:lnTo>
                      <a:pt x="165" y="559"/>
                    </a:lnTo>
                    <a:close/>
                  </a:path>
                </a:pathLst>
              </a:custGeom>
              <a:solidFill>
                <a:schemeClr val="accent4">
                  <a:alpha val="66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27" id="27"/>
              <p:cNvSpPr/>
              <p:nvPr/>
            </p:nvSpPr>
            <p:spPr>
              <a:xfrm>
                <a:off x="4572000" y="1419225"/>
                <a:ext cx="1098550" cy="898525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66" stroke="true" fill="norm" extrusionOk="true">
                    <a:moveTo>
                      <a:pt x="692" y="126"/>
                    </a:moveTo>
                    <a:lnTo>
                      <a:pt x="529" y="566"/>
                    </a:lnTo>
                    <a:lnTo>
                      <a:pt x="0" y="471"/>
                    </a:lnTo>
                    <a:lnTo>
                      <a:pt x="0" y="0"/>
                    </a:lnTo>
                    <a:lnTo>
                      <a:pt x="692" y="126"/>
                    </a:lnTo>
                    <a:close/>
                  </a:path>
                </a:pathLst>
              </a:custGeom>
              <a:solidFill>
                <a:schemeClr val="accent4">
                  <a:alpha val="49000"/>
                  <a:lumMod val="75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>
              <a:off x="6533739" y="2640928"/>
              <a:ext cx="1338219" cy="518488"/>
              <a:chOff x="3470275" y="1608138"/>
              <a:chExt cx="2200275" cy="852488"/>
            </a:xfrm>
          </p:grpSpPr>
          <p:sp>
            <p:nvSpPr>
              <p:cNvPr name="Freeform 29" id="29"/>
              <p:cNvSpPr/>
              <p:nvPr/>
            </p:nvSpPr>
            <p:spPr>
              <a:xfrm>
                <a:off x="4572000" y="1619250"/>
                <a:ext cx="1098550" cy="841375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30" stroke="true" fill="norm" extrusionOk="true">
                    <a:moveTo>
                      <a:pt x="692" y="0"/>
                    </a:moveTo>
                    <a:lnTo>
                      <a:pt x="529" y="440"/>
                    </a:lnTo>
                    <a:lnTo>
                      <a:pt x="0" y="530"/>
                    </a:lnTo>
                    <a:lnTo>
                      <a:pt x="0" y="109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accent4">
                  <a:alpha val="57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30" id="30"/>
              <p:cNvSpPr/>
              <p:nvPr/>
            </p:nvSpPr>
            <p:spPr>
              <a:xfrm>
                <a:off x="3470275" y="1608138"/>
                <a:ext cx="1101725" cy="852488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37" stroke="true" fill="norm" extrusionOk="true">
                    <a:moveTo>
                      <a:pt x="694" y="537"/>
                    </a:moveTo>
                    <a:lnTo>
                      <a:pt x="165" y="440"/>
                    </a:lnTo>
                    <a:lnTo>
                      <a:pt x="0" y="0"/>
                    </a:lnTo>
                    <a:lnTo>
                      <a:pt x="694" y="116"/>
                    </a:lnTo>
                    <a:lnTo>
                      <a:pt x="694" y="537"/>
                    </a:lnTo>
                    <a:close/>
                  </a:path>
                </a:pathLst>
              </a:custGeom>
              <a:solidFill>
                <a:schemeClr val="accent4">
                  <a:alpha val="31000"/>
                  <a:lumMod val="75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>
            <a:off x="4938724" y="2523518"/>
            <a:ext cx="979128" cy="979948"/>
            <a:chOff x="3287425" y="1417883"/>
            <a:chExt cx="648499" cy="649042"/>
          </a:xfrm>
        </p:grpSpPr>
        <p:sp>
          <p:nvSpPr>
            <p:cNvPr name="AutoShape 32" id="32"/>
            <p:cNvSpPr/>
            <p:nvPr/>
          </p:nvSpPr>
          <p:spPr>
            <a:xfrm>
              <a:off x="3287425" y="1417883"/>
              <a:ext cx="648499" cy="64904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33" id="33"/>
            <p:cNvSpPr/>
            <p:nvPr/>
          </p:nvSpPr>
          <p:spPr>
            <a:xfrm>
              <a:off x="3362252" y="1492773"/>
              <a:ext cx="498845" cy="49926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anchor="ctr" wrap="none" tIns="45720" lIns="91440" bIns="45720" rIns="91440">
              <a:normAutofit/>
            </a:bodyPr>
            <a:p>
              <a:pPr algn="ctr" marL="0"/>
              <a:r>
                <a:rPr lang="en-US" b="true" i="false" sz="2135" baseline="0" u="none">
                  <a:solidFill>
                    <a:srgbClr val="000000"/>
                  </a:solidFill>
                  <a:latin typeface="Arial"/>
                  <a:ea typeface="Arial"/>
                </a:rPr>
                <a:t>02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>
            <a:off x="5537587" y="2008176"/>
            <a:ext cx="1149359" cy="1639303"/>
            <a:chOff x="3732213" y="2166938"/>
            <a:chExt cx="1679575" cy="2395538"/>
          </a:xfrm>
        </p:grpSpPr>
        <p:sp>
          <p:nvSpPr>
            <p:cNvPr name="Freeform 35" id="35"/>
            <p:cNvSpPr/>
            <p:nvPr/>
          </p:nvSpPr>
          <p:spPr>
            <a:xfrm>
              <a:off x="4572000" y="2317750"/>
              <a:ext cx="839788" cy="2244725"/>
            </a:xfrm>
            <a:custGeom>
              <a:avLst/>
              <a:gdLst/>
              <a:ahLst/>
              <a:cxnLst/>
              <a:rect r="r" b="b" t="t" l="l"/>
              <a:pathLst>
                <a:path w="529" h="1414" stroke="true" fill="norm" extrusionOk="true">
                  <a:moveTo>
                    <a:pt x="529" y="0"/>
                  </a:moveTo>
                  <a:lnTo>
                    <a:pt x="0" y="1414"/>
                  </a:lnTo>
                  <a:lnTo>
                    <a:pt x="0" y="90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6" id="36"/>
            <p:cNvSpPr/>
            <p:nvPr/>
          </p:nvSpPr>
          <p:spPr>
            <a:xfrm>
              <a:off x="3732213" y="2306638"/>
              <a:ext cx="839788" cy="2255838"/>
            </a:xfrm>
            <a:custGeom>
              <a:avLst/>
              <a:gdLst/>
              <a:ahLst/>
              <a:cxnLst/>
              <a:rect r="r" b="b" t="t" l="l"/>
              <a:pathLst>
                <a:path w="529" h="1421" stroke="true" fill="norm" extrusionOk="true">
                  <a:moveTo>
                    <a:pt x="529" y="1421"/>
                  </a:moveTo>
                  <a:lnTo>
                    <a:pt x="0" y="0"/>
                  </a:lnTo>
                  <a:lnTo>
                    <a:pt x="529" y="97"/>
                  </a:lnTo>
                  <a:lnTo>
                    <a:pt x="529" y="14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7" id="37"/>
            <p:cNvSpPr/>
            <p:nvPr/>
          </p:nvSpPr>
          <p:spPr>
            <a:xfrm>
              <a:off x="3732213" y="2166938"/>
              <a:ext cx="1679575" cy="293688"/>
            </a:xfrm>
            <a:custGeom>
              <a:avLst/>
              <a:gdLst/>
              <a:ahLst/>
              <a:cxnLst/>
              <a:rect r="r" b="b" t="t" l="l"/>
              <a:pathLst>
                <a:path w="1058" h="185" stroke="true" fill="norm" extrusionOk="true">
                  <a:moveTo>
                    <a:pt x="1058" y="95"/>
                  </a:moveTo>
                  <a:lnTo>
                    <a:pt x="529" y="185"/>
                  </a:lnTo>
                  <a:lnTo>
                    <a:pt x="0" y="88"/>
                  </a:lnTo>
                  <a:lnTo>
                    <a:pt x="529" y="0"/>
                  </a:lnTo>
                  <a:lnTo>
                    <a:pt x="1058" y="9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grpSp>
        <p:nvGrpSpPr>
          <p:cNvPr name="Group 38" id="38"/>
          <p:cNvGrpSpPr/>
          <p:nvPr/>
        </p:nvGrpSpPr>
        <p:grpSpPr>
          <a:xfrm>
            <a:off x="5358340" y="1496505"/>
            <a:ext cx="1505682" cy="712647"/>
            <a:chOff x="3615309" y="1918566"/>
            <a:chExt cx="1913383" cy="905614"/>
          </a:xfrm>
        </p:grpSpPr>
        <p:grpSp>
          <p:nvGrpSpPr>
            <p:cNvPr name="Group 39" id="39"/>
            <p:cNvGrpSpPr/>
            <p:nvPr/>
          </p:nvGrpSpPr>
          <p:grpSpPr>
            <a:xfrm>
              <a:off x="3615309" y="1918566"/>
              <a:ext cx="1913383" cy="781367"/>
              <a:chOff x="3470275" y="1419225"/>
              <a:chExt cx="2200275" cy="898525"/>
            </a:xfrm>
          </p:grpSpPr>
          <p:sp>
            <p:nvSpPr>
              <p:cNvPr name="Freeform 40" id="40"/>
              <p:cNvSpPr/>
              <p:nvPr/>
            </p:nvSpPr>
            <p:spPr>
              <a:xfrm>
                <a:off x="3470275" y="1419225"/>
                <a:ext cx="1101725" cy="887413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59" stroke="true" fill="norm" extrusionOk="true">
                    <a:moveTo>
                      <a:pt x="165" y="559"/>
                    </a:moveTo>
                    <a:lnTo>
                      <a:pt x="0" y="119"/>
                    </a:lnTo>
                    <a:lnTo>
                      <a:pt x="694" y="0"/>
                    </a:lnTo>
                    <a:lnTo>
                      <a:pt x="694" y="471"/>
                    </a:lnTo>
                    <a:lnTo>
                      <a:pt x="165" y="559"/>
                    </a:lnTo>
                    <a:close/>
                  </a:path>
                </a:pathLst>
              </a:custGeom>
              <a:solidFill>
                <a:schemeClr val="accent1">
                  <a:alpha val="66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41" id="41"/>
              <p:cNvSpPr/>
              <p:nvPr/>
            </p:nvSpPr>
            <p:spPr>
              <a:xfrm>
                <a:off x="4572000" y="1419225"/>
                <a:ext cx="1098550" cy="898525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66" stroke="true" fill="norm" extrusionOk="true">
                    <a:moveTo>
                      <a:pt x="692" y="126"/>
                    </a:moveTo>
                    <a:lnTo>
                      <a:pt x="529" y="566"/>
                    </a:lnTo>
                    <a:lnTo>
                      <a:pt x="0" y="471"/>
                    </a:lnTo>
                    <a:lnTo>
                      <a:pt x="0" y="0"/>
                    </a:lnTo>
                    <a:lnTo>
                      <a:pt x="692" y="126"/>
                    </a:lnTo>
                    <a:close/>
                  </a:path>
                </a:pathLst>
              </a:custGeom>
              <a:solidFill>
                <a:schemeClr val="accent1">
                  <a:alpha val="49000"/>
                  <a:lumMod val="75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>
              <a:off x="3615309" y="2082847"/>
              <a:ext cx="1913383" cy="741333"/>
              <a:chOff x="3470275" y="1608138"/>
              <a:chExt cx="2200275" cy="852488"/>
            </a:xfrm>
          </p:grpSpPr>
          <p:sp>
            <p:nvSpPr>
              <p:cNvPr name="Freeform 43" id="43"/>
              <p:cNvSpPr/>
              <p:nvPr/>
            </p:nvSpPr>
            <p:spPr>
              <a:xfrm>
                <a:off x="4572000" y="1619250"/>
                <a:ext cx="1098550" cy="841375"/>
              </a:xfrm>
              <a:custGeom>
                <a:avLst/>
                <a:gdLst/>
                <a:ahLst/>
                <a:cxnLst/>
                <a:rect r="r" b="b" t="t" l="l"/>
                <a:pathLst>
                  <a:path w="692" h="530" stroke="true" fill="norm" extrusionOk="true">
                    <a:moveTo>
                      <a:pt x="692" y="0"/>
                    </a:moveTo>
                    <a:lnTo>
                      <a:pt x="529" y="440"/>
                    </a:lnTo>
                    <a:lnTo>
                      <a:pt x="0" y="530"/>
                    </a:lnTo>
                    <a:lnTo>
                      <a:pt x="0" y="109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accent1">
                  <a:alpha val="57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44" id="44"/>
              <p:cNvSpPr/>
              <p:nvPr/>
            </p:nvSpPr>
            <p:spPr>
              <a:xfrm>
                <a:off x="3470275" y="1608138"/>
                <a:ext cx="1101725" cy="852488"/>
              </a:xfrm>
              <a:custGeom>
                <a:avLst/>
                <a:gdLst/>
                <a:ahLst/>
                <a:cxnLst/>
                <a:rect r="r" b="b" t="t" l="l"/>
                <a:pathLst>
                  <a:path w="694" h="537" stroke="true" fill="norm" extrusionOk="true">
                    <a:moveTo>
                      <a:pt x="694" y="537"/>
                    </a:moveTo>
                    <a:lnTo>
                      <a:pt x="165" y="440"/>
                    </a:lnTo>
                    <a:lnTo>
                      <a:pt x="0" y="0"/>
                    </a:lnTo>
                    <a:lnTo>
                      <a:pt x="694" y="116"/>
                    </a:lnTo>
                    <a:lnTo>
                      <a:pt x="694" y="537"/>
                    </a:lnTo>
                    <a:close/>
                  </a:path>
                </a:pathLst>
              </a:custGeom>
              <a:solidFill>
                <a:schemeClr val="accent1">
                  <a:alpha val="31000"/>
                  <a:lumMod val="75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</p:grpSp>
      <p:sp>
        <p:nvSpPr>
          <p:cNvPr name="TextBox 45" id="45"/>
          <p:cNvSpPr txBox="true"/>
          <p:nvPr/>
        </p:nvSpPr>
        <p:spPr>
          <a:xfrm>
            <a:off x="5084136" y="4261219"/>
            <a:ext cx="2054090" cy="1809750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Use gradients and overlays to add visual interest to your design. Experiment with different blending modes to achieve unique effects.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>
            <a:off x="5084136" y="3840811"/>
            <a:ext cx="2054090" cy="279400"/>
          </a:xfrm>
          <a:prstGeom prst="rect">
            <a:avLst/>
          </a:prstGeom>
        </p:spPr>
        <p:txBody>
          <a:bodyPr vert="horz" anchor="t" wrap="square" tIns="0" lIns="0" bIns="0" rIns="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Gradients and Overlays</a:t>
            </a:r>
          </a:p>
        </p:txBody>
      </p:sp>
      <p:sp>
        <p:nvSpPr>
          <p:cNvPr name="TextBox 47" id="47"/>
          <p:cNvSpPr txBox="true"/>
          <p:nvPr/>
        </p:nvSpPr>
        <p:spPr>
          <a:xfrm>
            <a:off x="2289373" y="4261219"/>
            <a:ext cx="2054090" cy="1809750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Add depth to your design using shadows and effects. Use subtle shadows to lift elements off the page and create visual hierarchy.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>
            <a:off x="2289373" y="3840811"/>
            <a:ext cx="2054090" cy="279400"/>
          </a:xfrm>
          <a:prstGeom prst="rect">
            <a:avLst/>
          </a:prstGeom>
        </p:spPr>
        <p:txBody>
          <a:bodyPr vert="horz" anchor="t" wrap="square" tIns="0" lIns="0" bIns="0" rIns="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chemeClr val="accent3"/>
                </a:solidFill>
                <a:latin typeface="微软雅黑"/>
                <a:ea typeface="微软雅黑"/>
              </a:rPr>
              <a:t>Shadows and Effects</a:t>
            </a:r>
          </a:p>
        </p:txBody>
      </p:sp>
      <p:sp>
        <p:nvSpPr>
          <p:cNvPr name="TextBox 49" id="49"/>
          <p:cNvSpPr txBox="true"/>
          <p:nvPr/>
        </p:nvSpPr>
        <p:spPr>
          <a:xfrm>
            <a:off x="7945501" y="4261217"/>
            <a:ext cx="2054090" cy="1809750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Customize borders and strokes to define the edges of elements. Use rounded corners to soften the appearance of your design.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>
            <a:off x="7945501" y="3840809"/>
            <a:ext cx="2054090" cy="279400"/>
          </a:xfrm>
          <a:prstGeom prst="rect">
            <a:avLst/>
          </a:prstGeom>
        </p:spPr>
        <p:txBody>
          <a:bodyPr vert="horz" anchor="t" wrap="square" tIns="0" lIns="0" bIns="0" rIns="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chemeClr val="accent4"/>
                </a:solidFill>
                <a:latin typeface="微软雅黑"/>
                <a:ea typeface="微软雅黑"/>
              </a:rPr>
              <a:t>Borders and Strokes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709305" y="4082344"/>
            <a:ext cx="5677105" cy="480131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tru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Wireframing and Prototyping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09613" y="2830923"/>
            <a:ext cx="1210588" cy="120032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true" sz="7200" baseline="0" u="none">
                <a:solidFill>
                  <a:schemeClr val="accent1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Introduction to Wireframing</a:t>
            </a:r>
          </a:p>
        </p:txBody>
      </p:sp>
      <p:sp>
        <p:nvSpPr>
          <p:cNvPr name="AutoShape 3" id="3"/>
          <p:cNvSpPr/>
          <p:nvPr/>
        </p:nvSpPr>
        <p:spPr>
          <a:xfrm>
            <a:off x="7951" y="2813516"/>
            <a:ext cx="12192000" cy="2678822"/>
          </a:xfrm>
          <a:prstGeom prst="roundRect">
            <a:avLst>
              <a:gd name="adj" fmla="val 0"/>
            </a:avLst>
          </a:prstGeom>
          <a:solidFill>
            <a:schemeClr val="accent2">
              <a:alpha val="30000"/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723611" y="3062314"/>
            <a:ext cx="3131708" cy="464331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What is Wireframing?</a:t>
            </a:r>
          </a:p>
        </p:txBody>
      </p:sp>
      <p:sp>
        <p:nvSpPr>
          <p:cNvPr name="AutoShape 5" id="5"/>
          <p:cNvSpPr/>
          <p:nvPr/>
        </p:nvSpPr>
        <p:spPr>
          <a:xfrm>
            <a:off x="723611" y="3694704"/>
            <a:ext cx="3131708" cy="166380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Wireframing is the process of creating a low-fidelity representation of your design. It focuses on the layout and functionality of your UI, without visual details.</a:t>
            </a:r>
          </a:p>
        </p:txBody>
      </p:sp>
      <p:sp>
        <p:nvSpPr>
          <p:cNvPr name="AutoShape 6" id="6"/>
          <p:cNvSpPr/>
          <p:nvPr/>
        </p:nvSpPr>
        <p:spPr>
          <a:xfrm>
            <a:off x="723611" y="1662382"/>
            <a:ext cx="3131708" cy="772107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108000" lIns="108000" bIns="108000" rIns="108000">
            <a:spAutoFit/>
          </a:bodyPr>
          <a:p>
            <a:pPr algn="l" marL="0"/>
            <a:r>
              <a:rPr lang="en-US" b="true" i="false" sz="3600" baseline="0" u="none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7" id="7"/>
          <p:cNvSpPr/>
          <p:nvPr/>
        </p:nvSpPr>
        <p:spPr>
          <a:xfrm>
            <a:off x="843889" y="2775025"/>
            <a:ext cx="552185" cy="45719"/>
          </a:xfrm>
          <a:prstGeom prst="rect">
            <a:avLst/>
          </a:prstGeom>
          <a:solidFill>
            <a:schemeClr val="accent1"/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4460117" y="3062314"/>
            <a:ext cx="3271525" cy="464331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Benefits of Wireframing</a:t>
            </a:r>
          </a:p>
        </p:txBody>
      </p:sp>
      <p:sp>
        <p:nvSpPr>
          <p:cNvPr name="AutoShape 9" id="9"/>
          <p:cNvSpPr/>
          <p:nvPr/>
        </p:nvSpPr>
        <p:spPr>
          <a:xfrm>
            <a:off x="4460117" y="3694703"/>
            <a:ext cx="3271525" cy="130185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Wireframing helps you plan the structure of your design, identify usability issues, and communicate your ideas to stakeholders.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4460117" y="1662382"/>
            <a:ext cx="3271525" cy="772107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108000" lIns="108000" bIns="108000" rIns="108000">
            <a:spAutoFit/>
          </a:bodyPr>
          <a:p>
            <a:pPr algn="l" marL="0"/>
            <a:r>
              <a:rPr lang="en-US" b="true" i="false" sz="3600" baseline="0" u="non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4580396" y="2775025"/>
            <a:ext cx="552185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8336439" y="3062315"/>
            <a:ext cx="3271526" cy="464331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Types of Wireframes</a:t>
            </a:r>
          </a:p>
        </p:txBody>
      </p:sp>
      <p:sp>
        <p:nvSpPr>
          <p:cNvPr name="AutoShape 13" id="13"/>
          <p:cNvSpPr/>
          <p:nvPr/>
        </p:nvSpPr>
        <p:spPr>
          <a:xfrm>
            <a:off x="8336439" y="3694704"/>
            <a:ext cx="3271526" cy="130185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Low-fidelity wireframes are simple sketches that focus on the basic layout. High-fidelity wireframes include more detail, such as typography and imagery.</a:t>
            </a:r>
          </a:p>
        </p:txBody>
      </p:sp>
      <p:sp>
        <p:nvSpPr>
          <p:cNvPr name="AutoShape 14" id="14"/>
          <p:cNvSpPr/>
          <p:nvPr/>
        </p:nvSpPr>
        <p:spPr>
          <a:xfrm>
            <a:off x="8336439" y="1662382"/>
            <a:ext cx="3271526" cy="772107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108000" lIns="108000" bIns="108000" rIns="108000">
            <a:spAutoFit/>
          </a:bodyPr>
          <a:p>
            <a:pPr algn="l" marL="0"/>
            <a:r>
              <a:rPr lang="en-US" b="true" i="false" sz="3600" baseline="0" u="none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15" id="15"/>
          <p:cNvSpPr/>
          <p:nvPr/>
        </p:nvSpPr>
        <p:spPr>
          <a:xfrm>
            <a:off x="8456717" y="2775025"/>
            <a:ext cx="552185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Low-Fidelity Prototyping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2" y="1410916"/>
            <a:ext cx="3377074" cy="427979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90000" lIns="91440" bIns="9000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Creating a Simple Prototype</a:t>
            </a:r>
          </a:p>
        </p:txBody>
      </p:sp>
      <p:sp>
        <p:nvSpPr>
          <p:cNvPr name="AutoShape 4" id="4"/>
          <p:cNvSpPr/>
          <p:nvPr/>
        </p:nvSpPr>
        <p:spPr>
          <a:xfrm>
            <a:off x="660403" y="1895292"/>
            <a:ext cx="3377074" cy="179546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>
                    <a:alpha val="60000"/>
                  </a:srgbClr>
                </a:solidFill>
                <a:effectLst/>
                <a:latin typeface="微软雅黑"/>
                <a:ea typeface="微软雅黑"/>
              </a:rPr>
              <a:t>Link wireframes together to create a basic prototype. Use hotspots to define clickable areas and simulate user interactions.</a:t>
            </a:r>
          </a:p>
        </p:txBody>
      </p:sp>
      <p:cxnSp>
        <p:nvCxnSpPr>
          <p:cNvPr name="Connector 5" id="5"/>
          <p:cNvCxnSpPr/>
          <p:nvPr/>
        </p:nvCxnSpPr>
        <p:spPr>
          <a:xfrm flipH="true">
            <a:off x="4297856" y="1611118"/>
            <a:ext cx="1426023" cy="0"/>
          </a:xfrm>
          <a:prstGeom prst="line">
            <a:avLst/>
          </a:prstGeom>
          <a:ln w="19050">
            <a:gradFill>
              <a:gsLst>
                <a:gs pos="0">
                  <a:srgbClr val="F0F0F0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tailEnd type="oval"/>
          </a:ln>
        </p:spPr>
      </p:cxnSp>
      <p:sp>
        <p:nvSpPr>
          <p:cNvPr name="AutoShape 6" id="6"/>
          <p:cNvSpPr/>
          <p:nvPr/>
        </p:nvSpPr>
        <p:spPr>
          <a:xfrm>
            <a:off x="8391725" y="2834786"/>
            <a:ext cx="3127177" cy="427979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90000" lIns="91440" bIns="9000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Testing Your Prototype</a:t>
            </a:r>
          </a:p>
        </p:txBody>
      </p:sp>
      <p:sp>
        <p:nvSpPr>
          <p:cNvPr name="AutoShape 7" id="7"/>
          <p:cNvSpPr/>
          <p:nvPr/>
        </p:nvSpPr>
        <p:spPr>
          <a:xfrm>
            <a:off x="8391726" y="3319162"/>
            <a:ext cx="3127177" cy="179399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>
                    <a:alpha val="60000"/>
                  </a:srgbClr>
                </a:solidFill>
                <a:effectLst/>
                <a:latin typeface="微软雅黑"/>
                <a:ea typeface="微软雅黑"/>
              </a:rPr>
              <a:t>Share your prototype with users and gather feedback. Use the feedback to iterate on your design and improve the user experience.</a:t>
            </a:r>
          </a:p>
        </p:txBody>
      </p:sp>
      <p:cxnSp>
        <p:nvCxnSpPr>
          <p:cNvPr name="Connector 8" id="8"/>
          <p:cNvCxnSpPr/>
          <p:nvPr/>
        </p:nvCxnSpPr>
        <p:spPr>
          <a:xfrm>
            <a:off x="6790680" y="3016781"/>
            <a:ext cx="1426023" cy="0"/>
          </a:xfrm>
          <a:prstGeom prst="line">
            <a:avLst/>
          </a:prstGeom>
          <a:ln w="19050">
            <a:gradFill>
              <a:gsLst>
                <a:gs pos="0">
                  <a:srgbClr val="F0F0F0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tailEnd type="oval"/>
          </a:ln>
        </p:spPr>
      </p:cxnSp>
      <p:sp>
        <p:nvSpPr>
          <p:cNvPr name="Freeform 9" id="9"/>
          <p:cNvSpPr/>
          <p:nvPr/>
        </p:nvSpPr>
        <p:spPr>
          <a:xfrm>
            <a:off x="4297856" y="4820852"/>
            <a:ext cx="3917577" cy="1300634"/>
          </a:xfrm>
          <a:custGeom>
            <a:avLst/>
            <a:gdLst/>
            <a:ahLst/>
            <a:cxnLst/>
            <a:rect r="r" b="b" t="t" l="l"/>
            <a:pathLst>
              <a:path w="3917577" h="1300634" stroke="true" fill="norm" extrusionOk="true">
                <a:moveTo>
                  <a:pt x="828926" y="0"/>
                </a:moveTo>
                <a:lnTo>
                  <a:pt x="3105726" y="0"/>
                </a:lnTo>
                <a:lnTo>
                  <a:pt x="3178250" y="138207"/>
                </a:lnTo>
                <a:cubicBezTo>
                  <a:pt x="3376266" y="503376"/>
                  <a:pt x="3619401" y="892116"/>
                  <a:pt x="3917577" y="1300634"/>
                </a:cubicBezTo>
                <a:lnTo>
                  <a:pt x="34675" y="1300634"/>
                </a:lnTo>
                <a:lnTo>
                  <a:pt x="0" y="1300634"/>
                </a:lnTo>
                <a:lnTo>
                  <a:pt x="0" y="1299061"/>
                </a:lnTo>
                <a:lnTo>
                  <a:pt x="3876" y="1294271"/>
                </a:lnTo>
                <a:cubicBezTo>
                  <a:pt x="47982" y="1239414"/>
                  <a:pt x="368888" y="833652"/>
                  <a:pt x="709309" y="224137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cap="flat">
            <a:noFill/>
            <a:prstDash val="solid"/>
            <a:miter lim="800000"/>
          </a:ln>
        </p:spPr>
        <p:txBody>
          <a:bodyPr vert="horz" anchor="ctr" wrap="square" tIns="45720" lIns="91440" bIns="45720" rIns="91440">
            <a:noAutofit/>
          </a:bodyPr>
          <a:p>
            <a:pPr algn="l" marL="0"/>
          </a:p>
        </p:txBody>
      </p:sp>
      <p:grpSp>
        <p:nvGrpSpPr>
          <p:cNvPr name="Group 10" id="10"/>
          <p:cNvGrpSpPr/>
          <p:nvPr/>
        </p:nvGrpSpPr>
        <p:grpSpPr>
          <a:xfrm>
            <a:off x="5511707" y="915602"/>
            <a:ext cx="1480320" cy="1301750"/>
            <a:chOff x="5586768" y="1651000"/>
            <a:chExt cx="1480320" cy="1301750"/>
          </a:xfrm>
        </p:grpSpPr>
        <p:sp>
          <p:nvSpPr>
            <p:cNvPr name="Freeform 11" id="11"/>
            <p:cNvSpPr/>
            <p:nvPr/>
          </p:nvSpPr>
          <p:spPr>
            <a:xfrm>
              <a:off x="5586768" y="1651000"/>
              <a:ext cx="1480320" cy="1301750"/>
            </a:xfrm>
            <a:custGeom>
              <a:avLst/>
              <a:gdLst/>
              <a:ahLst/>
              <a:cxnLst/>
              <a:rect r="r" b="b" t="t" l="l"/>
              <a:pathLst>
                <a:path w="1480320" h="1301750" stroke="true" fill="norm" extrusionOk="true">
                  <a:moveTo>
                    <a:pt x="742815" y="0"/>
                  </a:moveTo>
                  <a:lnTo>
                    <a:pt x="744874" y="0"/>
                  </a:lnTo>
                  <a:lnTo>
                    <a:pt x="1480320" y="786943"/>
                  </a:lnTo>
                  <a:lnTo>
                    <a:pt x="1141531" y="786943"/>
                  </a:lnTo>
                  <a:cubicBezTo>
                    <a:pt x="1141531" y="786943"/>
                    <a:pt x="1107729" y="963157"/>
                    <a:pt x="1119490" y="1285240"/>
                  </a:cubicBezTo>
                  <a:lnTo>
                    <a:pt x="1120522" y="1301750"/>
                  </a:lnTo>
                  <a:lnTo>
                    <a:pt x="359642" y="1301750"/>
                  </a:lnTo>
                  <a:lnTo>
                    <a:pt x="361413" y="1227292"/>
                  </a:lnTo>
                  <a:cubicBezTo>
                    <a:pt x="361217" y="1090654"/>
                    <a:pt x="353988" y="953480"/>
                    <a:pt x="338790" y="816305"/>
                  </a:cubicBezTo>
                  <a:lnTo>
                    <a:pt x="0" y="816305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AutoShape 12" id="12"/>
            <p:cNvSpPr/>
            <p:nvPr/>
          </p:nvSpPr>
          <p:spPr>
            <a:xfrm>
              <a:off x="6053847" y="2196708"/>
              <a:ext cx="556986" cy="551090"/>
            </a:xfrm>
            <a:prstGeom prst="rect">
              <a:avLst/>
            </a:prstGeom>
            <a:noFill/>
            <a:ln>
              <a:noFill/>
            </a:ln>
          </p:spPr>
          <p:txBody>
            <a:bodyPr vert="horz" anchor="b" wrap="square" tIns="90000" lIns="91440" bIns="90000" rIns="91440">
              <a:spAutoFit/>
            </a:bodyPr>
            <a:p>
              <a:pPr algn="ctr" marL="0"/>
              <a:r>
                <a:rPr lang="en-US" b="true" i="false" sz="2400" baseline="0" u="none">
                  <a:solidFill>
                    <a:schemeClr val="lt1"/>
                  </a:solidFill>
                  <a:latin typeface="Arial"/>
                  <a:ea typeface="Arial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>
            <a:off x="5658229" y="2217352"/>
            <a:ext cx="1208676" cy="1301750"/>
            <a:chOff x="5733290" y="2952750"/>
            <a:chExt cx="1208676" cy="1301750"/>
          </a:xfrm>
        </p:grpSpPr>
        <p:sp>
          <p:nvSpPr>
            <p:cNvPr name="Freeform 14" id="14"/>
            <p:cNvSpPr/>
            <p:nvPr/>
          </p:nvSpPr>
          <p:spPr>
            <a:xfrm>
              <a:off x="5733290" y="2952750"/>
              <a:ext cx="1208676" cy="1301750"/>
            </a:xfrm>
            <a:custGeom>
              <a:avLst/>
              <a:gdLst/>
              <a:ahLst/>
              <a:cxnLst/>
              <a:rect r="r" b="b" t="t" l="l"/>
              <a:pathLst>
                <a:path w="1208676" h="1301750" stroke="true" fill="norm" extrusionOk="true">
                  <a:moveTo>
                    <a:pt x="213120" y="0"/>
                  </a:moveTo>
                  <a:lnTo>
                    <a:pt x="974000" y="0"/>
                  </a:lnTo>
                  <a:lnTo>
                    <a:pt x="986126" y="194001"/>
                  </a:lnTo>
                  <a:cubicBezTo>
                    <a:pt x="1006021" y="421530"/>
                    <a:pt x="1048033" y="699388"/>
                    <a:pt x="1129304" y="1021019"/>
                  </a:cubicBezTo>
                  <a:lnTo>
                    <a:pt x="1208676" y="1301750"/>
                  </a:lnTo>
                  <a:lnTo>
                    <a:pt x="0" y="1301750"/>
                  </a:lnTo>
                  <a:lnTo>
                    <a:pt x="52059" y="1126354"/>
                  </a:lnTo>
                  <a:cubicBezTo>
                    <a:pt x="135984" y="804851"/>
                    <a:pt x="193519" y="469953"/>
                    <a:pt x="210027" y="13003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AutoShape 15" id="15"/>
            <p:cNvSpPr/>
            <p:nvPr/>
          </p:nvSpPr>
          <p:spPr>
            <a:xfrm>
              <a:off x="6053847" y="3439476"/>
              <a:ext cx="556986" cy="551090"/>
            </a:xfrm>
            <a:prstGeom prst="rect">
              <a:avLst/>
            </a:prstGeom>
            <a:noFill/>
            <a:ln>
              <a:noFill/>
            </a:ln>
          </p:spPr>
          <p:txBody>
            <a:bodyPr vert="horz" anchor="b" wrap="square" tIns="90000" lIns="91440" bIns="90000" rIns="91440">
              <a:spAutoFit/>
            </a:bodyPr>
            <a:p>
              <a:pPr algn="ctr" marL="0"/>
              <a:r>
                <a:rPr lang="en-US" b="true" i="false" sz="2400" baseline="0" u="none">
                  <a:solidFill>
                    <a:schemeClr val="lt1"/>
                  </a:solidFill>
                  <a:latin typeface="Arial"/>
                  <a:ea typeface="Arial"/>
                </a:rPr>
                <a:t>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>
            <a:off x="5126782" y="3519102"/>
            <a:ext cx="2276800" cy="1301750"/>
            <a:chOff x="5201843" y="4254500"/>
            <a:chExt cx="2276800" cy="1301750"/>
          </a:xfrm>
        </p:grpSpPr>
        <p:sp>
          <p:nvSpPr>
            <p:cNvPr name="Freeform 17" id="17"/>
            <p:cNvSpPr/>
            <p:nvPr/>
          </p:nvSpPr>
          <p:spPr>
            <a:xfrm>
              <a:off x="5201843" y="4254500"/>
              <a:ext cx="2276800" cy="1301750"/>
            </a:xfrm>
            <a:custGeom>
              <a:avLst/>
              <a:gdLst/>
              <a:ahLst/>
              <a:cxnLst/>
              <a:rect r="r" b="b" t="t" l="l"/>
              <a:pathLst>
                <a:path w="2276800" h="1301750" stroke="true" fill="norm" extrusionOk="true">
                  <a:moveTo>
                    <a:pt x="531447" y="0"/>
                  </a:moveTo>
                  <a:lnTo>
                    <a:pt x="1740123" y="0"/>
                  </a:lnTo>
                  <a:lnTo>
                    <a:pt x="1755743" y="55248"/>
                  </a:lnTo>
                  <a:cubicBezTo>
                    <a:pt x="1865092" y="405333"/>
                    <a:pt x="2019413" y="797007"/>
                    <a:pt x="2235850" y="1223714"/>
                  </a:cubicBezTo>
                  <a:lnTo>
                    <a:pt x="2276800" y="1301750"/>
                  </a:lnTo>
                  <a:lnTo>
                    <a:pt x="0" y="1301750"/>
                  </a:lnTo>
                  <a:lnTo>
                    <a:pt x="37949" y="1230641"/>
                  </a:lnTo>
                  <a:cubicBezTo>
                    <a:pt x="195027" y="921999"/>
                    <a:pt x="347831" y="574776"/>
                    <a:pt x="471065" y="203441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anchor="ctr" wrap="square" tIns="45720" lIns="91440" bIns="45720" rIns="91440">
              <a:noAutofit/>
            </a:bodyPr>
            <a:p>
              <a:pPr algn="l" marL="0"/>
            </a:p>
          </p:txBody>
        </p:sp>
        <p:sp>
          <p:nvSpPr>
            <p:cNvPr name="AutoShape 18" id="18"/>
            <p:cNvSpPr/>
            <p:nvPr/>
          </p:nvSpPr>
          <p:spPr>
            <a:xfrm>
              <a:off x="6053847" y="4682243"/>
              <a:ext cx="556986" cy="551090"/>
            </a:xfrm>
            <a:prstGeom prst="rect">
              <a:avLst/>
            </a:prstGeom>
            <a:noFill/>
            <a:ln>
              <a:noFill/>
            </a:ln>
          </p:spPr>
          <p:txBody>
            <a:bodyPr vert="horz" anchor="b" wrap="square" tIns="90000" lIns="91440" bIns="90000" rIns="91440">
              <a:spAutoFit/>
            </a:bodyPr>
            <a:p>
              <a:pPr algn="ctr" marL="0"/>
              <a:r>
                <a:rPr lang="en-US" b="true" i="false" sz="2400" baseline="0" u="none">
                  <a:solidFill>
                    <a:schemeClr val="lt1"/>
                  </a:solidFill>
                  <a:latin typeface="Arial"/>
                  <a:ea typeface="Arial"/>
                </a:rPr>
                <a:t>03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660402" y="3909367"/>
            <a:ext cx="3377074" cy="427979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90000" lIns="91440" bIns="9000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Adding Interactions</a:t>
            </a:r>
          </a:p>
        </p:txBody>
      </p:sp>
      <p:sp>
        <p:nvSpPr>
          <p:cNvPr name="AutoShape 20" id="20"/>
          <p:cNvSpPr/>
          <p:nvPr/>
        </p:nvSpPr>
        <p:spPr>
          <a:xfrm>
            <a:off x="660403" y="4393743"/>
            <a:ext cx="3377074" cy="179546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>
                    <a:alpha val="60000"/>
                  </a:srgbClr>
                </a:solidFill>
                <a:effectLst/>
                <a:latin typeface="微软雅黑"/>
                <a:ea typeface="微软雅黑"/>
              </a:rPr>
              <a:t>Add transitions between frames to simulate page navigation. Use animations to create a more engaging user experience.</a:t>
            </a:r>
          </a:p>
        </p:txBody>
      </p:sp>
      <p:cxnSp>
        <p:nvCxnSpPr>
          <p:cNvPr name="Connector 21" id="21"/>
          <p:cNvCxnSpPr/>
          <p:nvPr/>
        </p:nvCxnSpPr>
        <p:spPr>
          <a:xfrm flipH="true">
            <a:off x="4297856" y="4109569"/>
            <a:ext cx="1121223" cy="0"/>
          </a:xfrm>
          <a:prstGeom prst="line">
            <a:avLst/>
          </a:prstGeom>
          <a:ln w="19050">
            <a:gradFill>
              <a:gsLst>
                <a:gs pos="0">
                  <a:srgbClr val="F0F0F0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tailEnd type="oval"/>
          </a:ln>
        </p:spPr>
      </p:cxn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01631" y="0"/>
            <a:ext cx="4464093" cy="6858000"/>
          </a:xfrm>
          <a:prstGeom prst="parallelogram">
            <a:avLst>
              <a:gd name="adj" fmla="val 48735"/>
            </a:avLst>
          </a:prstGeom>
          <a:solidFill>
            <a:srgbClr val="FFFFFF">
              <a:alpha val="10000"/>
              <a:lumMod val="50000"/>
              <a:lumOff val="50000"/>
            </a:srgbClr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5477267" y="1705057"/>
            <a:ext cx="5854551" cy="70057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rgbClr val="FFFFFF"/>
                </a:solidFill>
                <a:latin typeface="+mn-ea"/>
                <a:ea typeface="+mn-ea"/>
              </a:rPr>
              <a:t>Create interactive components that respond to user interactions. For example, design a button that changes color when clicked.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4135901" y="1632348"/>
            <a:ext cx="870751" cy="830997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GB" b="true" i="false" sz="4800" baseline="0" u="none">
                <a:solidFill>
                  <a:schemeClr val="accent5"/>
                </a:solidFill>
                <a:effectLst/>
                <a:latin typeface="Arial"/>
                <a:ea typeface="Arial"/>
              </a:rPr>
              <a:t>01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flipH="true">
            <a:off x="5112688" y="1455938"/>
            <a:ext cx="269163" cy="843461"/>
          </a:xfrm>
          <a:prstGeom prst="line">
            <a:avLst/>
          </a:prstGeom>
          <a:ln w="9525">
            <a:solidFill>
              <a:schemeClr val="accent5"/>
            </a:solidFill>
          </a:ln>
        </p:spPr>
      </p:cxnSp>
      <p:sp>
        <p:nvSpPr>
          <p:cNvPr name="TextBox 6" id="6"/>
          <p:cNvSpPr txBox="true"/>
          <p:nvPr/>
        </p:nvSpPr>
        <p:spPr>
          <a:xfrm>
            <a:off x="5082818" y="3327218"/>
            <a:ext cx="5854551" cy="70057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rgbClr val="FFFFFF"/>
                </a:solidFill>
                <a:latin typeface="+mn-ea"/>
                <a:ea typeface="+mn-ea"/>
              </a:rPr>
              <a:t>Use conditional logic to create prototypes that respond to user input. For example, show different content based on the user's selection.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3658882" y="3262008"/>
            <a:ext cx="870752" cy="830997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GB" b="true" i="false" sz="4800" baseline="0" u="none">
                <a:solidFill>
                  <a:schemeClr val="accent2"/>
                </a:solidFill>
                <a:effectLst/>
                <a:latin typeface="Arial"/>
                <a:ea typeface="Arial"/>
              </a:rPr>
              <a:t>02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flipH="true">
            <a:off x="4619708" y="3078099"/>
            <a:ext cx="260441" cy="865748"/>
          </a:xfrm>
          <a:prstGeom prst="line">
            <a:avLst/>
          </a:prstGeom>
          <a:ln w="9525">
            <a:solidFill>
              <a:schemeClr val="accent2"/>
            </a:solidFill>
          </a:ln>
        </p:spPr>
      </p:cxnSp>
      <p:sp>
        <p:nvSpPr>
          <p:cNvPr name="TextBox 9" id="9"/>
          <p:cNvSpPr txBox="true"/>
          <p:nvPr/>
        </p:nvSpPr>
        <p:spPr>
          <a:xfrm>
            <a:off x="4696320" y="4877817"/>
            <a:ext cx="5854551" cy="70057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rgbClr val="FFFFFF"/>
                </a:solidFill>
                <a:latin typeface="+mn-ea"/>
                <a:ea typeface="+mn-ea"/>
              </a:rPr>
              <a:t>Implement variables to create more dynamic and personalized prototypes. For example, use variables to store user input and display it in different parts of the prototype.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3084468" y="4771302"/>
            <a:ext cx="870752" cy="830997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r" marL="0">
              <a:defRPr/>
            </a:pPr>
            <a:r>
              <a:rPr lang="en-GB" b="true" i="false" sz="4800" baseline="0" u="none">
                <a:solidFill>
                  <a:schemeClr val="accent1"/>
                </a:solidFill>
                <a:effectLst/>
                <a:latin typeface="Arial"/>
                <a:ea typeface="Arial"/>
              </a:rPr>
              <a:t>03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flipH="true">
            <a:off x="4094367" y="4558601"/>
            <a:ext cx="306573" cy="901094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name="AutoShape 12" id="12"/>
          <p:cNvSpPr/>
          <p:nvPr>
            <p:ph type="title"/>
          </p:nvPr>
        </p:nvSpPr>
        <p:spPr>
          <a:xfrm>
            <a:off x="660402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Advanced Prototyping Techniques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5477267" y="1426880"/>
            <a:ext cx="5854550" cy="338554"/>
          </a:xfrm>
          <a:prstGeom prst="rect">
            <a:avLst/>
          </a:prstGeom>
          <a:noFill/>
          <a:ln cap="rnd">
            <a:noFill/>
            <a:prstDash val="solid"/>
          </a:ln>
          <a:effectLst>
            <a:outerShdw algn="ctr" blurRad="254000" dist="127000" rotWithShape="false">
              <a:schemeClr val="accent2">
                <a:alpha val="32000"/>
              </a:schemeClr>
            </a:outerShdw>
          </a:effectLst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Interactive Components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5063029" y="3006827"/>
            <a:ext cx="5874340" cy="338554"/>
          </a:xfrm>
          <a:prstGeom prst="rect">
            <a:avLst/>
          </a:prstGeom>
          <a:noFill/>
          <a:ln cap="rnd">
            <a:noFill/>
            <a:prstDash val="solid"/>
          </a:ln>
          <a:effectLst>
            <a:outerShdw algn="ctr" blurRad="254000" dist="127000" rotWithShape="false">
              <a:schemeClr val="accent4">
                <a:alpha val="32000"/>
              </a:schemeClr>
            </a:outerShdw>
          </a:effectLst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4"/>
                </a:solidFill>
                <a:latin typeface="微软雅黑"/>
                <a:ea typeface="微软雅黑"/>
              </a:rPr>
              <a:t>Conditional Logic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4679235" y="4558601"/>
            <a:ext cx="5871635" cy="338554"/>
          </a:xfrm>
          <a:prstGeom prst="rect">
            <a:avLst/>
          </a:prstGeom>
          <a:noFill/>
          <a:ln cap="rnd">
            <a:noFill/>
            <a:prstDash val="solid"/>
          </a:ln>
          <a:effectLst>
            <a:outerShdw algn="ctr" blurRad="254000" dist="127000" rotWithShape="false">
              <a:schemeClr val="accent6">
                <a:alpha val="32000"/>
              </a:schemeClr>
            </a:outerShdw>
          </a:effectLst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Using Variables in Prototypes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body" sz="quarter" idx="13"/>
          </p:nvPr>
        </p:nvSpPr>
        <p:spPr>
          <a:xfrm>
            <a:off x="6196394" y="3075057"/>
            <a:ext cx="5995606" cy="707886"/>
          </a:xfrm>
        </p:spPr>
        <p:txBody>
          <a:bodyPr vert="horz" anchor="b" tIns="45720" lIns="91440" bIns="45720" rIns="91440">
            <a:spAutoFit/>
          </a:bodyPr>
          <a:p>
            <a:pPr algn="l" indent="0" marL="0">
              <a:lnSpc>
                <a:spcPct val="100000"/>
              </a:lnSpc>
              <a:spcBef>
                <a:spcPct val="0"/>
              </a:spcBef>
            </a:pPr>
            <a:r>
              <a:rPr lang="zh-CN" b="true" i="true" sz="40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Thank you for listening.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096000" y="4090342"/>
            <a:ext cx="1370888" cy="313932"/>
          </a:xfrm>
          <a:prstGeom prst="rect">
            <a:avLst/>
          </a:prstGeom>
        </p:spPr>
        <p:txBody>
          <a:bodyPr anchor="t" rtlCol="false" vert="horz" tIns="45720" lIns="91440" bIns="45720" rIns="91440">
            <a:spAutoFit/>
          </a:bodyPr>
          <a:lstStyle/>
          <a:p>
            <a:pPr algn="l" indent="0" marL="0"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b="false" i="tru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Reporter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1EEE6"/>
      </a:accent1>
      <a:accent2>
        <a:srgbClr val="BE02DB"/>
      </a:accent2>
      <a:accent3>
        <a:srgbClr val="01EEE6"/>
      </a:accent3>
      <a:accent4>
        <a:srgbClr val="BE02DB"/>
      </a:accent4>
      <a:accent5>
        <a:srgbClr val="01EEE6"/>
      </a:accent5>
      <a:accent6>
        <a:srgbClr val="BE02DB"/>
      </a:accent6>
      <a:hlink>
        <a:srgbClr val="4472C4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2025-05-05T12:01:16Z</dcterms:created>
  <cp:lastModifiedBy>user</cp:lastModifiedBy>
  <dcterms:modified xsi:type="dcterms:W3CDTF">2025-05-05T12:01:16Z</dcterms:modified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copyright">
    <vt:lpwstr>https://docmee.cn</vt:lpwstr>
  </property>
  <property pid="3" fmtid="{D5CDD505-2E9C-101B-9397-08002B2CF9AE}" name="developer">
    <vt:lpwstr>https://github.com/veasion</vt:lpwstr>
  </property>
</Properties>
</file>