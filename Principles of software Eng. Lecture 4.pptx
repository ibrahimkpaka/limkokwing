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0"/>
  </p:notesMasterIdLst>
  <p:sldIdLst>
    <p:sldId id="259" r:id="rId2"/>
    <p:sldId id="256" r:id="rId3"/>
    <p:sldId id="258" r:id="rId4"/>
    <p:sldId id="284" r:id="rId5"/>
    <p:sldId id="319" r:id="rId6"/>
    <p:sldId id="320" r:id="rId7"/>
    <p:sldId id="316" r:id="rId8"/>
    <p:sldId id="317" r:id="rId9"/>
    <p:sldId id="318" r:id="rId10"/>
    <p:sldId id="321" r:id="rId11"/>
    <p:sldId id="325" r:id="rId12"/>
    <p:sldId id="324" r:id="rId13"/>
    <p:sldId id="327" r:id="rId14"/>
    <p:sldId id="326" r:id="rId15"/>
    <p:sldId id="328" r:id="rId16"/>
    <p:sldId id="329" r:id="rId17"/>
    <p:sldId id="330" r:id="rId18"/>
    <p:sldId id="331" r:id="rId19"/>
    <p:sldId id="332" r:id="rId20"/>
    <p:sldId id="333" r:id="rId21"/>
    <p:sldId id="334" r:id="rId22"/>
    <p:sldId id="335" r:id="rId23"/>
    <p:sldId id="336" r:id="rId24"/>
    <p:sldId id="338" r:id="rId25"/>
    <p:sldId id="337" r:id="rId26"/>
    <p:sldId id="339" r:id="rId27"/>
    <p:sldId id="340"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405"/>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A0420-623A-104A-8901-D83B63A1E660}" type="datetimeFigureOut">
              <a:rPr lang="en-SL" smtClean="0"/>
              <a:t>04/28/2025</a:t>
            </a:fld>
            <a:endParaRPr lang="en-S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74951-2C74-D643-AB10-B943E48EDE1B}" type="slidenum">
              <a:rPr lang="en-SL" smtClean="0"/>
              <a:t>‹#›</a:t>
            </a:fld>
            <a:endParaRPr lang="en-SL"/>
          </a:p>
        </p:txBody>
      </p:sp>
    </p:spTree>
    <p:extLst>
      <p:ext uri="{BB962C8B-B14F-4D97-AF65-F5344CB8AC3E}">
        <p14:creationId xmlns:p14="http://schemas.microsoft.com/office/powerpoint/2010/main" val="1339432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L" dirty="0"/>
          </a:p>
        </p:txBody>
      </p:sp>
      <p:sp>
        <p:nvSpPr>
          <p:cNvPr id="4" name="Slide Number Placeholder 3"/>
          <p:cNvSpPr>
            <a:spLocks noGrp="1"/>
          </p:cNvSpPr>
          <p:nvPr>
            <p:ph type="sldNum" sz="quarter" idx="5"/>
          </p:nvPr>
        </p:nvSpPr>
        <p:spPr/>
        <p:txBody>
          <a:bodyPr/>
          <a:lstStyle/>
          <a:p>
            <a:fld id="{0F474951-2C74-D643-AB10-B943E48EDE1B}" type="slidenum">
              <a:rPr lang="en-SL" smtClean="0"/>
              <a:t>1</a:t>
            </a:fld>
            <a:endParaRPr lang="en-SL"/>
          </a:p>
        </p:txBody>
      </p:sp>
    </p:spTree>
    <p:extLst>
      <p:ext uri="{BB962C8B-B14F-4D97-AF65-F5344CB8AC3E}">
        <p14:creationId xmlns:p14="http://schemas.microsoft.com/office/powerpoint/2010/main" val="2179135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L" dirty="0"/>
          </a:p>
        </p:txBody>
      </p:sp>
      <p:sp>
        <p:nvSpPr>
          <p:cNvPr id="4" name="Slide Number Placeholder 3"/>
          <p:cNvSpPr>
            <a:spLocks noGrp="1"/>
          </p:cNvSpPr>
          <p:nvPr>
            <p:ph type="sldNum" sz="quarter" idx="5"/>
          </p:nvPr>
        </p:nvSpPr>
        <p:spPr/>
        <p:txBody>
          <a:bodyPr/>
          <a:lstStyle/>
          <a:p>
            <a:fld id="{0F474951-2C74-D643-AB10-B943E48EDE1B}" type="slidenum">
              <a:rPr lang="en-SL" smtClean="0"/>
              <a:t>2</a:t>
            </a:fld>
            <a:endParaRPr lang="en-SL"/>
          </a:p>
        </p:txBody>
      </p:sp>
    </p:spTree>
    <p:extLst>
      <p:ext uri="{BB962C8B-B14F-4D97-AF65-F5344CB8AC3E}">
        <p14:creationId xmlns:p14="http://schemas.microsoft.com/office/powerpoint/2010/main" val="2949366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41606"/>
            <a:ext cx="9144000" cy="2566386"/>
          </a:xfrm>
          <a:prstGeom prst="rect">
            <a:avLst/>
          </a:prstGeom>
        </p:spPr>
        <p:txBody>
          <a:bodyPr anchor="b"/>
          <a:lstStyle>
            <a:lvl1pPr algn="ctr">
              <a:defRPr sz="6000"/>
            </a:lvl1pPr>
          </a:lstStyle>
          <a:p>
            <a:r>
              <a:rPr lang="en-GB" dirty="0"/>
              <a:t>Click to edit Master title style</a:t>
            </a:r>
            <a:endParaRPr lang="en-US" dirty="0"/>
          </a:p>
        </p:txBody>
      </p:sp>
      <p:sp>
        <p:nvSpPr>
          <p:cNvPr id="3" name="Subtitle 2"/>
          <p:cNvSpPr>
            <a:spLocks noGrp="1"/>
          </p:cNvSpPr>
          <p:nvPr>
            <p:ph type="subTitle" idx="1"/>
          </p:nvPr>
        </p:nvSpPr>
        <p:spPr>
          <a:xfrm>
            <a:off x="1524000" y="4626863"/>
            <a:ext cx="9144000" cy="1134173"/>
          </a:xfrm>
          <a:prstGeom prst="rect">
            <a:avLst/>
          </a:prstGeom>
        </p:spPr>
        <p:txBody>
          <a:bodyPr/>
          <a:lstStyle>
            <a:lvl1pPr marL="0" indent="0" algn="ctr">
              <a:buNone/>
              <a:defRPr sz="2400">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2073380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348062B8-AB82-F2B3-3101-23B44D8D606A}"/>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179791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Footer Placeholder 7">
            <a:extLst>
              <a:ext uri="{FF2B5EF4-FFF2-40B4-BE49-F238E27FC236}">
                <a16:creationId xmlns:a16="http://schemas.microsoft.com/office/drawing/2014/main" id="{364D8A2B-30B9-0C15-7F64-0649FFCC19DB}"/>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894526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7">
            <a:extLst>
              <a:ext uri="{FF2B5EF4-FFF2-40B4-BE49-F238E27FC236}">
                <a16:creationId xmlns:a16="http://schemas.microsoft.com/office/drawing/2014/main" id="{B851334D-5ECD-EAA3-2745-D5C5E2235829}"/>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637265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43784" y="265177"/>
            <a:ext cx="8511604" cy="1060703"/>
          </a:xfrm>
          <a:prstGeom prst="rect">
            <a:avLst/>
          </a:prstGeom>
        </p:spPr>
        <p:txBody>
          <a:bodyPr anchor="ct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Footer Placeholder 7">
            <a:extLst>
              <a:ext uri="{FF2B5EF4-FFF2-40B4-BE49-F238E27FC236}">
                <a16:creationId xmlns:a16="http://schemas.microsoft.com/office/drawing/2014/main" id="{8D0414B7-8E21-99AD-DF91-1DCCECDD55D0}"/>
              </a:ext>
            </a:extLst>
          </p:cNvPr>
          <p:cNvSpPr>
            <a:spLocks noGrp="1"/>
          </p:cNvSpPr>
          <p:nvPr>
            <p:ph type="ftr" sz="quarter" idx="10"/>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176047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6" name="Footer Placeholder 7">
            <a:extLst>
              <a:ext uri="{FF2B5EF4-FFF2-40B4-BE49-F238E27FC236}">
                <a16:creationId xmlns:a16="http://schemas.microsoft.com/office/drawing/2014/main" id="{C9302E01-FFBE-4FF0-034F-30AE985A79ED}"/>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57503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7">
            <a:extLst>
              <a:ext uri="{FF2B5EF4-FFF2-40B4-BE49-F238E27FC236}">
                <a16:creationId xmlns:a16="http://schemas.microsoft.com/office/drawing/2014/main" id="{A6526409-90E9-E7E1-3A56-5E9CC7FAF266}"/>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120280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Footer Placeholder 7">
            <a:extLst>
              <a:ext uri="{FF2B5EF4-FFF2-40B4-BE49-F238E27FC236}">
                <a16:creationId xmlns:a16="http://schemas.microsoft.com/office/drawing/2014/main" id="{30FAA1DA-807D-5822-720A-CDE3F6847ADD}"/>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23088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Footer Placeholder 7">
            <a:extLst>
              <a:ext uri="{FF2B5EF4-FFF2-40B4-BE49-F238E27FC236}">
                <a16:creationId xmlns:a16="http://schemas.microsoft.com/office/drawing/2014/main" id="{4C9D83BE-7273-D727-7A95-1537E313079C}"/>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794633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8669B2F4-83DB-3FF1-8FDF-AA9829120606}"/>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692221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B306E8DF-42D3-5DCD-9E8E-8F8E91F971AB}"/>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757644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BF1A32-7ED7-AE66-BF3F-32FEBA886B5D}"/>
              </a:ext>
            </a:extLst>
          </p:cNvPr>
          <p:cNvPicPr>
            <a:picLocks noChangeAspect="1"/>
          </p:cNvPicPr>
          <p:nvPr userDrawn="1"/>
        </p:nvPicPr>
        <p:blipFill rotWithShape="1">
          <a:blip r:embed="rId13">
            <a:extLst>
              <a:ext uri="{BEBA8EAE-BF5A-486C-A8C5-ECC9F3942E4B}">
                <a14:imgProps xmlns:a14="http://schemas.microsoft.com/office/drawing/2010/main">
                  <a14:imgLayer r:embed="rId14">
                    <a14:imgEffect>
                      <a14:sharpenSoften amount="50000"/>
                    </a14:imgEffect>
                    <a14:imgEffect>
                      <a14:brightnessContrast contrast="100000"/>
                    </a14:imgEffect>
                  </a14:imgLayer>
                </a14:imgProps>
              </a:ext>
              <a:ext uri="{28A0092B-C50C-407E-A947-70E740481C1C}">
                <a14:useLocalDpi xmlns:a14="http://schemas.microsoft.com/office/drawing/2010/main" val="0"/>
              </a:ext>
            </a:extLst>
          </a:blip>
          <a:srcRect l="375" t="600" r="642"/>
          <a:stretch/>
        </p:blipFill>
        <p:spPr bwMode="auto">
          <a:xfrm>
            <a:off x="838200" y="282931"/>
            <a:ext cx="1765324" cy="1050531"/>
          </a:xfrm>
          <a:prstGeom prst="rect">
            <a:avLst/>
          </a:prstGeom>
          <a:noFill/>
          <a:ln>
            <a:noFill/>
          </a:ln>
        </p:spPr>
      </p:pic>
      <p:cxnSp>
        <p:nvCxnSpPr>
          <p:cNvPr id="10" name="Straight Connector 9">
            <a:extLst>
              <a:ext uri="{FF2B5EF4-FFF2-40B4-BE49-F238E27FC236}">
                <a16:creationId xmlns:a16="http://schemas.microsoft.com/office/drawing/2014/main" id="{ACA603D9-487D-F442-A363-C94794B2E8A7}"/>
              </a:ext>
            </a:extLst>
          </p:cNvPr>
          <p:cNvCxnSpPr>
            <a:cxnSpLocks/>
          </p:cNvCxnSpPr>
          <p:nvPr userDrawn="1"/>
        </p:nvCxnSpPr>
        <p:spPr>
          <a:xfrm>
            <a:off x="838200" y="617696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90EC78E-36D0-6EDD-4F54-599D4DCFD2F1}"/>
              </a:ext>
            </a:extLst>
          </p:cNvPr>
          <p:cNvCxnSpPr>
            <a:cxnSpLocks/>
          </p:cNvCxnSpPr>
          <p:nvPr userDrawn="1"/>
        </p:nvCxnSpPr>
        <p:spPr>
          <a:xfrm>
            <a:off x="838200" y="6438735"/>
            <a:ext cx="10515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itle Placeholder 16">
            <a:extLst>
              <a:ext uri="{FF2B5EF4-FFF2-40B4-BE49-F238E27FC236}">
                <a16:creationId xmlns:a16="http://schemas.microsoft.com/office/drawing/2014/main" id="{4EB62306-4DB1-0C16-FD02-F978E22A713D}"/>
              </a:ext>
            </a:extLst>
          </p:cNvPr>
          <p:cNvSpPr>
            <a:spLocks noGrp="1"/>
          </p:cNvSpPr>
          <p:nvPr>
            <p:ph type="title"/>
          </p:nvPr>
        </p:nvSpPr>
        <p:spPr>
          <a:xfrm>
            <a:off x="2751513" y="291794"/>
            <a:ext cx="8602287" cy="930177"/>
          </a:xfrm>
          <a:prstGeom prst="rect">
            <a:avLst/>
          </a:prstGeom>
        </p:spPr>
        <p:txBody>
          <a:bodyPr vert="horz" lIns="91440" tIns="45720" rIns="91440" bIns="45720" rtlCol="0" anchor="ctr">
            <a:normAutofit/>
          </a:bodyPr>
          <a:lstStyle/>
          <a:p>
            <a:r>
              <a:rPr lang="en-GB"/>
              <a:t>Click to edit Master title style</a:t>
            </a:r>
            <a:endParaRPr lang="en-SL"/>
          </a:p>
        </p:txBody>
      </p:sp>
      <p:sp>
        <p:nvSpPr>
          <p:cNvPr id="18" name="Text Placeholder 17">
            <a:extLst>
              <a:ext uri="{FF2B5EF4-FFF2-40B4-BE49-F238E27FC236}">
                <a16:creationId xmlns:a16="http://schemas.microsoft.com/office/drawing/2014/main" id="{AD394821-2868-4EF8-6E39-CCCC04BF74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L"/>
          </a:p>
        </p:txBody>
      </p:sp>
      <p:cxnSp>
        <p:nvCxnSpPr>
          <p:cNvPr id="3" name="Straight Connector 2">
            <a:extLst>
              <a:ext uri="{FF2B5EF4-FFF2-40B4-BE49-F238E27FC236}">
                <a16:creationId xmlns:a16="http://schemas.microsoft.com/office/drawing/2014/main" id="{4EAD2543-0F31-E0B8-C1CA-64FAF24066C2}"/>
              </a:ext>
            </a:extLst>
          </p:cNvPr>
          <p:cNvCxnSpPr/>
          <p:nvPr userDrawn="1"/>
        </p:nvCxnSpPr>
        <p:spPr>
          <a:xfrm>
            <a:off x="2751513" y="1333462"/>
            <a:ext cx="86022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48314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3600" b="1"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A323B-F5C3-B592-FB36-4B5BAEECEC8A}"/>
              </a:ext>
            </a:extLst>
          </p:cNvPr>
          <p:cNvSpPr>
            <a:spLocks noGrp="1"/>
          </p:cNvSpPr>
          <p:nvPr>
            <p:ph type="ctrTitle"/>
          </p:nvPr>
        </p:nvSpPr>
        <p:spPr>
          <a:xfrm>
            <a:off x="838200" y="1941606"/>
            <a:ext cx="10515600" cy="2566386"/>
          </a:xfrm>
        </p:spPr>
        <p:txBody>
          <a:bodyPr anchor="ctr">
            <a:noAutofit/>
          </a:bodyPr>
          <a:lstStyle/>
          <a:p>
            <a:r>
              <a:rPr lang="en-GB" sz="4400" dirty="0" smtClean="0"/>
              <a:t>PROG102</a:t>
            </a:r>
            <a:r>
              <a:rPr lang="en-GB" sz="4400" dirty="0">
                <a:latin typeface="Tahoma" panose="020B0604030504040204" pitchFamily="34" charset="0"/>
                <a:ea typeface="Tahoma" panose="020B0604030504040204" pitchFamily="34" charset="0"/>
                <a:cs typeface="Tahoma" panose="020B0604030504040204" pitchFamily="34" charset="0"/>
              </a:rPr>
              <a:t/>
            </a:r>
            <a:br>
              <a:rPr lang="en-GB" sz="4400" dirty="0">
                <a:latin typeface="Tahoma" panose="020B0604030504040204" pitchFamily="34" charset="0"/>
                <a:ea typeface="Tahoma" panose="020B0604030504040204" pitchFamily="34" charset="0"/>
                <a:cs typeface="Tahoma" panose="020B0604030504040204" pitchFamily="34" charset="0"/>
              </a:rPr>
            </a:br>
            <a:r>
              <a:rPr lang="en-GB" sz="4400" dirty="0" smtClean="0">
                <a:latin typeface="Tahoma" panose="020B0604030504040204" pitchFamily="34" charset="0"/>
                <a:ea typeface="Tahoma" panose="020B0604030504040204" pitchFamily="34" charset="0"/>
                <a:cs typeface="Tahoma" panose="020B0604030504040204" pitchFamily="34" charset="0"/>
              </a:rPr>
              <a:t>PRINCIPLES OF </a:t>
            </a:r>
            <a:r>
              <a:rPr lang="en-GB" sz="4400" dirty="0" smtClean="0"/>
              <a:t>SOFTWARE ENGINEERING</a:t>
            </a:r>
            <a:endParaRPr lang="en-SL" sz="4400" dirty="0">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B6A380B1-3D40-258B-262F-E3A1CE85CEE4}"/>
              </a:ext>
            </a:extLst>
          </p:cNvPr>
          <p:cNvSpPr>
            <a:spLocks noGrp="1"/>
          </p:cNvSpPr>
          <p:nvPr>
            <p:ph type="subTitle" idx="1"/>
          </p:nvPr>
        </p:nvSpPr>
        <p:spPr>
          <a:xfrm>
            <a:off x="1524000" y="4926892"/>
            <a:ext cx="9144000" cy="1134173"/>
          </a:xfrm>
        </p:spPr>
        <p:txBody>
          <a:bodyPr>
            <a:normAutofit/>
          </a:bodyPr>
          <a:lstStyle/>
          <a:p>
            <a:r>
              <a:rPr lang="en-US" sz="3200" b="1" dirty="0"/>
              <a:t>LECTURE 4:  </a:t>
            </a:r>
            <a:r>
              <a:rPr lang="en-US" sz="3200" b="1" dirty="0"/>
              <a:t>SYSTEM MODELING WITH UML AND SOFTWARE DESIGN PRINCIPLES</a:t>
            </a:r>
            <a:endParaRPr lang="en-SL" sz="3200" b="1" dirty="0"/>
          </a:p>
        </p:txBody>
      </p:sp>
      <p:sp>
        <p:nvSpPr>
          <p:cNvPr id="4" name="Footer Placeholder 7">
            <a:extLst>
              <a:ext uri="{FF2B5EF4-FFF2-40B4-BE49-F238E27FC236}">
                <a16:creationId xmlns:a16="http://schemas.microsoft.com/office/drawing/2014/main" id="{AA5908C0-CE78-2C19-AE4A-3DE035E8370B}"/>
              </a:ext>
            </a:extLst>
          </p:cNvPr>
          <p:cNvSpPr txBox="1">
            <a:spLocks/>
          </p:cNvSpPr>
          <p:nvPr/>
        </p:nvSpPr>
        <p:spPr>
          <a:xfrm>
            <a:off x="838200" y="6479966"/>
            <a:ext cx="10515600" cy="365125"/>
          </a:xfrm>
          <a:prstGeom prst="rect">
            <a:avLst/>
          </a:prstGeom>
          <a:ln>
            <a:noFill/>
          </a:ln>
        </p:spPr>
        <p:txBody>
          <a:bodyPr vert="horz" lIns="91440" tIns="45720" rIns="91440" bIns="45720" rtlCol="0" anchor="ctr"/>
          <a:lstStyle>
            <a:defPPr>
              <a:defRPr lang="en-US"/>
            </a:defPPr>
            <a:lvl1pPr marL="0" marR="0" indent="0" algn="ctr" defTabSz="457200" rtl="0" eaLnBrk="1" fontAlgn="auto" latinLnBrk="0" hangingPunct="1">
              <a:lnSpc>
                <a:spcPct val="100000"/>
              </a:lnSpc>
              <a:spcBef>
                <a:spcPts val="0"/>
              </a:spcBef>
              <a:spcAft>
                <a:spcPts val="0"/>
              </a:spcAft>
              <a:buClrTx/>
              <a:buSzTx/>
              <a:buFontTx/>
              <a:buNone/>
              <a:tabLst/>
              <a:defRPr sz="900" kern="12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800" dirty="0"/>
              <a:t>ALL RIGHTS RESERVED </a:t>
            </a:r>
          </a:p>
          <a:p>
            <a:r>
              <a:rPr lang="en-GB" sz="800" dirty="0"/>
              <a:t>No part of this document may be reproduced without written approval from Limkokwing University of Creative Technology</a:t>
            </a:r>
          </a:p>
          <a:p>
            <a:endParaRPr lang="en-SL" sz="800" dirty="0"/>
          </a:p>
        </p:txBody>
      </p:sp>
    </p:spTree>
    <p:extLst>
      <p:ext uri="{BB962C8B-B14F-4D97-AF65-F5344CB8AC3E}">
        <p14:creationId xmlns:p14="http://schemas.microsoft.com/office/powerpoint/2010/main" val="405035507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7">
            <a:extLst>
              <a:ext uri="{FF2B5EF4-FFF2-40B4-BE49-F238E27FC236}">
                <a16:creationId xmlns:a16="http://schemas.microsoft.com/office/drawing/2014/main" id="{AA5908C0-CE78-2C19-AE4A-3DE035E8370B}"/>
              </a:ext>
            </a:extLst>
          </p:cNvPr>
          <p:cNvSpPr txBox="1">
            <a:spLocks/>
          </p:cNvSpPr>
          <p:nvPr/>
        </p:nvSpPr>
        <p:spPr>
          <a:xfrm>
            <a:off x="838200" y="6479966"/>
            <a:ext cx="10515600" cy="365125"/>
          </a:xfrm>
          <a:prstGeom prst="rect">
            <a:avLst/>
          </a:prstGeom>
          <a:ln>
            <a:noFill/>
          </a:ln>
        </p:spPr>
        <p:txBody>
          <a:bodyPr vert="horz" lIns="91440" tIns="45720" rIns="91440" bIns="45720" rtlCol="0" anchor="ctr"/>
          <a:lstStyle>
            <a:defPPr>
              <a:defRPr lang="en-US"/>
            </a:defPPr>
            <a:lvl1pPr marL="0" marR="0" indent="0" algn="ctr" defTabSz="457200" rtl="0" eaLnBrk="1" fontAlgn="auto" latinLnBrk="0" hangingPunct="1">
              <a:lnSpc>
                <a:spcPct val="100000"/>
              </a:lnSpc>
              <a:spcBef>
                <a:spcPts val="0"/>
              </a:spcBef>
              <a:spcAft>
                <a:spcPts val="0"/>
              </a:spcAft>
              <a:buClrTx/>
              <a:buSzTx/>
              <a:buFontTx/>
              <a:buNone/>
              <a:tabLst/>
              <a:defRPr sz="900" kern="12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800" dirty="0"/>
              <a:t>ALL RIGHTS RESERVED </a:t>
            </a:r>
          </a:p>
          <a:p>
            <a:r>
              <a:rPr lang="en-GB" sz="800" dirty="0"/>
              <a:t>No part of this document may be reproduced without written approval from Limkokwing University of Creative Technology</a:t>
            </a:r>
          </a:p>
          <a:p>
            <a:endParaRPr lang="en-SL" sz="800" dirty="0"/>
          </a:p>
        </p:txBody>
      </p:sp>
      <p:sp>
        <p:nvSpPr>
          <p:cNvPr id="5" name="TextBox 4">
            <a:extLst>
              <a:ext uri="{FF2B5EF4-FFF2-40B4-BE49-F238E27FC236}">
                <a16:creationId xmlns:a16="http://schemas.microsoft.com/office/drawing/2014/main" id="{7CB5BA6A-53E1-53A1-FBD9-10906499B3DA}"/>
              </a:ext>
            </a:extLst>
          </p:cNvPr>
          <p:cNvSpPr txBox="1"/>
          <p:nvPr/>
        </p:nvSpPr>
        <p:spPr>
          <a:xfrm>
            <a:off x="2805952" y="663232"/>
            <a:ext cx="5441577" cy="646331"/>
          </a:xfrm>
          <a:prstGeom prst="rect">
            <a:avLst/>
          </a:prstGeom>
          <a:noFill/>
        </p:spPr>
        <p:txBody>
          <a:bodyPr wrap="square" rtlCol="0">
            <a:spAutoFit/>
          </a:bodyPr>
          <a:lstStyle/>
          <a:p>
            <a:r>
              <a:rPr lang="en-GB" sz="3600" b="1" i="0" dirty="0">
                <a:effectLst/>
                <a:latin typeface="Tahoma" panose="020B0604030504040204" pitchFamily="34" charset="0"/>
                <a:ea typeface="Tahoma" panose="020B0604030504040204" pitchFamily="34" charset="0"/>
                <a:cs typeface="Tahoma" panose="020B0604030504040204" pitchFamily="34" charset="0"/>
              </a:rPr>
              <a:t>Learning Objectives:</a:t>
            </a:r>
          </a:p>
        </p:txBody>
      </p:sp>
      <p:sp>
        <p:nvSpPr>
          <p:cNvPr id="10" name="TextBox 9">
            <a:extLst>
              <a:ext uri="{FF2B5EF4-FFF2-40B4-BE49-F238E27FC236}">
                <a16:creationId xmlns:a16="http://schemas.microsoft.com/office/drawing/2014/main" id="{C37EAC5C-AADC-1146-5461-776008E857E7}"/>
              </a:ext>
            </a:extLst>
          </p:cNvPr>
          <p:cNvSpPr txBox="1"/>
          <p:nvPr/>
        </p:nvSpPr>
        <p:spPr>
          <a:xfrm>
            <a:off x="1326776" y="1452281"/>
            <a:ext cx="9538447" cy="278698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400" dirty="0" smtClean="0">
                <a:latin typeface="Tahoma" panose="020B0604030504040204" pitchFamily="34" charset="0"/>
                <a:ea typeface="Tahoma" panose="020B0604030504040204" pitchFamily="34" charset="0"/>
                <a:cs typeface="Tahoma" panose="020B0604030504040204" pitchFamily="34" charset="0"/>
              </a:rPr>
              <a:t>Overview </a:t>
            </a:r>
            <a:r>
              <a:rPr lang="en-US" sz="2400" dirty="0">
                <a:latin typeface="Tahoma" panose="020B0604030504040204" pitchFamily="34" charset="0"/>
                <a:ea typeface="Tahoma" panose="020B0604030504040204" pitchFamily="34" charset="0"/>
                <a:cs typeface="Tahoma" panose="020B0604030504040204" pitchFamily="34" charset="0"/>
              </a:rPr>
              <a:t>of UML (Unified Modeling Language)</a:t>
            </a:r>
          </a:p>
          <a:p>
            <a:pPr marL="342900" indent="-342900">
              <a:lnSpc>
                <a:spcPct val="150000"/>
              </a:lnSpc>
              <a:buFont typeface="Wingdings" panose="05000000000000000000" pitchFamily="2" charset="2"/>
              <a:buChar char="Ø"/>
            </a:pPr>
            <a:r>
              <a:rPr lang="en-US" sz="2400" dirty="0" smtClean="0">
                <a:latin typeface="Tahoma" panose="020B0604030504040204" pitchFamily="34" charset="0"/>
                <a:ea typeface="Tahoma" panose="020B0604030504040204" pitchFamily="34" charset="0"/>
                <a:cs typeface="Tahoma" panose="020B0604030504040204" pitchFamily="34" charset="0"/>
              </a:rPr>
              <a:t>Class </a:t>
            </a:r>
            <a:r>
              <a:rPr lang="en-US" sz="2400" dirty="0">
                <a:latin typeface="Tahoma" panose="020B0604030504040204" pitchFamily="34" charset="0"/>
                <a:ea typeface="Tahoma" panose="020B0604030504040204" pitchFamily="34" charset="0"/>
                <a:cs typeface="Tahoma" panose="020B0604030504040204" pitchFamily="34" charset="0"/>
              </a:rPr>
              <a:t>Diagrams, Sequence Diagrams, Activity Diagrams</a:t>
            </a:r>
          </a:p>
          <a:p>
            <a:pPr marL="342900" indent="-342900">
              <a:lnSpc>
                <a:spcPct val="150000"/>
              </a:lnSpc>
              <a:buFont typeface="Wingdings" panose="05000000000000000000" pitchFamily="2" charset="2"/>
              <a:buChar char="Ø"/>
            </a:pPr>
            <a:r>
              <a:rPr lang="en-US" sz="2400" dirty="0" smtClean="0">
                <a:latin typeface="Tahoma" panose="020B0604030504040204" pitchFamily="34" charset="0"/>
                <a:ea typeface="Tahoma" panose="020B0604030504040204" pitchFamily="34" charset="0"/>
                <a:cs typeface="Tahoma" panose="020B0604030504040204" pitchFamily="34" charset="0"/>
              </a:rPr>
              <a:t>Software </a:t>
            </a:r>
            <a:r>
              <a:rPr lang="en-US" sz="2400" dirty="0">
                <a:latin typeface="Tahoma" panose="020B0604030504040204" pitchFamily="34" charset="0"/>
                <a:ea typeface="Tahoma" panose="020B0604030504040204" pitchFamily="34" charset="0"/>
                <a:cs typeface="Tahoma" panose="020B0604030504040204" pitchFamily="34" charset="0"/>
              </a:rPr>
              <a:t>Design Patterns</a:t>
            </a:r>
          </a:p>
          <a:p>
            <a:pPr marL="342900" indent="-342900">
              <a:lnSpc>
                <a:spcPct val="150000"/>
              </a:lnSpc>
              <a:buFont typeface="Wingdings" panose="05000000000000000000" pitchFamily="2" charset="2"/>
              <a:buChar char="Ø"/>
            </a:pPr>
            <a:r>
              <a:rPr lang="en-US" sz="2400" dirty="0" smtClean="0">
                <a:latin typeface="Tahoma" panose="020B0604030504040204" pitchFamily="34" charset="0"/>
                <a:ea typeface="Tahoma" panose="020B0604030504040204" pitchFamily="34" charset="0"/>
                <a:cs typeface="Tahoma" panose="020B0604030504040204" pitchFamily="34" charset="0"/>
              </a:rPr>
              <a:t>Creating </a:t>
            </a:r>
            <a:r>
              <a:rPr lang="en-US" sz="2400" dirty="0">
                <a:latin typeface="Tahoma" panose="020B0604030504040204" pitchFamily="34" charset="0"/>
                <a:ea typeface="Tahoma" panose="020B0604030504040204" pitchFamily="34" charset="0"/>
                <a:cs typeface="Tahoma" panose="020B0604030504040204" pitchFamily="34" charset="0"/>
              </a:rPr>
              <a:t>Class and Sequence Diagrams</a:t>
            </a:r>
          </a:p>
          <a:p>
            <a:pPr marL="342900" indent="-342900">
              <a:lnSpc>
                <a:spcPct val="150000"/>
              </a:lnSpc>
              <a:buFont typeface="Wingdings" panose="05000000000000000000" pitchFamily="2" charset="2"/>
              <a:buChar char="Ø"/>
            </a:pPr>
            <a:r>
              <a:rPr lang="en-US" sz="2400" dirty="0" smtClean="0">
                <a:latin typeface="Tahoma" panose="020B0604030504040204" pitchFamily="34" charset="0"/>
                <a:ea typeface="Tahoma" panose="020B0604030504040204" pitchFamily="34" charset="0"/>
                <a:cs typeface="Tahoma" panose="020B0604030504040204" pitchFamily="34" charset="0"/>
              </a:rPr>
              <a:t>Designing </a:t>
            </a:r>
            <a:r>
              <a:rPr lang="en-US" sz="2400" dirty="0">
                <a:latin typeface="Tahoma" panose="020B0604030504040204" pitchFamily="34" charset="0"/>
                <a:ea typeface="Tahoma" panose="020B0604030504040204" pitchFamily="34" charset="0"/>
                <a:cs typeface="Tahoma" panose="020B0604030504040204" pitchFamily="34" charset="0"/>
              </a:rPr>
              <a:t>Software Architecture Using UML</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2171472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 </a:t>
            </a:r>
            <a:r>
              <a:rPr lang="en-US" sz="2800" dirty="0" smtClean="0"/>
              <a:t>Unified Modeling Language</a:t>
            </a:r>
            <a:r>
              <a:rPr lang="en-US" sz="2800" dirty="0" smtClean="0"/>
              <a:t>:</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586519"/>
            <a:ext cx="10515600" cy="4351338"/>
          </a:xfrm>
        </p:spPr>
        <p:txBody>
          <a:bodyPr>
            <a:normAutofit/>
          </a:bodyPr>
          <a:lstStyle/>
          <a:p>
            <a:pPr marL="0" indent="0" algn="just">
              <a:lnSpc>
                <a:spcPct val="110000"/>
              </a:lnSpc>
              <a:buNone/>
            </a:pPr>
            <a:r>
              <a:rPr lang="en-US" dirty="0" smtClean="0"/>
              <a:t>Unified </a:t>
            </a:r>
            <a:r>
              <a:rPr lang="en-US" dirty="0"/>
              <a:t>Modeling Language (UML) is a standardized general-purpose modeling language used in software engineering to visualize, design, and document software systems. It provides a set of graphical notation techniques to create abstract models of systems, making it easier to understand, discuss, and improve software design. UML is not a programming language, but it helps in planning and visualizing software before coding.  </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016491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 </a:t>
            </a:r>
            <a:r>
              <a:rPr lang="en-US" sz="2800" dirty="0" smtClean="0"/>
              <a:t>    </a:t>
            </a:r>
            <a:r>
              <a:rPr lang="en-US" sz="2800" dirty="0" smtClean="0"/>
              <a:t>Purpose and Uses of UML:</a:t>
            </a:r>
            <a:endParaRPr lang="en-US" sz="2800"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
        <p:nvSpPr>
          <p:cNvPr id="3" name="Content Placeholder 2"/>
          <p:cNvSpPr>
            <a:spLocks noGrp="1"/>
          </p:cNvSpPr>
          <p:nvPr>
            <p:ph idx="1"/>
          </p:nvPr>
        </p:nvSpPr>
        <p:spPr>
          <a:xfrm>
            <a:off x="838200" y="1864814"/>
            <a:ext cx="10515600" cy="4351338"/>
          </a:xfrm>
        </p:spPr>
        <p:txBody>
          <a:bodyPr/>
          <a:lstStyle/>
          <a:p>
            <a:pPr>
              <a:buFont typeface="Wingdings" panose="05000000000000000000" pitchFamily="2" charset="2"/>
              <a:buChar char="Ø"/>
            </a:pPr>
            <a:r>
              <a:rPr lang="en-US" dirty="0" smtClean="0"/>
              <a:t> Helps </a:t>
            </a:r>
            <a:r>
              <a:rPr lang="en-US" dirty="0"/>
              <a:t>in </a:t>
            </a:r>
            <a:r>
              <a:rPr lang="en-US" b="1" dirty="0"/>
              <a:t>software design &amp; architecture</a:t>
            </a:r>
            <a:r>
              <a:rPr lang="en-US" dirty="0"/>
              <a:t>.</a:t>
            </a:r>
          </a:p>
          <a:p>
            <a:pPr>
              <a:buFont typeface="Wingdings" panose="05000000000000000000" pitchFamily="2" charset="2"/>
              <a:buChar char="Ø"/>
            </a:pPr>
            <a:r>
              <a:rPr lang="en-US" dirty="0" smtClean="0"/>
              <a:t> Improves</a:t>
            </a:r>
            <a:r>
              <a:rPr lang="en-US" dirty="0"/>
              <a:t> </a:t>
            </a:r>
            <a:r>
              <a:rPr lang="en-US" b="1" dirty="0"/>
              <a:t>communication</a:t>
            </a:r>
            <a:r>
              <a:rPr lang="en-US" dirty="0"/>
              <a:t> among stakeholders.</a:t>
            </a:r>
          </a:p>
          <a:p>
            <a:pPr>
              <a:buFont typeface="Wingdings" panose="05000000000000000000" pitchFamily="2" charset="2"/>
              <a:buChar char="Ø"/>
            </a:pPr>
            <a:r>
              <a:rPr lang="en-US" dirty="0" smtClean="0"/>
              <a:t> Supports</a:t>
            </a:r>
            <a:r>
              <a:rPr lang="en-US" dirty="0"/>
              <a:t> </a:t>
            </a:r>
            <a:r>
              <a:rPr lang="en-US" b="1" dirty="0"/>
              <a:t>documentation</a:t>
            </a:r>
            <a:r>
              <a:rPr lang="en-US" dirty="0"/>
              <a:t> for future maintenance.</a:t>
            </a:r>
          </a:p>
          <a:p>
            <a:pPr>
              <a:buFont typeface="Wingdings" panose="05000000000000000000" pitchFamily="2" charset="2"/>
              <a:buChar char="Ø"/>
            </a:pPr>
            <a:r>
              <a:rPr lang="en-US" dirty="0" smtClean="0"/>
              <a:t> Enables</a:t>
            </a:r>
            <a:r>
              <a:rPr lang="en-US" dirty="0"/>
              <a:t> </a:t>
            </a:r>
            <a:r>
              <a:rPr lang="en-US" b="1" dirty="0"/>
              <a:t>model-driven development (MDD</a:t>
            </a:r>
            <a:r>
              <a:rPr lang="en-US" b="1" dirty="0" smtClean="0"/>
              <a:t>)</a:t>
            </a:r>
            <a:r>
              <a:rPr lang="en-US" dirty="0" smtClean="0"/>
              <a:t>.</a:t>
            </a:r>
          </a:p>
          <a:p>
            <a:pPr marL="0" indent="0">
              <a:buNone/>
            </a:pPr>
            <a:r>
              <a:rPr lang="en-US" b="1" dirty="0" smtClean="0">
                <a:solidFill>
                  <a:srgbClr val="404040"/>
                </a:solidFill>
                <a:latin typeface="DeepSeek-CJK-patch"/>
              </a:rPr>
              <a:t>                     </a:t>
            </a:r>
            <a:r>
              <a:rPr lang="en-US" b="1" dirty="0" smtClean="0"/>
              <a:t>Common Uses</a:t>
            </a:r>
            <a:endParaRPr lang="en-US" b="1" dirty="0"/>
          </a:p>
          <a:p>
            <a:r>
              <a:rPr lang="en-US" dirty="0"/>
              <a:t>Software development (OOP)</a:t>
            </a:r>
          </a:p>
          <a:p>
            <a:r>
              <a:rPr lang="en-US" dirty="0"/>
              <a:t>Business process modeling</a:t>
            </a:r>
          </a:p>
          <a:p>
            <a:r>
              <a:rPr lang="en-US" dirty="0"/>
              <a:t>System design &amp; documentation</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799016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p:txBody>
          <a:bodyPr>
            <a:noAutofit/>
          </a:bodyPr>
          <a:lstStyle/>
          <a:p>
            <a:pPr>
              <a:lnSpc>
                <a:spcPct val="100000"/>
              </a:lnSpc>
            </a:pPr>
            <a:r>
              <a:rPr lang="en-US" sz="2800" dirty="0" smtClean="0"/>
              <a:t>Types of UML Diagrams</a:t>
            </a:r>
            <a:r>
              <a:rPr lang="en-US" sz="2800" dirty="0" smtClean="0"/>
              <a:t>:</a:t>
            </a:r>
            <a:endParaRPr lang="en-US" sz="2800" dirty="0"/>
          </a:p>
        </p:txBody>
      </p:sp>
      <p:sp>
        <p:nvSpPr>
          <p:cNvPr id="4" name="Content Placeholder 3"/>
          <p:cNvSpPr>
            <a:spLocks noGrp="1"/>
          </p:cNvSpPr>
          <p:nvPr>
            <p:ph sz="half" idx="1"/>
          </p:nvPr>
        </p:nvSpPr>
        <p:spPr>
          <a:xfrm>
            <a:off x="433251" y="1669237"/>
            <a:ext cx="5640978" cy="4351338"/>
          </a:xfrm>
        </p:spPr>
        <p:txBody>
          <a:bodyPr>
            <a:normAutofit/>
          </a:bodyPr>
          <a:lstStyle/>
          <a:p>
            <a:pPr marL="0" indent="0">
              <a:buNone/>
            </a:pPr>
            <a:r>
              <a:rPr lang="en-US" b="1" dirty="0"/>
              <a:t>Structural Diagrams</a:t>
            </a:r>
            <a:r>
              <a:rPr lang="en-US" dirty="0"/>
              <a:t> (static structure):</a:t>
            </a:r>
          </a:p>
          <a:p>
            <a:pPr lvl="1"/>
            <a:r>
              <a:rPr lang="en-US" dirty="0"/>
              <a:t>Class Diagram</a:t>
            </a:r>
          </a:p>
          <a:p>
            <a:pPr lvl="1"/>
            <a:r>
              <a:rPr lang="en-US" dirty="0"/>
              <a:t>Object Diagram</a:t>
            </a:r>
          </a:p>
          <a:p>
            <a:pPr lvl="1"/>
            <a:r>
              <a:rPr lang="en-US" dirty="0"/>
              <a:t>Component Diagram</a:t>
            </a:r>
          </a:p>
          <a:p>
            <a:pPr lvl="1"/>
            <a:r>
              <a:rPr lang="en-US" dirty="0"/>
              <a:t>Deployment Diagram</a:t>
            </a:r>
          </a:p>
          <a:p>
            <a:pPr lvl="1"/>
            <a:r>
              <a:rPr lang="en-US" dirty="0"/>
              <a:t>Package Diagram</a:t>
            </a:r>
          </a:p>
          <a:p>
            <a:pPr lvl="1"/>
            <a:r>
              <a:rPr lang="en-US" dirty="0"/>
              <a:t>Composite Structure Diagram</a:t>
            </a:r>
          </a:p>
          <a:p>
            <a:pPr marL="0" indent="0">
              <a:buNone/>
            </a:pPr>
            <a:endParaRPr lang="en-US" dirty="0"/>
          </a:p>
        </p:txBody>
      </p:sp>
      <p:sp>
        <p:nvSpPr>
          <p:cNvPr id="6" name="Content Placeholder 5"/>
          <p:cNvSpPr>
            <a:spLocks noGrp="1"/>
          </p:cNvSpPr>
          <p:nvPr>
            <p:ph sz="half" idx="2"/>
          </p:nvPr>
        </p:nvSpPr>
        <p:spPr>
          <a:xfrm>
            <a:off x="6172200" y="1561925"/>
            <a:ext cx="5466806" cy="4351338"/>
          </a:xfrm>
        </p:spPr>
        <p:txBody>
          <a:bodyPr>
            <a:normAutofit/>
          </a:bodyPr>
          <a:lstStyle/>
          <a:p>
            <a:r>
              <a:rPr lang="en-US" b="1" dirty="0"/>
              <a:t>Behavioral Diagrams</a:t>
            </a:r>
            <a:r>
              <a:rPr lang="en-US" dirty="0"/>
              <a:t> (dynamic behavior):</a:t>
            </a:r>
          </a:p>
          <a:p>
            <a:pPr lvl="1"/>
            <a:r>
              <a:rPr lang="en-US" dirty="0"/>
              <a:t>Use Case Diagram</a:t>
            </a:r>
          </a:p>
          <a:p>
            <a:pPr lvl="1"/>
            <a:r>
              <a:rPr lang="en-US" dirty="0"/>
              <a:t>Activity Diagram</a:t>
            </a:r>
          </a:p>
          <a:p>
            <a:pPr lvl="1"/>
            <a:r>
              <a:rPr lang="en-US" dirty="0"/>
              <a:t>State Machine Diagram</a:t>
            </a:r>
          </a:p>
          <a:p>
            <a:pPr lvl="1"/>
            <a:r>
              <a:rPr lang="en-US" dirty="0"/>
              <a:t>Interaction Diagrams:</a:t>
            </a:r>
          </a:p>
          <a:p>
            <a:pPr lvl="2"/>
            <a:r>
              <a:rPr lang="en-US" dirty="0"/>
              <a:t>Sequence Diagram</a:t>
            </a:r>
          </a:p>
          <a:p>
            <a:pPr lvl="2"/>
            <a:r>
              <a:rPr lang="en-US" dirty="0"/>
              <a:t>Communication Diagram (formerly Collaboration Diagram)</a:t>
            </a:r>
          </a:p>
          <a:p>
            <a:pPr lvl="2"/>
            <a:r>
              <a:rPr lang="en-US" dirty="0"/>
              <a:t>Timing Diagram</a:t>
            </a:r>
          </a:p>
          <a:p>
            <a:pPr lvl="2"/>
            <a:r>
              <a:rPr lang="en-US" dirty="0"/>
              <a:t>Interaction Overview Diagram</a:t>
            </a:r>
          </a:p>
          <a:p>
            <a:pPr marL="0" indent="0">
              <a:buNone/>
            </a:pP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070798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p:txBody>
          <a:bodyPr>
            <a:noAutofit/>
          </a:bodyPr>
          <a:lstStyle/>
          <a:p>
            <a:pPr>
              <a:lnSpc>
                <a:spcPct val="100000"/>
              </a:lnSpc>
            </a:pPr>
            <a:r>
              <a:rPr lang="en-US" sz="2800" dirty="0"/>
              <a:t>Structural UML Diagrams (Focus on Static System Structure)</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sz="half" idx="1"/>
          </p:nvPr>
        </p:nvSpPr>
        <p:spPr/>
        <p:txBody>
          <a:bodyPr>
            <a:normAutofit/>
          </a:bodyPr>
          <a:lstStyle/>
          <a:p>
            <a:pPr marL="0" indent="0">
              <a:buNone/>
            </a:pPr>
            <a:endParaRPr lang="en-US" b="1" dirty="0"/>
          </a:p>
          <a:p>
            <a:pPr marL="0" indent="0">
              <a:buNone/>
            </a:pPr>
            <a:endParaRPr lang="en-US" dirty="0"/>
          </a:p>
        </p:txBody>
      </p:sp>
      <p:sp>
        <p:nvSpPr>
          <p:cNvPr id="7" name="Content Placeholder 6"/>
          <p:cNvSpPr>
            <a:spLocks noGrp="1"/>
          </p:cNvSpPr>
          <p:nvPr>
            <p:ph sz="half" idx="2"/>
          </p:nvPr>
        </p:nvSpPr>
        <p:spPr>
          <a:xfrm>
            <a:off x="6172200" y="1512849"/>
            <a:ext cx="5181600" cy="4664114"/>
          </a:xfrm>
        </p:spPr>
        <p:txBody>
          <a:bodyPr>
            <a:normAutofit/>
          </a:bodyPr>
          <a:lstStyle/>
          <a:p>
            <a:pPr marL="0" indent="0">
              <a:buNone/>
            </a:pPr>
            <a:r>
              <a:rPr lang="en-US" sz="2400" b="1" dirty="0"/>
              <a:t>Key Components of a Class </a:t>
            </a:r>
            <a:r>
              <a:rPr lang="en-US" sz="2400" b="1" dirty="0" smtClean="0"/>
              <a:t>Diagram</a:t>
            </a:r>
          </a:p>
          <a:p>
            <a:pPr marL="0" indent="0">
              <a:buNone/>
            </a:pPr>
            <a:r>
              <a:rPr lang="en-US" sz="2400" dirty="0"/>
              <a:t>Class</a:t>
            </a:r>
          </a:p>
          <a:p>
            <a:r>
              <a:rPr lang="en-US" sz="2400" dirty="0"/>
              <a:t>Represents an object type (e.g., Car, Student, </a:t>
            </a:r>
            <a:r>
              <a:rPr lang="en-US" sz="2400" dirty="0" err="1"/>
              <a:t>BankAccount</a:t>
            </a:r>
            <a:r>
              <a:rPr lang="en-US" sz="2400" dirty="0" smtClean="0"/>
              <a:t>).</a:t>
            </a:r>
            <a:endParaRPr lang="en-US" sz="2400" dirty="0"/>
          </a:p>
          <a:p>
            <a:r>
              <a:rPr lang="en-US" sz="2400" dirty="0"/>
              <a:t>Divided into 3 compartments</a:t>
            </a:r>
            <a:r>
              <a:rPr lang="en-US" sz="2400" dirty="0" smtClean="0"/>
              <a:t>:</a:t>
            </a:r>
            <a:endParaRPr lang="en-US" sz="2400" dirty="0"/>
          </a:p>
          <a:p>
            <a:pPr>
              <a:buFont typeface="Wingdings" panose="05000000000000000000" pitchFamily="2" charset="2"/>
              <a:buChar char="ü"/>
            </a:pPr>
            <a:r>
              <a:rPr lang="en-US" sz="2400" dirty="0" smtClean="0"/>
              <a:t> Class </a:t>
            </a:r>
            <a:r>
              <a:rPr lang="en-US" sz="2400" dirty="0"/>
              <a:t>Name (e.g., User</a:t>
            </a:r>
            <a:r>
              <a:rPr lang="en-US" sz="2400" dirty="0" smtClean="0"/>
              <a:t>).</a:t>
            </a:r>
            <a:endParaRPr lang="en-US" sz="2400" dirty="0"/>
          </a:p>
          <a:p>
            <a:pPr>
              <a:buFont typeface="Wingdings" panose="05000000000000000000" pitchFamily="2" charset="2"/>
              <a:buChar char="ü"/>
            </a:pPr>
            <a:r>
              <a:rPr lang="en-US" sz="2400" dirty="0"/>
              <a:t>Attributes (e.g., username, password</a:t>
            </a:r>
            <a:r>
              <a:rPr lang="en-US" sz="2400" dirty="0" smtClean="0"/>
              <a:t>).</a:t>
            </a:r>
            <a:endParaRPr lang="en-US" sz="2400" dirty="0"/>
          </a:p>
          <a:p>
            <a:pPr>
              <a:buFont typeface="Wingdings" panose="05000000000000000000" pitchFamily="2" charset="2"/>
              <a:buChar char="ü"/>
            </a:pPr>
            <a:r>
              <a:rPr lang="en-US" sz="2400" dirty="0"/>
              <a:t>Methods (e.g., login(), logout()).</a:t>
            </a:r>
          </a:p>
          <a:p>
            <a:pPr marL="0" indent="0">
              <a:buNone/>
            </a:pP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515822"/>
            <a:ext cx="10515600" cy="205653"/>
          </a:xfrm>
        </p:spPr>
        <p:txBody>
          <a:bodyPr/>
          <a:lstStyle/>
          <a:p>
            <a:r>
              <a:rPr lang="en-GB" dirty="0"/>
              <a:t>ALL RIGHTS RESERVED
No part of this document may be reproduced without written approval from Limkokwing University of Creative Technology, Sierra Leone Campus</a:t>
            </a:r>
            <a:endParaRPr lang="en-SL" dirty="0"/>
          </a:p>
        </p:txBody>
      </p:sp>
      <p:sp>
        <p:nvSpPr>
          <p:cNvPr id="4" name="Rectangle 3"/>
          <p:cNvSpPr/>
          <p:nvPr/>
        </p:nvSpPr>
        <p:spPr>
          <a:xfrm>
            <a:off x="838200" y="1353377"/>
            <a:ext cx="5334000" cy="5002973"/>
          </a:xfrm>
          <a:prstGeom prst="rect">
            <a:avLst/>
          </a:prstGeom>
        </p:spPr>
        <p:txBody>
          <a:bodyPr wrap="square">
            <a:spAutoFit/>
          </a:bodyPr>
          <a:lstStyle/>
          <a:p>
            <a:pPr>
              <a:lnSpc>
                <a:spcPct val="150000"/>
              </a:lnSpc>
            </a:pPr>
            <a:r>
              <a:rPr lang="en-US" sz="2400" dirty="0" smtClean="0">
                <a:latin typeface="Tahoma" panose="020B0604030504040204" pitchFamily="34" charset="0"/>
                <a:ea typeface="Tahoma" panose="020B0604030504040204" pitchFamily="34" charset="0"/>
                <a:cs typeface="Tahoma" panose="020B0604030504040204" pitchFamily="34" charset="0"/>
              </a:rPr>
              <a:t>1. A</a:t>
            </a:r>
            <a:r>
              <a:rPr lang="en-US" sz="2400" dirty="0">
                <a:latin typeface="Tahoma" panose="020B0604030504040204" pitchFamily="34" charset="0"/>
                <a:ea typeface="Tahoma" panose="020B0604030504040204" pitchFamily="34" charset="0"/>
                <a:cs typeface="Tahoma" panose="020B0604030504040204" pitchFamily="34" charset="0"/>
              </a:rPr>
              <a:t> </a:t>
            </a:r>
            <a:r>
              <a:rPr lang="en-US" sz="2400" b="1" dirty="0">
                <a:latin typeface="Tahoma" panose="020B0604030504040204" pitchFamily="34" charset="0"/>
                <a:ea typeface="Tahoma" panose="020B0604030504040204" pitchFamily="34" charset="0"/>
                <a:cs typeface="Tahoma" panose="020B0604030504040204" pitchFamily="34" charset="0"/>
              </a:rPr>
              <a:t>Class Diagram</a:t>
            </a:r>
            <a:r>
              <a:rPr lang="en-US" sz="2400" dirty="0">
                <a:latin typeface="Tahoma" panose="020B0604030504040204" pitchFamily="34" charset="0"/>
                <a:ea typeface="Tahoma" panose="020B0604030504040204" pitchFamily="34" charset="0"/>
                <a:cs typeface="Tahoma" panose="020B0604030504040204" pitchFamily="34" charset="0"/>
              </a:rPr>
              <a:t> is a </a:t>
            </a:r>
            <a:r>
              <a:rPr lang="en-US" sz="2400" b="1" dirty="0">
                <a:latin typeface="Tahoma" panose="020B0604030504040204" pitchFamily="34" charset="0"/>
                <a:ea typeface="Tahoma" panose="020B0604030504040204" pitchFamily="34" charset="0"/>
                <a:cs typeface="Tahoma" panose="020B0604030504040204" pitchFamily="34" charset="0"/>
              </a:rPr>
              <a:t>structural UML diagram</a:t>
            </a:r>
            <a:r>
              <a:rPr lang="en-US" sz="2400" dirty="0">
                <a:latin typeface="Tahoma" panose="020B0604030504040204" pitchFamily="34" charset="0"/>
                <a:ea typeface="Tahoma" panose="020B0604030504040204" pitchFamily="34" charset="0"/>
                <a:cs typeface="Tahoma" panose="020B0604030504040204" pitchFamily="34" charset="0"/>
              </a:rPr>
              <a:t> that represents the </a:t>
            </a:r>
            <a:r>
              <a:rPr lang="en-US" sz="2400" b="1" dirty="0">
                <a:latin typeface="Tahoma" panose="020B0604030504040204" pitchFamily="34" charset="0"/>
                <a:ea typeface="Tahoma" panose="020B0604030504040204" pitchFamily="34" charset="0"/>
                <a:cs typeface="Tahoma" panose="020B0604030504040204" pitchFamily="34" charset="0"/>
              </a:rPr>
              <a:t>static structure of a system</a:t>
            </a:r>
            <a:r>
              <a:rPr lang="en-US" sz="2400" dirty="0">
                <a:latin typeface="Tahoma" panose="020B0604030504040204" pitchFamily="34" charset="0"/>
                <a:ea typeface="Tahoma" panose="020B0604030504040204" pitchFamily="34" charset="0"/>
                <a:cs typeface="Tahoma" panose="020B0604030504040204" pitchFamily="34" charset="0"/>
              </a:rPr>
              <a:t> by showing:</a:t>
            </a:r>
          </a:p>
          <a:p>
            <a:pPr>
              <a:lnSpc>
                <a:spcPct val="150000"/>
              </a:lnSpc>
              <a:buFont typeface="Arial" panose="020B0604020202020204" pitchFamily="34" charset="0"/>
              <a:buChar char="•"/>
            </a:pPr>
            <a:r>
              <a:rPr lang="en-US" sz="2400" b="1" dirty="0" smtClean="0">
                <a:latin typeface="Tahoma" panose="020B0604030504040204" pitchFamily="34" charset="0"/>
                <a:ea typeface="Tahoma" panose="020B0604030504040204" pitchFamily="34" charset="0"/>
                <a:cs typeface="Tahoma" panose="020B0604030504040204" pitchFamily="34" charset="0"/>
              </a:rPr>
              <a:t> Classes</a:t>
            </a:r>
            <a:r>
              <a:rPr lang="en-US" sz="2400" dirty="0">
                <a:latin typeface="Tahoma" panose="020B0604030504040204" pitchFamily="34" charset="0"/>
                <a:ea typeface="Tahoma" panose="020B0604030504040204" pitchFamily="34" charset="0"/>
                <a:cs typeface="Tahoma" panose="020B0604030504040204" pitchFamily="34" charset="0"/>
              </a:rPr>
              <a:t> (blueprints for objects),</a:t>
            </a:r>
          </a:p>
          <a:p>
            <a:pPr>
              <a:lnSpc>
                <a:spcPct val="150000"/>
              </a:lnSpc>
              <a:buFont typeface="Arial" panose="020B0604020202020204" pitchFamily="34" charset="0"/>
              <a:buChar char="•"/>
            </a:pPr>
            <a:r>
              <a:rPr lang="en-US" sz="2400" b="1" dirty="0" smtClean="0">
                <a:latin typeface="Tahoma" panose="020B0604030504040204" pitchFamily="34" charset="0"/>
                <a:ea typeface="Tahoma" panose="020B0604030504040204" pitchFamily="34" charset="0"/>
                <a:cs typeface="Tahoma" panose="020B0604030504040204" pitchFamily="34" charset="0"/>
              </a:rPr>
              <a:t> Attributes</a:t>
            </a:r>
            <a:r>
              <a:rPr lang="en-US" sz="2400" dirty="0">
                <a:latin typeface="Tahoma" panose="020B0604030504040204" pitchFamily="34" charset="0"/>
                <a:ea typeface="Tahoma" panose="020B0604030504040204" pitchFamily="34" charset="0"/>
                <a:cs typeface="Tahoma" panose="020B0604030504040204" pitchFamily="34" charset="0"/>
              </a:rPr>
              <a:t> (data/properties),</a:t>
            </a:r>
          </a:p>
          <a:p>
            <a:pPr>
              <a:lnSpc>
                <a:spcPct val="150000"/>
              </a:lnSpc>
              <a:buFont typeface="Arial" panose="020B0604020202020204" pitchFamily="34" charset="0"/>
              <a:buChar char="•"/>
            </a:pPr>
            <a:r>
              <a:rPr lang="en-US" sz="2400" b="1" dirty="0" smtClean="0">
                <a:latin typeface="Tahoma" panose="020B0604030504040204" pitchFamily="34" charset="0"/>
                <a:ea typeface="Tahoma" panose="020B0604030504040204" pitchFamily="34" charset="0"/>
                <a:cs typeface="Tahoma" panose="020B0604030504040204" pitchFamily="34" charset="0"/>
              </a:rPr>
              <a:t> Methods</a:t>
            </a:r>
            <a:r>
              <a:rPr lang="en-US" sz="2400" dirty="0">
                <a:latin typeface="Tahoma" panose="020B0604030504040204" pitchFamily="34" charset="0"/>
                <a:ea typeface="Tahoma" panose="020B0604030504040204" pitchFamily="34" charset="0"/>
                <a:cs typeface="Tahoma" panose="020B0604030504040204" pitchFamily="34" charset="0"/>
              </a:rPr>
              <a:t> (functions/behaviors),</a:t>
            </a:r>
          </a:p>
          <a:p>
            <a:pPr>
              <a:lnSpc>
                <a:spcPct val="150000"/>
              </a:lnSpc>
              <a:buFont typeface="Arial" panose="020B0604020202020204" pitchFamily="34" charset="0"/>
              <a:buChar char="•"/>
            </a:pPr>
            <a:r>
              <a:rPr lang="en-US" sz="2400" b="1" dirty="0" smtClean="0">
                <a:latin typeface="Tahoma" panose="020B0604030504040204" pitchFamily="34" charset="0"/>
                <a:ea typeface="Tahoma" panose="020B0604030504040204" pitchFamily="34" charset="0"/>
                <a:cs typeface="Tahoma" panose="020B0604030504040204" pitchFamily="34" charset="0"/>
              </a:rPr>
              <a:t> Relationships</a:t>
            </a:r>
            <a:r>
              <a:rPr lang="en-US" sz="2400" dirty="0">
                <a:latin typeface="Tahoma" panose="020B0604030504040204" pitchFamily="34" charset="0"/>
                <a:ea typeface="Tahoma" panose="020B0604030504040204" pitchFamily="34" charset="0"/>
                <a:cs typeface="Tahoma" panose="020B0604030504040204" pitchFamily="34" charset="0"/>
              </a:rPr>
              <a:t> between classes (e.g., inheritance, association).</a:t>
            </a:r>
            <a:endParaRPr lang="en-US" sz="2400" b="0" i="0" dirty="0">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45667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 </a:t>
            </a:r>
            <a:r>
              <a:rPr lang="en-US" sz="2800" dirty="0" err="1" smtClean="0"/>
              <a:t>Cont</a:t>
            </a:r>
            <a:r>
              <a:rPr lang="en-US" sz="2800" dirty="0" smtClean="0"/>
              <a:t>…</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637206"/>
            <a:ext cx="11075894" cy="4351338"/>
          </a:xfrm>
        </p:spPr>
        <p:txBody>
          <a:bodyPr>
            <a:normAutofit fontScale="85000" lnSpcReduction="20000"/>
          </a:bodyPr>
          <a:lstStyle/>
          <a:p>
            <a:pPr marL="0" indent="0">
              <a:buNone/>
            </a:pPr>
            <a:r>
              <a:rPr lang="en-US" dirty="0" smtClean="0"/>
              <a:t>2. Attributes </a:t>
            </a:r>
            <a:r>
              <a:rPr lang="en-US" dirty="0"/>
              <a:t>&amp; Methods</a:t>
            </a:r>
            <a:endParaRPr lang="en-US" dirty="0"/>
          </a:p>
          <a:p>
            <a:pPr marL="0" indent="0">
              <a:buNone/>
            </a:pPr>
            <a:r>
              <a:rPr lang="en-US" dirty="0" smtClean="0"/>
              <a:t>Attributes</a:t>
            </a:r>
            <a:r>
              <a:rPr lang="en-US" dirty="0"/>
              <a:t>: Variables/properties (e.g., -age: </a:t>
            </a:r>
            <a:r>
              <a:rPr lang="en-US" dirty="0" err="1"/>
              <a:t>int</a:t>
            </a:r>
            <a:r>
              <a:rPr lang="en-US" dirty="0" smtClean="0"/>
              <a:t>).</a:t>
            </a:r>
            <a:endParaRPr lang="en-US" dirty="0"/>
          </a:p>
          <a:p>
            <a:pPr marL="0" indent="0">
              <a:buNone/>
            </a:pPr>
            <a:r>
              <a:rPr lang="en-US" dirty="0"/>
              <a:t>- = private, + = public, # = protected</a:t>
            </a:r>
            <a:r>
              <a:rPr lang="en-US" dirty="0" smtClean="0"/>
              <a:t>.</a:t>
            </a:r>
            <a:endParaRPr lang="en-US" dirty="0"/>
          </a:p>
          <a:p>
            <a:pPr marL="0" indent="0">
              <a:buNone/>
            </a:pPr>
            <a:r>
              <a:rPr lang="en-US" dirty="0"/>
              <a:t>Methods: Functions (e.g., +</a:t>
            </a:r>
            <a:r>
              <a:rPr lang="en-US" dirty="0" err="1"/>
              <a:t>calculateTotal</a:t>
            </a:r>
            <a:r>
              <a:rPr lang="en-US" dirty="0"/>
              <a:t>(): double</a:t>
            </a:r>
            <a:r>
              <a:rPr lang="en-US" dirty="0" smtClean="0"/>
              <a:t>).</a:t>
            </a:r>
          </a:p>
          <a:p>
            <a:pPr marL="0" indent="0">
              <a:buNone/>
            </a:pPr>
            <a:r>
              <a:rPr lang="en-US" dirty="0"/>
              <a:t>3. Relationships</a:t>
            </a:r>
          </a:p>
          <a:p>
            <a:pPr marL="0" indent="0">
              <a:buNone/>
            </a:pPr>
            <a:r>
              <a:rPr lang="en-US" dirty="0"/>
              <a:t>Type	</a:t>
            </a:r>
            <a:r>
              <a:rPr lang="en-US" dirty="0" smtClean="0"/>
              <a:t>                      Notation</a:t>
            </a:r>
            <a:r>
              <a:rPr lang="en-US" dirty="0"/>
              <a:t>	</a:t>
            </a:r>
            <a:r>
              <a:rPr lang="en-US" dirty="0" smtClean="0"/>
              <a:t>                     Example</a:t>
            </a:r>
            <a:endParaRPr lang="en-US" dirty="0"/>
          </a:p>
          <a:p>
            <a:pPr marL="0" indent="0">
              <a:buNone/>
            </a:pPr>
            <a:r>
              <a:rPr lang="en-US" dirty="0"/>
              <a:t>Association	</a:t>
            </a:r>
            <a:r>
              <a:rPr lang="en-US" dirty="0" smtClean="0"/>
              <a:t>           ───</a:t>
            </a:r>
            <a:r>
              <a:rPr lang="en-US" dirty="0"/>
              <a:t>	</a:t>
            </a:r>
            <a:r>
              <a:rPr lang="en-US" dirty="0" smtClean="0"/>
              <a:t>                   Student </a:t>
            </a:r>
            <a:r>
              <a:rPr lang="en-US" dirty="0"/>
              <a:t>─── attends ─── Course</a:t>
            </a:r>
          </a:p>
          <a:p>
            <a:pPr marL="0" indent="0">
              <a:buNone/>
            </a:pPr>
            <a:r>
              <a:rPr lang="en-US" dirty="0"/>
              <a:t>Inheritance	</a:t>
            </a:r>
            <a:r>
              <a:rPr lang="en-US" dirty="0" smtClean="0"/>
              <a:t>     ◄─── </a:t>
            </a:r>
            <a:r>
              <a:rPr lang="en-US" dirty="0"/>
              <a:t>(triangle)	</a:t>
            </a:r>
            <a:r>
              <a:rPr lang="en-US" dirty="0" smtClean="0"/>
              <a:t>Car </a:t>
            </a:r>
            <a:r>
              <a:rPr lang="en-US" dirty="0"/>
              <a:t>◄─── </a:t>
            </a:r>
            <a:r>
              <a:rPr lang="en-US" dirty="0" err="1"/>
              <a:t>ElectricCar</a:t>
            </a:r>
            <a:endParaRPr lang="en-US" dirty="0"/>
          </a:p>
          <a:p>
            <a:pPr marL="0" indent="0">
              <a:buNone/>
            </a:pPr>
            <a:r>
              <a:rPr lang="en-US" dirty="0"/>
              <a:t>Aggregation	</a:t>
            </a:r>
            <a:r>
              <a:rPr lang="en-US" dirty="0" smtClean="0"/>
              <a:t>      ◇─── </a:t>
            </a:r>
            <a:r>
              <a:rPr lang="en-US" dirty="0"/>
              <a:t>(hollow)	</a:t>
            </a:r>
            <a:r>
              <a:rPr lang="en-US" dirty="0" smtClean="0"/>
              <a:t>          Department </a:t>
            </a:r>
            <a:r>
              <a:rPr lang="en-US" dirty="0"/>
              <a:t>◇─── Employee (weak)</a:t>
            </a:r>
          </a:p>
          <a:p>
            <a:pPr marL="0" indent="0">
              <a:buNone/>
            </a:pPr>
            <a:r>
              <a:rPr lang="en-US" dirty="0"/>
              <a:t>Composition	</a:t>
            </a:r>
            <a:r>
              <a:rPr lang="en-US" dirty="0" smtClean="0"/>
              <a:t>      ◆─── </a:t>
            </a:r>
            <a:r>
              <a:rPr lang="en-US" dirty="0"/>
              <a:t>(filled)	</a:t>
            </a:r>
            <a:r>
              <a:rPr lang="en-US" dirty="0" smtClean="0"/>
              <a:t>          Car </a:t>
            </a:r>
            <a:r>
              <a:rPr lang="en-US" dirty="0"/>
              <a:t>◆─── Engine (strong)</a:t>
            </a:r>
          </a:p>
          <a:p>
            <a:pPr marL="0" indent="0">
              <a:buNone/>
            </a:pPr>
            <a:r>
              <a:rPr lang="en-US" dirty="0"/>
              <a:t>Dependency	</a:t>
            </a:r>
            <a:r>
              <a:rPr lang="en-US" dirty="0" smtClean="0"/>
              <a:t>      ⤹─── </a:t>
            </a:r>
            <a:r>
              <a:rPr lang="en-US" dirty="0"/>
              <a:t>(dashed)	</a:t>
            </a:r>
            <a:r>
              <a:rPr lang="en-US" dirty="0" smtClean="0"/>
              <a:t>          Order </a:t>
            </a:r>
            <a:r>
              <a:rPr lang="en-US" dirty="0"/>
              <a:t>⤹─── Payment (temporary)</a:t>
            </a:r>
          </a:p>
          <a:p>
            <a:pPr marL="0" indent="0">
              <a:buNone/>
            </a:pP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60882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 Real-World Example: E-Commerce System:</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490557"/>
            <a:ext cx="10515600" cy="4351338"/>
          </a:xfrm>
        </p:spPr>
        <p:txBody>
          <a:bodyPr>
            <a:normAutofit/>
          </a:bodyPr>
          <a:lstStyle/>
          <a:p>
            <a:pPr marL="0" indent="0" algn="ctr">
              <a:buNone/>
            </a:pPr>
            <a:endParaRPr lang="en-US" sz="2400" dirty="0"/>
          </a:p>
          <a:p>
            <a:pPr marL="0" indent="0" algn="ctr">
              <a:buNone/>
            </a:pP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395" y="1648996"/>
            <a:ext cx="4493290" cy="4808958"/>
          </a:xfrm>
          <a:prstGeom prst="rect">
            <a:avLst/>
          </a:prstGeom>
        </p:spPr>
      </p:pic>
      <p:sp>
        <p:nvSpPr>
          <p:cNvPr id="9" name="TextBox 8"/>
          <p:cNvSpPr txBox="1"/>
          <p:nvPr/>
        </p:nvSpPr>
        <p:spPr>
          <a:xfrm>
            <a:off x="5466191" y="1361334"/>
            <a:ext cx="2319272" cy="4955203"/>
          </a:xfrm>
          <a:prstGeom prst="rect">
            <a:avLst/>
          </a:prstGeom>
          <a:noFill/>
        </p:spPr>
        <p:txBody>
          <a:bodyPr wrap="square" rtlCol="0">
            <a:spAutoFit/>
          </a:bodyPr>
          <a:lstStyle/>
          <a:p>
            <a:r>
              <a:rPr lang="en-US" sz="1200" dirty="0" smtClean="0">
                <a:solidFill>
                  <a:srgbClr val="FFC000"/>
                </a:solidFill>
              </a:rPr>
              <a:t>         </a:t>
            </a:r>
            <a:r>
              <a:rPr lang="en-US" sz="1600" dirty="0" smtClean="0">
                <a:solidFill>
                  <a:srgbClr val="FFC000"/>
                </a:solidFill>
                <a:latin typeface="Tahoma" panose="020B0604030504040204" pitchFamily="34" charset="0"/>
                <a:ea typeface="Tahoma" panose="020B0604030504040204" pitchFamily="34" charset="0"/>
                <a:cs typeface="Tahoma" panose="020B0604030504040204" pitchFamily="34" charset="0"/>
              </a:rPr>
              <a:t>CODE</a:t>
            </a:r>
          </a:p>
          <a:p>
            <a:r>
              <a:rPr lang="en-US" sz="1200" dirty="0" err="1" smtClean="0"/>
              <a:t>classDiagram</a:t>
            </a:r>
            <a:endParaRPr lang="en-US" sz="1200" dirty="0"/>
          </a:p>
          <a:p>
            <a:r>
              <a:rPr lang="en-US" sz="1200" dirty="0"/>
              <a:t>    class Customer {</a:t>
            </a:r>
          </a:p>
          <a:p>
            <a:r>
              <a:rPr lang="en-US" sz="1200" dirty="0"/>
              <a:t>        -id: String</a:t>
            </a:r>
          </a:p>
          <a:p>
            <a:r>
              <a:rPr lang="en-US" sz="1200" dirty="0"/>
              <a:t>        -name: String</a:t>
            </a:r>
          </a:p>
          <a:p>
            <a:r>
              <a:rPr lang="en-US" sz="1200" dirty="0"/>
              <a:t>        +</a:t>
            </a:r>
            <a:r>
              <a:rPr lang="en-US" sz="1200" dirty="0" err="1"/>
              <a:t>placeOrder</a:t>
            </a:r>
            <a:r>
              <a:rPr lang="en-US" sz="1200" dirty="0"/>
              <a:t>()</a:t>
            </a:r>
          </a:p>
          <a:p>
            <a:r>
              <a:rPr lang="en-US" sz="1200" dirty="0"/>
              <a:t>    }</a:t>
            </a:r>
          </a:p>
          <a:p>
            <a:r>
              <a:rPr lang="en-US" sz="1200" dirty="0"/>
              <a:t>    class Order {</a:t>
            </a:r>
          </a:p>
          <a:p>
            <a:r>
              <a:rPr lang="en-US" sz="1200" dirty="0"/>
              <a:t>        -</a:t>
            </a:r>
            <a:r>
              <a:rPr lang="en-US" sz="1200" dirty="0" err="1"/>
              <a:t>orderId</a:t>
            </a:r>
            <a:r>
              <a:rPr lang="en-US" sz="1200" dirty="0"/>
              <a:t>: String</a:t>
            </a:r>
          </a:p>
          <a:p>
            <a:r>
              <a:rPr lang="en-US" sz="1200" dirty="0"/>
              <a:t>        -date: Date</a:t>
            </a:r>
          </a:p>
          <a:p>
            <a:r>
              <a:rPr lang="en-US" sz="1200" dirty="0"/>
              <a:t>        +</a:t>
            </a:r>
            <a:r>
              <a:rPr lang="en-US" sz="1200" dirty="0" err="1"/>
              <a:t>calculateTotal</a:t>
            </a:r>
            <a:r>
              <a:rPr lang="en-US" sz="1200" dirty="0"/>
              <a:t>()</a:t>
            </a:r>
          </a:p>
          <a:p>
            <a:r>
              <a:rPr lang="en-US" sz="1200" dirty="0"/>
              <a:t>    }</a:t>
            </a:r>
          </a:p>
          <a:p>
            <a:r>
              <a:rPr lang="en-US" sz="1200" dirty="0"/>
              <a:t>    class Product {</a:t>
            </a:r>
          </a:p>
          <a:p>
            <a:r>
              <a:rPr lang="en-US" sz="1200" dirty="0"/>
              <a:t>        -</a:t>
            </a:r>
            <a:r>
              <a:rPr lang="en-US" sz="1200" dirty="0" err="1"/>
              <a:t>productId</a:t>
            </a:r>
            <a:r>
              <a:rPr lang="en-US" sz="1200" dirty="0"/>
              <a:t>: String</a:t>
            </a:r>
          </a:p>
          <a:p>
            <a:r>
              <a:rPr lang="en-US" sz="1200" dirty="0"/>
              <a:t>        -price: double</a:t>
            </a:r>
          </a:p>
          <a:p>
            <a:r>
              <a:rPr lang="en-US" sz="1200" dirty="0"/>
              <a:t>        +</a:t>
            </a:r>
            <a:r>
              <a:rPr lang="en-US" sz="1200" dirty="0" err="1"/>
              <a:t>checkStock</a:t>
            </a:r>
            <a:r>
              <a:rPr lang="en-US" sz="1200" dirty="0"/>
              <a:t>()</a:t>
            </a:r>
          </a:p>
          <a:p>
            <a:r>
              <a:rPr lang="en-US" sz="1200" dirty="0"/>
              <a:t>    }</a:t>
            </a:r>
          </a:p>
          <a:p>
            <a:r>
              <a:rPr lang="en-US" sz="1200" dirty="0"/>
              <a:t>    class Payment {</a:t>
            </a:r>
          </a:p>
          <a:p>
            <a:r>
              <a:rPr lang="en-US" sz="1200" dirty="0"/>
              <a:t>        -amount: double</a:t>
            </a:r>
          </a:p>
          <a:p>
            <a:r>
              <a:rPr lang="en-US" sz="1200" dirty="0"/>
              <a:t>        +</a:t>
            </a:r>
            <a:r>
              <a:rPr lang="en-US" sz="1200" dirty="0" err="1"/>
              <a:t>processPayment</a:t>
            </a:r>
            <a:r>
              <a:rPr lang="en-US" sz="1200" dirty="0"/>
              <a:t>()</a:t>
            </a:r>
          </a:p>
          <a:p>
            <a:r>
              <a:rPr lang="en-US" sz="1200" dirty="0"/>
              <a:t>    }</a:t>
            </a:r>
          </a:p>
          <a:p>
            <a:r>
              <a:rPr lang="en-US" sz="1200" dirty="0"/>
              <a:t>    Customer "1" --&gt; "*" Order : places</a:t>
            </a:r>
          </a:p>
          <a:p>
            <a:r>
              <a:rPr lang="en-US" sz="1200" dirty="0"/>
              <a:t>    Order "1" --&gt; "*" Product : contains</a:t>
            </a:r>
          </a:p>
          <a:p>
            <a:r>
              <a:rPr lang="en-US" sz="1200" dirty="0"/>
              <a:t>    Order "1" --&gt; "1" Payment : uses</a:t>
            </a:r>
          </a:p>
        </p:txBody>
      </p:sp>
      <p:sp>
        <p:nvSpPr>
          <p:cNvPr id="12" name="TextBox 11"/>
          <p:cNvSpPr txBox="1"/>
          <p:nvPr/>
        </p:nvSpPr>
        <p:spPr>
          <a:xfrm>
            <a:off x="8348382" y="1361334"/>
            <a:ext cx="2299063" cy="2585323"/>
          </a:xfrm>
          <a:prstGeom prst="rect">
            <a:avLst/>
          </a:prstGeom>
          <a:noFill/>
        </p:spPr>
        <p:txBody>
          <a:bodyPr wrap="square" rtlCol="0">
            <a:spAutoFit/>
          </a:bodyPr>
          <a:lstStyle/>
          <a:p>
            <a:r>
              <a:rPr lang="en-US" sz="1600" dirty="0">
                <a:solidFill>
                  <a:srgbClr val="FFC000"/>
                </a:solidFill>
                <a:latin typeface="Tahoma" panose="020B0604030504040204" pitchFamily="34" charset="0"/>
                <a:ea typeface="Tahoma" panose="020B0604030504040204" pitchFamily="34" charset="0"/>
                <a:cs typeface="Tahoma" panose="020B0604030504040204" pitchFamily="34" charset="0"/>
              </a:rPr>
              <a:t>Explanation:</a:t>
            </a:r>
          </a:p>
          <a:p>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A Customer can place multiple Orders</a:t>
            </a:r>
            <a:r>
              <a:rPr lang="en-US" dirty="0" smtClean="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An Order contains multiple Products</a:t>
            </a:r>
            <a:r>
              <a:rPr lang="en-US" dirty="0" smtClean="0">
                <a:latin typeface="Tahoma" panose="020B0604030504040204" pitchFamily="34" charset="0"/>
                <a:ea typeface="Tahoma" panose="020B0604030504040204" pitchFamily="34" charset="0"/>
                <a:cs typeface="Tahoma" panose="020B0604030504040204" pitchFamily="34" charset="0"/>
              </a:rPr>
              <a:t>.</a:t>
            </a: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Ø"/>
            </a:pPr>
            <a:r>
              <a:rPr lang="en-US" dirty="0">
                <a:latin typeface="Tahoma" panose="020B0604030504040204" pitchFamily="34" charset="0"/>
                <a:ea typeface="Tahoma" panose="020B0604030504040204" pitchFamily="34" charset="0"/>
                <a:cs typeface="Tahoma" panose="020B0604030504040204" pitchFamily="34" charset="0"/>
              </a:rPr>
              <a:t>Each Order uses one Payment.</a:t>
            </a:r>
          </a:p>
        </p:txBody>
      </p:sp>
      <p:sp>
        <p:nvSpPr>
          <p:cNvPr id="13" name="Rectangle 12"/>
          <p:cNvSpPr/>
          <p:nvPr/>
        </p:nvSpPr>
        <p:spPr>
          <a:xfrm>
            <a:off x="2313623" y="1321280"/>
            <a:ext cx="1109599" cy="338554"/>
          </a:xfrm>
          <a:prstGeom prst="rect">
            <a:avLst/>
          </a:prstGeom>
          <a:noFill/>
        </p:spPr>
        <p:txBody>
          <a:bodyPr wrap="none" lIns="91440" tIns="45720" rIns="91440" bIns="45720">
            <a:spAutoFit/>
          </a:bodyPr>
          <a:lstStyle/>
          <a:p>
            <a:pPr algn="ctr"/>
            <a:r>
              <a:rPr lang="en-US" sz="1600" b="1" spc="50" dirty="0" smtClean="0">
                <a:ln w="0"/>
                <a:solidFill>
                  <a:srgbClr val="FFC000"/>
                </a:solidFill>
                <a:effectLst>
                  <a:innerShdw blurRad="63500" dist="50800" dir="13500000">
                    <a:srgbClr val="000000">
                      <a:alpha val="50000"/>
                    </a:srgbClr>
                  </a:innerShdw>
                </a:effectLst>
                <a:latin typeface="Tahoma" panose="020B0604030504040204" pitchFamily="34" charset="0"/>
                <a:ea typeface="Tahoma" panose="020B0604030504040204" pitchFamily="34" charset="0"/>
                <a:cs typeface="Tahoma" panose="020B0604030504040204" pitchFamily="34" charset="0"/>
              </a:rPr>
              <a:t>Diagram</a:t>
            </a:r>
            <a:endParaRPr lang="en-US" sz="1600" b="1" cap="none" spc="50" dirty="0">
              <a:ln w="0"/>
              <a:solidFill>
                <a:srgbClr val="FFC000"/>
              </a:solidFill>
              <a:effectLst>
                <a:innerShdw blurRad="63500" dist="50800" dir="13500000">
                  <a:srgbClr val="000000">
                    <a:alpha val="50000"/>
                  </a:srgbClr>
                </a:inn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78165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 </a:t>
            </a:r>
            <a:r>
              <a:rPr lang="en-US" sz="2800" dirty="0"/>
              <a:t>Object Diagram: Definition:</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223955"/>
            <a:ext cx="10515600" cy="5011931"/>
          </a:xfrm>
        </p:spPr>
        <p:txBody>
          <a:bodyPr>
            <a:noAutofit/>
          </a:bodyPr>
          <a:lstStyle/>
          <a:p>
            <a:pPr marL="0" indent="0">
              <a:lnSpc>
                <a:spcPct val="120000"/>
              </a:lnSpc>
              <a:buNone/>
            </a:pPr>
            <a:r>
              <a:rPr lang="en-US" sz="2000" dirty="0"/>
              <a:t>An Object Diagram is a structural UML diagram that shows a snapshot of objects (instances of classes) and their relationships at a specific moment in time. It provides a concrete view of a system’s runtime state, unlike a Class Diagram, which is abstract</a:t>
            </a:r>
            <a:r>
              <a:rPr lang="en-US" sz="2000" dirty="0" smtClean="0"/>
              <a:t>.</a:t>
            </a:r>
          </a:p>
          <a:p>
            <a:pPr marL="0" indent="0">
              <a:lnSpc>
                <a:spcPct val="120000"/>
              </a:lnSpc>
              <a:buNone/>
            </a:pPr>
            <a:r>
              <a:rPr lang="en-US" sz="2000" dirty="0" smtClean="0"/>
              <a:t>                         Key </a:t>
            </a:r>
            <a:r>
              <a:rPr lang="en-US" sz="2000" dirty="0"/>
              <a:t>Components of an Object Diagram</a:t>
            </a:r>
          </a:p>
          <a:p>
            <a:pPr marL="0" indent="0">
              <a:lnSpc>
                <a:spcPct val="120000"/>
              </a:lnSpc>
              <a:buNone/>
            </a:pPr>
            <a:r>
              <a:rPr lang="en-US" sz="2000" dirty="0"/>
              <a:t>Objects (Instances</a:t>
            </a:r>
            <a:r>
              <a:rPr lang="en-US" sz="2000" dirty="0" smtClean="0"/>
              <a:t>)</a:t>
            </a:r>
            <a:endParaRPr lang="en-US" sz="2000" dirty="0"/>
          </a:p>
          <a:p>
            <a:pPr marL="0" indent="0">
              <a:lnSpc>
                <a:spcPct val="120000"/>
              </a:lnSpc>
              <a:buNone/>
            </a:pPr>
            <a:r>
              <a:rPr lang="en-US" sz="2000" dirty="0"/>
              <a:t>Represent real-world entities created from classes</a:t>
            </a:r>
            <a:r>
              <a:rPr lang="en-US" sz="2000" dirty="0" smtClean="0"/>
              <a:t>.</a:t>
            </a:r>
            <a:endParaRPr lang="en-US" sz="2000" dirty="0"/>
          </a:p>
          <a:p>
            <a:pPr marL="0" indent="0">
              <a:lnSpc>
                <a:spcPct val="120000"/>
              </a:lnSpc>
              <a:buNone/>
            </a:pPr>
            <a:r>
              <a:rPr lang="en-US" sz="2000" dirty="0"/>
              <a:t>Notation: </a:t>
            </a:r>
            <a:r>
              <a:rPr lang="en-US" sz="2000" dirty="0" err="1"/>
              <a:t>objectName</a:t>
            </a:r>
            <a:r>
              <a:rPr lang="en-US" sz="2000" dirty="0"/>
              <a:t> : </a:t>
            </a:r>
            <a:r>
              <a:rPr lang="en-US" sz="2000" dirty="0" err="1"/>
              <a:t>ClassName</a:t>
            </a:r>
            <a:r>
              <a:rPr lang="en-US" sz="2000" dirty="0"/>
              <a:t> (e.g., john : Customer</a:t>
            </a:r>
            <a:r>
              <a:rPr lang="en-US" sz="2000" dirty="0" smtClean="0"/>
              <a:t>).</a:t>
            </a:r>
            <a:endParaRPr lang="en-US" sz="2000" dirty="0"/>
          </a:p>
          <a:p>
            <a:pPr marL="0" indent="0">
              <a:lnSpc>
                <a:spcPct val="120000"/>
              </a:lnSpc>
              <a:buNone/>
            </a:pPr>
            <a:r>
              <a:rPr lang="en-US" sz="2000" dirty="0"/>
              <a:t>Attributes are shown with current values (e.g., name = "John Doe</a:t>
            </a:r>
            <a:r>
              <a:rPr lang="en-US" sz="2000" dirty="0" smtClean="0"/>
              <a:t>").</a:t>
            </a:r>
            <a:endParaRPr lang="en-US" sz="2000" dirty="0"/>
          </a:p>
          <a:p>
            <a:pPr marL="0" indent="0">
              <a:lnSpc>
                <a:spcPct val="120000"/>
              </a:lnSpc>
              <a:buNone/>
            </a:pPr>
            <a:r>
              <a:rPr lang="en-US" sz="2000" dirty="0"/>
              <a:t>Links (Relationships</a:t>
            </a:r>
            <a:r>
              <a:rPr lang="en-US" sz="2000" dirty="0" smtClean="0"/>
              <a:t>)</a:t>
            </a:r>
            <a:endParaRPr lang="en-US" sz="2000" dirty="0"/>
          </a:p>
          <a:p>
            <a:pPr marL="0" indent="0">
              <a:lnSpc>
                <a:spcPct val="120000"/>
              </a:lnSpc>
              <a:buNone/>
            </a:pPr>
            <a:r>
              <a:rPr lang="en-US" sz="2000" dirty="0"/>
              <a:t>Show how objects interact or depend on each other</a:t>
            </a:r>
            <a:r>
              <a:rPr lang="en-US" sz="2000" dirty="0" smtClean="0"/>
              <a:t>.</a:t>
            </a:r>
            <a:endParaRPr lang="en-US" sz="2000" dirty="0"/>
          </a:p>
          <a:p>
            <a:pPr marL="0" indent="0">
              <a:lnSpc>
                <a:spcPct val="120000"/>
              </a:lnSpc>
              <a:buNone/>
            </a:pPr>
            <a:r>
              <a:rPr lang="en-US" sz="2000" dirty="0"/>
              <a:t>Notation: A solid line connecting objects (e.g., john ──► order123).</a:t>
            </a:r>
            <a:endParaRPr lang="en-US" sz="2000"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335069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 </a:t>
            </a:r>
            <a:r>
              <a:rPr lang="en-US" sz="2800" dirty="0"/>
              <a:t>Component </a:t>
            </a:r>
            <a:r>
              <a:rPr lang="en-US" sz="2800" dirty="0" smtClean="0"/>
              <a:t>Diagram Definition</a:t>
            </a:r>
            <a:r>
              <a:rPr lang="en-US" sz="2800" dirty="0"/>
              <a:t>:</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568916"/>
            <a:ext cx="10515600" cy="4351338"/>
          </a:xfrm>
        </p:spPr>
        <p:txBody>
          <a:bodyPr>
            <a:normAutofit lnSpcReduction="10000"/>
          </a:bodyPr>
          <a:lstStyle/>
          <a:p>
            <a:pPr>
              <a:buFont typeface="Wingdings" panose="05000000000000000000" pitchFamily="2" charset="2"/>
              <a:buChar char="q"/>
            </a:pPr>
            <a:r>
              <a:rPr lang="en-US" sz="2400" dirty="0" smtClean="0"/>
              <a:t> A </a:t>
            </a:r>
            <a:r>
              <a:rPr lang="en-US" sz="2400" dirty="0"/>
              <a:t>component diagram in the Unified Modeling Language (UML) is a type of structure diagram that illustrates the organization and relationships among the components in a system. Think of components as modular, deployable units of your software. Component-based diagrams are essential tools in software engineering, providing a visual representation of a system’s structure by showcasing its various components and their interactions. These diagrams simplify complex systems, making it easier for developers to design, understand, and communicate the </a:t>
            </a:r>
            <a:r>
              <a:rPr lang="en-US" sz="2400" dirty="0" err="1"/>
              <a:t>architecture.</a:t>
            </a:r>
            <a:r>
              <a:rPr lang="en-US" sz="2400" dirty="0" err="1" smtClean="0">
                <a:latin typeface="DeepSeek-CJK-patch"/>
              </a:rPr>
              <a:t>It</a:t>
            </a:r>
            <a:r>
              <a:rPr lang="en-US" sz="2400" dirty="0" smtClean="0">
                <a:latin typeface="DeepSeek-CJK-patch"/>
              </a:rPr>
              <a:t> </a:t>
            </a:r>
            <a:r>
              <a:rPr lang="en-US" sz="2400" dirty="0">
                <a:latin typeface="DeepSeek-CJK-patch"/>
              </a:rPr>
              <a:t>shows:</a:t>
            </a:r>
          </a:p>
          <a:p>
            <a:r>
              <a:rPr lang="en-US" sz="2400" b="1" dirty="0">
                <a:latin typeface="DeepSeek-CJK-patch"/>
              </a:rPr>
              <a:t>Components</a:t>
            </a:r>
            <a:r>
              <a:rPr lang="en-US" sz="2400" dirty="0">
                <a:latin typeface="DeepSeek-CJK-patch"/>
              </a:rPr>
              <a:t> (self-contained, reusable modules like libraries, APIs, or services),</a:t>
            </a:r>
          </a:p>
          <a:p>
            <a:r>
              <a:rPr lang="en-US" sz="2400" b="1" dirty="0">
                <a:latin typeface="DeepSeek-CJK-patch"/>
              </a:rPr>
              <a:t>Interfaces</a:t>
            </a:r>
            <a:r>
              <a:rPr lang="en-US" sz="2400" dirty="0">
                <a:latin typeface="DeepSeek-CJK-patch"/>
              </a:rPr>
              <a:t> (how components communicate),</a:t>
            </a:r>
          </a:p>
          <a:p>
            <a:r>
              <a:rPr lang="en-US" sz="2400" b="1" dirty="0">
                <a:latin typeface="DeepSeek-CJK-patch"/>
              </a:rPr>
              <a:t>Dependencies</a:t>
            </a:r>
            <a:r>
              <a:rPr lang="en-US" sz="2400" dirty="0">
                <a:latin typeface="DeepSeek-CJK-patch"/>
              </a:rPr>
              <a:t> between components.</a:t>
            </a:r>
          </a:p>
          <a:p>
            <a:pPr marL="0" indent="0">
              <a:buNone/>
            </a:pPr>
            <a:endParaRPr lang="en-US" sz="2400" dirty="0"/>
          </a:p>
          <a:p>
            <a:pPr marL="0" indent="0" algn="ctr">
              <a:buNone/>
            </a:pP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956645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 </a:t>
            </a:r>
            <a:r>
              <a:rPr lang="en-US" sz="2800" dirty="0" smtClean="0"/>
              <a:t>Component Diagrams</a:t>
            </a:r>
            <a:r>
              <a:rPr lang="en-US" sz="2800" dirty="0" smtClean="0"/>
              <a:t>:</a:t>
            </a:r>
            <a:endParaRPr lang="en-US" sz="2800"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976" y="1446023"/>
            <a:ext cx="4572000" cy="4803557"/>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1863" y="1446023"/>
            <a:ext cx="4572000" cy="4803557"/>
          </a:xfrm>
          <a:prstGeom prst="rect">
            <a:avLst/>
          </a:prstGeom>
        </p:spPr>
      </p:pic>
    </p:spTree>
    <p:extLst>
      <p:ext uri="{BB962C8B-B14F-4D97-AF65-F5344CB8AC3E}">
        <p14:creationId xmlns:p14="http://schemas.microsoft.com/office/powerpoint/2010/main" val="1416493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 </a:t>
            </a:r>
            <a:r>
              <a:rPr lang="en-US" sz="2800" dirty="0" smtClean="0"/>
              <a:t>Deployment Diagram</a:t>
            </a:r>
            <a:r>
              <a:rPr lang="en-US" sz="2800" dirty="0" smtClean="0"/>
              <a:t>:</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568223"/>
            <a:ext cx="10515600" cy="4530651"/>
          </a:xfrm>
        </p:spPr>
        <p:txBody>
          <a:bodyPr>
            <a:normAutofit/>
          </a:bodyPr>
          <a:lstStyle/>
          <a:p>
            <a:pPr marL="0" indent="0" algn="just">
              <a:lnSpc>
                <a:spcPct val="150000"/>
              </a:lnSpc>
              <a:buNone/>
            </a:pPr>
            <a:r>
              <a:rPr lang="en-US" dirty="0" smtClean="0"/>
              <a:t>A </a:t>
            </a:r>
            <a:r>
              <a:rPr lang="en-US" dirty="0"/>
              <a:t>deployment diagram in the Unified Modeling Language (UML) is a type of structure diagram that visualizes the physical deployment of the artifacts (software components, executables, data files, etc.) onto the hardware nodes (servers, devices, etc.) in a system. Think of it as a map showing where your software lives and runs.</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025512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smtClean="0"/>
              <a:t>Key components</a:t>
            </a:r>
            <a:r>
              <a:rPr lang="en-US" sz="2800" dirty="0" smtClean="0"/>
              <a:t>:</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568223"/>
            <a:ext cx="10515600" cy="4530651"/>
          </a:xfrm>
        </p:spPr>
        <p:txBody>
          <a:bodyPr>
            <a:normAutofit lnSpcReduction="10000"/>
          </a:bodyPr>
          <a:lstStyle/>
          <a:p>
            <a:pPr marL="0" indent="0">
              <a:buNone/>
            </a:pPr>
            <a:r>
              <a:rPr lang="en-US" dirty="0" smtClean="0"/>
              <a:t>1. Node</a:t>
            </a:r>
            <a:endParaRPr lang="en-US" dirty="0"/>
          </a:p>
          <a:p>
            <a:pPr>
              <a:buFont typeface="Wingdings" panose="05000000000000000000" pitchFamily="2" charset="2"/>
              <a:buChar char="q"/>
            </a:pPr>
            <a:r>
              <a:rPr lang="en-US" dirty="0" smtClean="0"/>
              <a:t> Represents </a:t>
            </a:r>
            <a:r>
              <a:rPr lang="en-US" dirty="0"/>
              <a:t>hardware (e.g., servers, routers, </a:t>
            </a:r>
            <a:r>
              <a:rPr lang="en-US" dirty="0" err="1"/>
              <a:t>IoT</a:t>
            </a:r>
            <a:r>
              <a:rPr lang="en-US" dirty="0"/>
              <a:t> devices</a:t>
            </a:r>
            <a:r>
              <a:rPr lang="en-US" dirty="0" smtClean="0"/>
              <a:t>).</a:t>
            </a:r>
            <a:endParaRPr lang="en-US" dirty="0"/>
          </a:p>
          <a:p>
            <a:pPr marL="0" indent="0">
              <a:buNone/>
            </a:pPr>
            <a:r>
              <a:rPr lang="en-US" dirty="0"/>
              <a:t>Types</a:t>
            </a:r>
            <a:r>
              <a:rPr lang="en-US" dirty="0" smtClean="0"/>
              <a:t>:</a:t>
            </a:r>
            <a:endParaRPr lang="en-US" dirty="0"/>
          </a:p>
          <a:p>
            <a:pPr>
              <a:buFont typeface="Wingdings" panose="05000000000000000000" pitchFamily="2" charset="2"/>
              <a:buChar char="q"/>
            </a:pPr>
            <a:r>
              <a:rPr lang="en-US" dirty="0" smtClean="0"/>
              <a:t> Device </a:t>
            </a:r>
            <a:r>
              <a:rPr lang="en-US" dirty="0"/>
              <a:t>(physical machine, e.g., Mobile Phone, Cloud Server</a:t>
            </a:r>
            <a:r>
              <a:rPr lang="en-US" dirty="0" smtClean="0"/>
              <a:t>).</a:t>
            </a:r>
            <a:endParaRPr lang="en-US" dirty="0"/>
          </a:p>
          <a:p>
            <a:pPr marL="0" indent="0">
              <a:buNone/>
            </a:pPr>
            <a:r>
              <a:rPr lang="en-US" dirty="0"/>
              <a:t>Execution Environment (software container, e.g., Docker, JVM</a:t>
            </a:r>
            <a:r>
              <a:rPr lang="en-US" dirty="0" smtClean="0"/>
              <a:t>).</a:t>
            </a:r>
            <a:endParaRPr lang="en-US" dirty="0"/>
          </a:p>
          <a:p>
            <a:pPr marL="0" indent="0">
              <a:buNone/>
            </a:pPr>
            <a:r>
              <a:rPr lang="en-US" dirty="0" smtClean="0"/>
              <a:t>2. Artifact</a:t>
            </a:r>
            <a:endParaRPr lang="en-US" dirty="0"/>
          </a:p>
          <a:p>
            <a:pPr marL="0" indent="0">
              <a:buNone/>
            </a:pPr>
            <a:r>
              <a:rPr lang="en-US" dirty="0"/>
              <a:t>Software deployed on nodes (e.g., web-</a:t>
            </a:r>
            <a:r>
              <a:rPr lang="en-US" dirty="0" err="1"/>
              <a:t>app.war</a:t>
            </a:r>
            <a:r>
              <a:rPr lang="en-US" dirty="0"/>
              <a:t>, database.dll</a:t>
            </a:r>
            <a:r>
              <a:rPr lang="en-US" dirty="0" smtClean="0"/>
              <a:t>).</a:t>
            </a:r>
            <a:endParaRPr lang="en-US" dirty="0"/>
          </a:p>
          <a:p>
            <a:pPr marL="0" indent="0">
              <a:buNone/>
            </a:pPr>
            <a:r>
              <a:rPr lang="en-US" dirty="0"/>
              <a:t>3. </a:t>
            </a:r>
            <a:r>
              <a:rPr lang="en-US" dirty="0" smtClean="0"/>
              <a:t>Association</a:t>
            </a:r>
            <a:endParaRPr lang="en-US" dirty="0"/>
          </a:p>
          <a:p>
            <a:pPr marL="0" indent="0">
              <a:buNone/>
            </a:pPr>
            <a:r>
              <a:rPr lang="en-US" dirty="0"/>
              <a:t>Connects artifacts to nodes (shows deployment).</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3987102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D</a:t>
            </a:r>
            <a:r>
              <a:rPr lang="en-US" sz="2800" dirty="0" smtClean="0"/>
              <a:t>eployment </a:t>
            </a:r>
            <a:r>
              <a:rPr lang="en-US" sz="2800" dirty="0"/>
              <a:t>D</a:t>
            </a:r>
            <a:r>
              <a:rPr lang="en-US" sz="2800" dirty="0" smtClean="0"/>
              <a:t>iagram:</a:t>
            </a: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16041" y="1315395"/>
            <a:ext cx="4937759" cy="5011931"/>
          </a:xfrm>
        </p:spPr>
      </p:pic>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
        <p:nvSpPr>
          <p:cNvPr id="6" name="TextBox 5"/>
          <p:cNvSpPr txBox="1"/>
          <p:nvPr/>
        </p:nvSpPr>
        <p:spPr>
          <a:xfrm>
            <a:off x="838200" y="1920240"/>
            <a:ext cx="5222966" cy="2677656"/>
          </a:xfrm>
          <a:prstGeom prst="rect">
            <a:avLst/>
          </a:prstGeom>
          <a:noFill/>
        </p:spPr>
        <p:txBody>
          <a:bodyPr wrap="square" rtlCol="0">
            <a:spAutoFit/>
          </a:bodyPr>
          <a:lstStyle/>
          <a:p>
            <a:r>
              <a:rPr lang="en-US" sz="2800" dirty="0">
                <a:latin typeface="Tahoma" panose="020B0604030504040204" pitchFamily="34" charset="0"/>
                <a:ea typeface="Tahoma" panose="020B0604030504040204" pitchFamily="34" charset="0"/>
                <a:cs typeface="Tahoma" panose="020B0604030504040204" pitchFamily="34" charset="0"/>
              </a:rPr>
              <a:t>It answers:</a:t>
            </a:r>
          </a:p>
          <a:p>
            <a:endParaRPr lang="en-US" sz="2800" dirty="0">
              <a:latin typeface="Tahoma" panose="020B0604030504040204" pitchFamily="34" charset="0"/>
              <a:ea typeface="Tahoma" panose="020B0604030504040204" pitchFamily="34" charset="0"/>
              <a:cs typeface="Tahoma" panose="020B0604030504040204" pitchFamily="34" charset="0"/>
            </a:endParaRPr>
          </a:p>
          <a:p>
            <a:pPr marL="457200" indent="-457200">
              <a:buFont typeface="Wingdings" panose="05000000000000000000" pitchFamily="2" charset="2"/>
              <a:buChar char="Ø"/>
            </a:pPr>
            <a:r>
              <a:rPr lang="en-US" sz="2800" dirty="0">
                <a:latin typeface="Tahoma" panose="020B0604030504040204" pitchFamily="34" charset="0"/>
                <a:ea typeface="Tahoma" panose="020B0604030504040204" pitchFamily="34" charset="0"/>
                <a:cs typeface="Tahoma" panose="020B0604030504040204" pitchFamily="34" charset="0"/>
              </a:rPr>
              <a:t>Where does the system run</a:t>
            </a:r>
            <a:r>
              <a:rPr lang="en-US" sz="2800" dirty="0" smtClean="0">
                <a:latin typeface="Tahoma" panose="020B0604030504040204" pitchFamily="34" charset="0"/>
                <a:ea typeface="Tahoma" panose="020B0604030504040204" pitchFamily="34" charset="0"/>
                <a:cs typeface="Tahoma" panose="020B0604030504040204" pitchFamily="34" charset="0"/>
              </a:rPr>
              <a:t>?</a:t>
            </a:r>
          </a:p>
          <a:p>
            <a:endParaRPr lang="en-US" sz="2800" dirty="0">
              <a:latin typeface="Tahoma" panose="020B0604030504040204" pitchFamily="34" charset="0"/>
              <a:ea typeface="Tahoma" panose="020B0604030504040204" pitchFamily="34" charset="0"/>
              <a:cs typeface="Tahoma" panose="020B0604030504040204" pitchFamily="34" charset="0"/>
            </a:endParaRPr>
          </a:p>
          <a:p>
            <a:pPr marL="457200" indent="-457200">
              <a:buFont typeface="Wingdings" panose="05000000000000000000" pitchFamily="2" charset="2"/>
              <a:buChar char="Ø"/>
            </a:pPr>
            <a:r>
              <a:rPr lang="en-US" sz="2800" dirty="0">
                <a:latin typeface="Tahoma" panose="020B0604030504040204" pitchFamily="34" charset="0"/>
                <a:ea typeface="Tahoma" panose="020B0604030504040204" pitchFamily="34" charset="0"/>
                <a:cs typeface="Tahoma" panose="020B0604030504040204" pitchFamily="34" charset="0"/>
              </a:rPr>
              <a:t>How are artifacts distributed across machines?</a:t>
            </a:r>
          </a:p>
        </p:txBody>
      </p:sp>
    </p:spTree>
    <p:extLst>
      <p:ext uri="{BB962C8B-B14F-4D97-AF65-F5344CB8AC3E}">
        <p14:creationId xmlns:p14="http://schemas.microsoft.com/office/powerpoint/2010/main" val="1921947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smtClean="0"/>
              <a:t>Package Diagram</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568223"/>
            <a:ext cx="10515600" cy="4530651"/>
          </a:xfrm>
        </p:spPr>
        <p:txBody>
          <a:bodyPr>
            <a:normAutofit/>
          </a:bodyPr>
          <a:lstStyle/>
          <a:p>
            <a:pPr marL="0" indent="0" algn="just">
              <a:lnSpc>
                <a:spcPct val="100000"/>
              </a:lnSpc>
              <a:buNone/>
            </a:pPr>
            <a:r>
              <a:rPr lang="en-US" dirty="0"/>
              <a:t>A package diagram in the Unified Modeling Language (UML) is a type of structure diagram that is used to organize the elements of a model into logical groups called packages. Think of packages as folders or namespaces that help you manage complexity in large systems. Organizing Model Elements: It provides a way to structure a complex UML model by grouping related elements (like classes, use cases, components, and even other diagrams) together.</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077492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smtClean="0"/>
              <a:t>Composite Structure</a:t>
            </a:r>
            <a:r>
              <a:rPr lang="en-US" sz="2800" dirty="0" smtClean="0"/>
              <a:t> Diagram</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568223"/>
            <a:ext cx="10515600" cy="4530651"/>
          </a:xfrm>
        </p:spPr>
        <p:txBody>
          <a:bodyPr>
            <a:normAutofit/>
          </a:bodyPr>
          <a:lstStyle/>
          <a:p>
            <a:pPr marL="0" indent="0" algn="just">
              <a:lnSpc>
                <a:spcPct val="100000"/>
              </a:lnSpc>
              <a:buNone/>
            </a:pPr>
            <a:r>
              <a:rPr lang="en-US" dirty="0"/>
              <a:t>A composite structure diagram in UML is a type of structure diagram that allows you to deconstruct a classifier (like a class, component, or deployment node) and model its internal structure. It shows how the classifier is composed of parts, how these parts are connected, and how they interact within the context of the containing </a:t>
            </a:r>
            <a:r>
              <a:rPr lang="en-US" dirty="0" err="1"/>
              <a:t>classifier.Think</a:t>
            </a:r>
            <a:r>
              <a:rPr lang="en-US" dirty="0"/>
              <a:t> of it as opening up a "black box" (the classifier) and revealing its inner workings and connections.</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164851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Behavioral Diagrams (dynamic behavior</a:t>
            </a:r>
            <a:r>
              <a:rPr lang="en-US" sz="2800" dirty="0" smtClean="0"/>
              <a:t>): Use Case Diagram</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568223"/>
            <a:ext cx="10515600" cy="4530651"/>
          </a:xfrm>
        </p:spPr>
        <p:txBody>
          <a:bodyPr>
            <a:normAutofit/>
          </a:bodyPr>
          <a:lstStyle/>
          <a:p>
            <a:pPr marL="0" indent="0" algn="just">
              <a:lnSpc>
                <a:spcPct val="100000"/>
              </a:lnSpc>
              <a:buNone/>
            </a:pPr>
            <a:r>
              <a:rPr lang="en-US" b="1" dirty="0"/>
              <a:t>A Use Case Diagram</a:t>
            </a:r>
            <a:r>
              <a:rPr lang="en-US" dirty="0"/>
              <a:t> in Unified Modeling Language (UML) is a behavioral diagram that captures the functional requirements of a system. It illustrates how different actors (users, external systems, or other entities) interact with the system to achieve specific goals. Use Case Diagrams are widely used during the requirements gathering and analysis phases of software development to understand the scope of the system and its high-level functionality.</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9158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Key Elements of a Use Case Diagram</a:t>
            </a:r>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200" y="1568223"/>
            <a:ext cx="10515600" cy="4530651"/>
          </a:xfrm>
        </p:spPr>
        <p:txBody>
          <a:bodyPr>
            <a:normAutofit/>
          </a:bodyPr>
          <a:lstStyle/>
          <a:p>
            <a:pPr marL="0" indent="0" algn="just">
              <a:lnSpc>
                <a:spcPct val="100000"/>
              </a:lnSpc>
              <a:buNone/>
            </a:pPr>
            <a:r>
              <a:rPr lang="en-US" dirty="0" smtClean="0"/>
              <a:t>1. Actors </a:t>
            </a:r>
            <a:r>
              <a:rPr lang="en-US" dirty="0"/>
              <a:t>:</a:t>
            </a:r>
          </a:p>
          <a:p>
            <a:pPr algn="just">
              <a:lnSpc>
                <a:spcPct val="100000"/>
              </a:lnSpc>
              <a:buFont typeface="Wingdings" panose="05000000000000000000" pitchFamily="2" charset="2"/>
              <a:buChar char="v"/>
            </a:pPr>
            <a:r>
              <a:rPr lang="en-US" dirty="0" smtClean="0"/>
              <a:t> Represent </a:t>
            </a:r>
            <a:r>
              <a:rPr lang="en-US" dirty="0"/>
              <a:t>entities that interact with the system.</a:t>
            </a:r>
          </a:p>
          <a:p>
            <a:pPr algn="just">
              <a:lnSpc>
                <a:spcPct val="100000"/>
              </a:lnSpc>
              <a:buFont typeface="Wingdings" panose="05000000000000000000" pitchFamily="2" charset="2"/>
              <a:buChar char="v"/>
            </a:pPr>
            <a:r>
              <a:rPr lang="en-US" dirty="0" smtClean="0"/>
              <a:t> Can </a:t>
            </a:r>
            <a:r>
              <a:rPr lang="en-US" dirty="0"/>
              <a:t>be humans (e.g., users), external systems, or devices.</a:t>
            </a:r>
          </a:p>
          <a:p>
            <a:pPr algn="just">
              <a:lnSpc>
                <a:spcPct val="100000"/>
              </a:lnSpc>
              <a:buFont typeface="Wingdings" panose="05000000000000000000" pitchFamily="2" charset="2"/>
              <a:buChar char="v"/>
            </a:pPr>
            <a:r>
              <a:rPr lang="en-US" dirty="0" smtClean="0"/>
              <a:t> Symbolized </a:t>
            </a:r>
            <a:r>
              <a:rPr lang="en-US" dirty="0"/>
              <a:t>by a stick figure.</a:t>
            </a:r>
          </a:p>
          <a:p>
            <a:pPr marL="0" indent="0" algn="just">
              <a:lnSpc>
                <a:spcPct val="100000"/>
              </a:lnSpc>
              <a:buNone/>
            </a:pPr>
            <a:r>
              <a:rPr lang="en-US" dirty="0" smtClean="0"/>
              <a:t>2. Use </a:t>
            </a:r>
            <a:r>
              <a:rPr lang="en-US" dirty="0"/>
              <a:t>Cases :</a:t>
            </a:r>
          </a:p>
          <a:p>
            <a:pPr algn="just">
              <a:lnSpc>
                <a:spcPct val="100000"/>
              </a:lnSpc>
              <a:buFont typeface="Wingdings" panose="05000000000000000000" pitchFamily="2" charset="2"/>
              <a:buChar char="v"/>
            </a:pPr>
            <a:r>
              <a:rPr lang="en-US" dirty="0" smtClean="0"/>
              <a:t> Represent </a:t>
            </a:r>
            <a:r>
              <a:rPr lang="en-US" dirty="0"/>
              <a:t>specific functionalities or actions provided by the system.</a:t>
            </a:r>
          </a:p>
          <a:p>
            <a:pPr algn="just">
              <a:lnSpc>
                <a:spcPct val="100000"/>
              </a:lnSpc>
              <a:buFont typeface="Wingdings" panose="05000000000000000000" pitchFamily="2" charset="2"/>
              <a:buChar char="v"/>
            </a:pPr>
            <a:r>
              <a:rPr lang="en-US" dirty="0" smtClean="0"/>
              <a:t> Encapsulated </a:t>
            </a:r>
            <a:r>
              <a:rPr lang="en-US" dirty="0"/>
              <a:t>in an oval shape with a brief description inside.</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999560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Key Elements of a Use Case Diagram</a:t>
            </a:r>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199" y="1568223"/>
            <a:ext cx="10826931" cy="4530651"/>
          </a:xfrm>
        </p:spPr>
        <p:txBody>
          <a:bodyPr>
            <a:normAutofit fontScale="85000" lnSpcReduction="20000"/>
          </a:bodyPr>
          <a:lstStyle/>
          <a:p>
            <a:pPr marL="0" indent="0" algn="just">
              <a:lnSpc>
                <a:spcPct val="100000"/>
              </a:lnSpc>
              <a:buNone/>
            </a:pPr>
            <a:r>
              <a:rPr lang="en-US" dirty="0" smtClean="0"/>
              <a:t>3. System </a:t>
            </a:r>
            <a:r>
              <a:rPr lang="en-US" dirty="0"/>
              <a:t>Boundary :</a:t>
            </a:r>
          </a:p>
          <a:p>
            <a:pPr algn="just">
              <a:lnSpc>
                <a:spcPct val="100000"/>
              </a:lnSpc>
              <a:buFont typeface="Wingdings" panose="05000000000000000000" pitchFamily="2" charset="2"/>
              <a:buChar char="v"/>
            </a:pPr>
            <a:r>
              <a:rPr lang="en-US" dirty="0" smtClean="0"/>
              <a:t> A </a:t>
            </a:r>
            <a:r>
              <a:rPr lang="en-US" dirty="0"/>
              <a:t>rectangle representing the boundary of the system.</a:t>
            </a:r>
          </a:p>
          <a:p>
            <a:pPr algn="just">
              <a:lnSpc>
                <a:spcPct val="100000"/>
              </a:lnSpc>
              <a:buFont typeface="Wingdings" panose="05000000000000000000" pitchFamily="2" charset="2"/>
              <a:buChar char="v"/>
            </a:pPr>
            <a:r>
              <a:rPr lang="en-US" dirty="0" smtClean="0"/>
              <a:t> Use </a:t>
            </a:r>
            <a:r>
              <a:rPr lang="en-US" dirty="0"/>
              <a:t>cases are placed inside the rectangle, while actors are outside.</a:t>
            </a:r>
          </a:p>
          <a:p>
            <a:pPr marL="0" indent="0" algn="just">
              <a:lnSpc>
                <a:spcPct val="100000"/>
              </a:lnSpc>
              <a:buNone/>
            </a:pPr>
            <a:r>
              <a:rPr lang="en-US" dirty="0"/>
              <a:t>Relationships :</a:t>
            </a:r>
          </a:p>
          <a:p>
            <a:pPr algn="just">
              <a:lnSpc>
                <a:spcPct val="100000"/>
              </a:lnSpc>
              <a:buFont typeface="Wingdings" panose="05000000000000000000" pitchFamily="2" charset="2"/>
              <a:buChar char="v"/>
            </a:pPr>
            <a:r>
              <a:rPr lang="en-US" dirty="0" smtClean="0"/>
              <a:t> Association </a:t>
            </a:r>
            <a:r>
              <a:rPr lang="en-US" dirty="0"/>
              <a:t>: A line connecting an actor to a use case, indicating interaction.</a:t>
            </a:r>
          </a:p>
          <a:p>
            <a:pPr algn="just">
              <a:lnSpc>
                <a:spcPct val="100000"/>
              </a:lnSpc>
              <a:buFont typeface="Wingdings" panose="05000000000000000000" pitchFamily="2" charset="2"/>
              <a:buChar char="v"/>
            </a:pPr>
            <a:r>
              <a:rPr lang="en-US" dirty="0" smtClean="0"/>
              <a:t> Include </a:t>
            </a:r>
            <a:r>
              <a:rPr lang="en-US" dirty="0"/>
              <a:t>: A dashed arrow labeled "&lt;&lt;include&gt;&gt;" showing that one use case always includes another.</a:t>
            </a:r>
          </a:p>
          <a:p>
            <a:pPr algn="just">
              <a:lnSpc>
                <a:spcPct val="100000"/>
              </a:lnSpc>
              <a:buFont typeface="Wingdings" panose="05000000000000000000" pitchFamily="2" charset="2"/>
              <a:buChar char="v"/>
            </a:pPr>
            <a:r>
              <a:rPr lang="en-US" dirty="0" smtClean="0"/>
              <a:t> Extend </a:t>
            </a:r>
            <a:r>
              <a:rPr lang="en-US" dirty="0"/>
              <a:t>: A dashed arrow labeled "&lt;&lt;extend&gt;&gt;" showing that one use case conditionally adds behavior to another.</a:t>
            </a:r>
          </a:p>
          <a:p>
            <a:pPr algn="just">
              <a:lnSpc>
                <a:spcPct val="100000"/>
              </a:lnSpc>
              <a:buFont typeface="Wingdings" panose="05000000000000000000" pitchFamily="2" charset="2"/>
              <a:buChar char="v"/>
            </a:pPr>
            <a:r>
              <a:rPr lang="en-US" dirty="0" smtClean="0"/>
              <a:t> Generalization </a:t>
            </a:r>
            <a:r>
              <a:rPr lang="en-US" dirty="0"/>
              <a:t>: A solid arrow with a triangular head indicating inheritance between actors or use cases.</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657614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p:txBody>
          <a:bodyPr>
            <a:noAutofit/>
          </a:bodyPr>
          <a:lstStyle/>
          <a:p>
            <a:pPr>
              <a:lnSpc>
                <a:spcPct val="100000"/>
              </a:lnSpc>
            </a:pPr>
            <a:r>
              <a:rPr lang="en-US" sz="2800" dirty="0"/>
              <a:t>Visual Representation</a:t>
            </a:r>
          </a:p>
        </p:txBody>
      </p:sp>
      <p:sp>
        <p:nvSpPr>
          <p:cNvPr id="4" name="Content Placeholder 3"/>
          <p:cNvSpPr>
            <a:spLocks noGrp="1"/>
          </p:cNvSpPr>
          <p:nvPr>
            <p:ph sz="half" idx="1"/>
          </p:nvPr>
        </p:nvSpPr>
        <p:spPr>
          <a:xfrm>
            <a:off x="838200" y="1512848"/>
            <a:ext cx="5181600" cy="4843501"/>
          </a:xfrm>
        </p:spPr>
        <p:txBody>
          <a:bodyPr>
            <a:normAutofit fontScale="77500" lnSpcReduction="20000"/>
          </a:bodyPr>
          <a:lstStyle/>
          <a:p>
            <a:pPr marL="0" indent="0">
              <a:buNone/>
            </a:pPr>
            <a:r>
              <a:rPr lang="en-US" dirty="0"/>
              <a:t>Below is a textual description of how the diagram would look</a:t>
            </a:r>
            <a:r>
              <a:rPr lang="en-US" dirty="0" smtClean="0"/>
              <a:t>:</a:t>
            </a:r>
            <a:endParaRPr lang="en-US" dirty="0"/>
          </a:p>
          <a:p>
            <a:pPr marL="0" indent="0">
              <a:buNone/>
            </a:pPr>
            <a:r>
              <a:rPr lang="en-US" dirty="0" smtClean="0"/>
              <a:t>1. Draw </a:t>
            </a:r>
            <a:r>
              <a:rPr lang="en-US" dirty="0"/>
              <a:t>a rectangle to represent the System Boundary labeled "Online Shopping System."</a:t>
            </a:r>
          </a:p>
          <a:p>
            <a:pPr marL="0" indent="0">
              <a:buNone/>
            </a:pPr>
            <a:r>
              <a:rPr lang="en-US" dirty="0" smtClean="0"/>
              <a:t>2. Place </a:t>
            </a:r>
            <a:r>
              <a:rPr lang="en-US" dirty="0"/>
              <a:t>the following Use Cases inside the rectangle:</a:t>
            </a:r>
          </a:p>
          <a:p>
            <a:pPr>
              <a:buFont typeface="Wingdings" panose="05000000000000000000" pitchFamily="2" charset="2"/>
              <a:buChar char="Ø"/>
            </a:pPr>
            <a:r>
              <a:rPr lang="en-US" dirty="0" smtClean="0"/>
              <a:t> Browse </a:t>
            </a:r>
            <a:r>
              <a:rPr lang="en-US" dirty="0"/>
              <a:t>Products</a:t>
            </a:r>
          </a:p>
          <a:p>
            <a:pPr>
              <a:buFont typeface="Wingdings" panose="05000000000000000000" pitchFamily="2" charset="2"/>
              <a:buChar char="Ø"/>
            </a:pPr>
            <a:r>
              <a:rPr lang="en-US" dirty="0" smtClean="0"/>
              <a:t> Add </a:t>
            </a:r>
            <a:r>
              <a:rPr lang="en-US" dirty="0"/>
              <a:t>to Cart</a:t>
            </a:r>
          </a:p>
          <a:p>
            <a:pPr>
              <a:buFont typeface="Wingdings" panose="05000000000000000000" pitchFamily="2" charset="2"/>
              <a:buChar char="Ø"/>
            </a:pPr>
            <a:r>
              <a:rPr lang="en-US" dirty="0" smtClean="0"/>
              <a:t> Checkout</a:t>
            </a:r>
            <a:endParaRPr lang="en-US" dirty="0"/>
          </a:p>
          <a:p>
            <a:pPr>
              <a:buFont typeface="Wingdings" panose="05000000000000000000" pitchFamily="2" charset="2"/>
              <a:buChar char="Ø"/>
            </a:pPr>
            <a:r>
              <a:rPr lang="en-US" dirty="0" smtClean="0"/>
              <a:t> Make </a:t>
            </a:r>
            <a:r>
              <a:rPr lang="en-US" dirty="0"/>
              <a:t>Payment</a:t>
            </a:r>
          </a:p>
          <a:p>
            <a:pPr>
              <a:buFont typeface="Wingdings" panose="05000000000000000000" pitchFamily="2" charset="2"/>
              <a:buChar char="Ø"/>
            </a:pPr>
            <a:r>
              <a:rPr lang="en-US" dirty="0" smtClean="0"/>
              <a:t> Manage </a:t>
            </a:r>
            <a:r>
              <a:rPr lang="en-US" dirty="0"/>
              <a:t>Inventory</a:t>
            </a:r>
          </a:p>
          <a:p>
            <a:pPr>
              <a:buFont typeface="Wingdings" panose="05000000000000000000" pitchFamily="2" charset="2"/>
              <a:buChar char="Ø"/>
            </a:pPr>
            <a:r>
              <a:rPr lang="en-US" dirty="0" smtClean="0"/>
              <a:t> Process </a:t>
            </a:r>
            <a:r>
              <a:rPr lang="en-US" dirty="0"/>
              <a:t>Refund</a:t>
            </a:r>
          </a:p>
        </p:txBody>
      </p:sp>
      <p:sp>
        <p:nvSpPr>
          <p:cNvPr id="6" name="Content Placeholder 5"/>
          <p:cNvSpPr>
            <a:spLocks noGrp="1"/>
          </p:cNvSpPr>
          <p:nvPr>
            <p:ph sz="half" idx="2"/>
          </p:nvPr>
        </p:nvSpPr>
        <p:spPr>
          <a:xfrm>
            <a:off x="6172200" y="1512848"/>
            <a:ext cx="5181600" cy="4664115"/>
          </a:xfrm>
        </p:spPr>
        <p:txBody>
          <a:bodyPr>
            <a:normAutofit fontScale="77500" lnSpcReduction="20000"/>
          </a:bodyPr>
          <a:lstStyle/>
          <a:p>
            <a:pPr marL="0" indent="0">
              <a:buNone/>
            </a:pPr>
            <a:r>
              <a:rPr lang="en-US" dirty="0" smtClean="0"/>
              <a:t>3. Place </a:t>
            </a:r>
            <a:r>
              <a:rPr lang="en-US" dirty="0"/>
              <a:t>the following Actors outside the rectangle:</a:t>
            </a:r>
          </a:p>
          <a:p>
            <a:pPr>
              <a:buFont typeface="Wingdings" panose="05000000000000000000" pitchFamily="2" charset="2"/>
              <a:buChar char="Ø"/>
            </a:pPr>
            <a:r>
              <a:rPr lang="en-US" dirty="0" smtClean="0"/>
              <a:t> Customer</a:t>
            </a:r>
            <a:endParaRPr lang="en-US" dirty="0"/>
          </a:p>
          <a:p>
            <a:pPr>
              <a:buFont typeface="Wingdings" panose="05000000000000000000" pitchFamily="2" charset="2"/>
              <a:buChar char="Ø"/>
            </a:pPr>
            <a:r>
              <a:rPr lang="en-US" dirty="0" smtClean="0"/>
              <a:t> Admin</a:t>
            </a:r>
            <a:endParaRPr lang="en-US" dirty="0"/>
          </a:p>
          <a:p>
            <a:pPr>
              <a:buFont typeface="Wingdings" panose="05000000000000000000" pitchFamily="2" charset="2"/>
              <a:buChar char="Ø"/>
            </a:pPr>
            <a:r>
              <a:rPr lang="en-US" dirty="0" smtClean="0"/>
              <a:t> Payment </a:t>
            </a:r>
            <a:r>
              <a:rPr lang="en-US" dirty="0"/>
              <a:t>Gateway</a:t>
            </a:r>
          </a:p>
          <a:p>
            <a:pPr marL="0" indent="0">
              <a:buNone/>
            </a:pPr>
            <a:r>
              <a:rPr lang="en-US" dirty="0" smtClean="0"/>
              <a:t>4. Connect </a:t>
            </a:r>
            <a:r>
              <a:rPr lang="en-US" dirty="0"/>
              <a:t>actors to use cases with association lines:</a:t>
            </a:r>
          </a:p>
          <a:p>
            <a:pPr>
              <a:buFont typeface="Wingdings" panose="05000000000000000000" pitchFamily="2" charset="2"/>
              <a:buChar char="Ø"/>
            </a:pPr>
            <a:r>
              <a:rPr lang="en-US" dirty="0" smtClean="0"/>
              <a:t> Customer </a:t>
            </a:r>
            <a:r>
              <a:rPr lang="en-US" dirty="0"/>
              <a:t>→ Browse Products</a:t>
            </a:r>
          </a:p>
          <a:p>
            <a:pPr>
              <a:buFont typeface="Wingdings" panose="05000000000000000000" pitchFamily="2" charset="2"/>
              <a:buChar char="Ø"/>
            </a:pPr>
            <a:r>
              <a:rPr lang="en-US" dirty="0" smtClean="0"/>
              <a:t> Customer </a:t>
            </a:r>
            <a:r>
              <a:rPr lang="en-US" dirty="0"/>
              <a:t>→ Add to Cart</a:t>
            </a:r>
          </a:p>
          <a:p>
            <a:pPr>
              <a:buFont typeface="Wingdings" panose="05000000000000000000" pitchFamily="2" charset="2"/>
              <a:buChar char="Ø"/>
            </a:pPr>
            <a:r>
              <a:rPr lang="en-US" dirty="0" smtClean="0"/>
              <a:t> Customer </a:t>
            </a:r>
            <a:r>
              <a:rPr lang="en-US" dirty="0"/>
              <a:t>→ Checkout</a:t>
            </a:r>
          </a:p>
          <a:p>
            <a:pPr>
              <a:buFont typeface="Wingdings" panose="05000000000000000000" pitchFamily="2" charset="2"/>
              <a:buChar char="Ø"/>
            </a:pPr>
            <a:r>
              <a:rPr lang="en-US" dirty="0" smtClean="0"/>
              <a:t> Customer </a:t>
            </a:r>
            <a:r>
              <a:rPr lang="en-US" dirty="0"/>
              <a:t>→ Make Payment</a:t>
            </a:r>
          </a:p>
          <a:p>
            <a:pPr>
              <a:buFont typeface="Wingdings" panose="05000000000000000000" pitchFamily="2" charset="2"/>
              <a:buChar char="Ø"/>
            </a:pPr>
            <a:r>
              <a:rPr lang="en-US" dirty="0" smtClean="0"/>
              <a:t> Admin </a:t>
            </a:r>
            <a:r>
              <a:rPr lang="en-US" dirty="0"/>
              <a:t>→ Manage Inventory</a:t>
            </a:r>
          </a:p>
          <a:p>
            <a:pPr>
              <a:buFont typeface="Wingdings" panose="05000000000000000000" pitchFamily="2" charset="2"/>
              <a:buChar char="Ø"/>
            </a:pPr>
            <a:r>
              <a:rPr lang="en-US" dirty="0" smtClean="0"/>
              <a:t> Admin </a:t>
            </a:r>
            <a:r>
              <a:rPr lang="en-US" dirty="0"/>
              <a:t>→ Process Refund</a:t>
            </a:r>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388300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a:t>Key Elements of a Use Case Diagram</a:t>
            </a:r>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199" y="1568223"/>
            <a:ext cx="10826931" cy="4530651"/>
          </a:xfrm>
        </p:spPr>
        <p:txBody>
          <a:bodyPr>
            <a:normAutofit/>
          </a:bodyPr>
          <a:lstStyle/>
          <a:p>
            <a:pPr marL="0" indent="0" algn="just">
              <a:lnSpc>
                <a:spcPct val="100000"/>
              </a:lnSpc>
              <a:buNone/>
            </a:pPr>
            <a:r>
              <a:rPr lang="en-US" dirty="0" smtClean="0"/>
              <a:t>5. Add </a:t>
            </a:r>
            <a:r>
              <a:rPr lang="en-US" dirty="0"/>
              <a:t>relationships:</a:t>
            </a:r>
          </a:p>
          <a:p>
            <a:pPr algn="just">
              <a:lnSpc>
                <a:spcPct val="100000"/>
              </a:lnSpc>
              <a:buFont typeface="Wingdings" panose="05000000000000000000" pitchFamily="2" charset="2"/>
              <a:buChar char="Ø"/>
            </a:pPr>
            <a:r>
              <a:rPr lang="en-US" dirty="0" smtClean="0"/>
              <a:t> Draw </a:t>
            </a:r>
            <a:r>
              <a:rPr lang="en-US" dirty="0"/>
              <a:t>a dashed arrow from "Checkout" to "Make Payment" labeled "&lt;&lt;include&gt;&gt;."</a:t>
            </a:r>
          </a:p>
          <a:p>
            <a:pPr algn="just">
              <a:lnSpc>
                <a:spcPct val="100000"/>
              </a:lnSpc>
              <a:buFont typeface="Wingdings" panose="05000000000000000000" pitchFamily="2" charset="2"/>
              <a:buChar char="Ø"/>
            </a:pPr>
            <a:r>
              <a:rPr lang="en-US" dirty="0" smtClean="0"/>
              <a:t> Draw </a:t>
            </a:r>
            <a:r>
              <a:rPr lang="en-US" dirty="0"/>
              <a:t>a dashed arrow from "Process Refund" to "Manage Inventory" labeled "&lt;&lt;extend&gt;&gt;."</a:t>
            </a:r>
          </a:p>
          <a:p>
            <a:pPr marL="0" indent="0" algn="just">
              <a:lnSpc>
                <a:spcPct val="100000"/>
              </a:lnSpc>
              <a:buNone/>
            </a:pPr>
            <a:r>
              <a:rPr lang="en-US" dirty="0" smtClean="0"/>
              <a:t>6. Connect </a:t>
            </a:r>
            <a:r>
              <a:rPr lang="en-US" dirty="0"/>
              <a:t>the Payment Gateway actor to the "Make Payment" use case.</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187064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smtClean="0"/>
              <a:t>Use </a:t>
            </a:r>
            <a:r>
              <a:rPr lang="en-US" sz="2800" dirty="0"/>
              <a:t>Case </a:t>
            </a:r>
            <a:r>
              <a:rPr lang="en-US" sz="2800" dirty="0" smtClean="0"/>
              <a:t>Diagrams of Online shopping system  Car rental system and Hospital Reception syst.</a:t>
            </a: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4460" y="1446023"/>
            <a:ext cx="3256391" cy="4893068"/>
          </a:xfrm>
        </p:spPr>
      </p:pic>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471419"/>
            <a:ext cx="3707674" cy="4893068"/>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4286" y="1420627"/>
            <a:ext cx="3189514" cy="4943861"/>
          </a:xfrm>
          <a:prstGeom prst="rect">
            <a:avLst/>
          </a:prstGeom>
        </p:spPr>
      </p:pic>
    </p:spTree>
    <p:extLst>
      <p:ext uri="{BB962C8B-B14F-4D97-AF65-F5344CB8AC3E}">
        <p14:creationId xmlns:p14="http://schemas.microsoft.com/office/powerpoint/2010/main" val="1794308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smtClean="0"/>
              <a:t>Activity Diagram</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199" y="1568223"/>
            <a:ext cx="10826931" cy="4530651"/>
          </a:xfrm>
        </p:spPr>
        <p:txBody>
          <a:bodyPr>
            <a:normAutofit/>
          </a:bodyPr>
          <a:lstStyle/>
          <a:p>
            <a:pPr marL="0" indent="0" algn="just">
              <a:lnSpc>
                <a:spcPct val="100000"/>
              </a:lnSpc>
              <a:buNone/>
            </a:pPr>
            <a:r>
              <a:rPr lang="en-US" dirty="0"/>
              <a:t>An Activity Diagram in Unified Modeling Language (UML) is a behavioral diagram that represents the flow of activities within a system. It is used to model the dynamic aspects of a system, such as workflows, business processes, or operational sequences. Activity diagrams are particularly useful for understanding how different tasks or actions are performed in a sequence and how decisions affect the flow of control</a:t>
            </a:r>
            <a:r>
              <a:rPr lang="en-US" dirty="0" smtClean="0"/>
              <a:t>.</a:t>
            </a:r>
            <a:endParaRPr lang="en-US" dirty="0"/>
          </a:p>
          <a:p>
            <a:pPr marL="0" indent="0" algn="just">
              <a:lnSpc>
                <a:spcPct val="100000"/>
              </a:lnSpc>
              <a:buNone/>
            </a:pPr>
            <a:r>
              <a:rPr lang="en-US" dirty="0"/>
              <a:t>Activity diagrams are similar to flowcharts but are more powerful because they can model parallel processes, decision points, and complex interactions.</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1310793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p:txBody>
          <a:bodyPr>
            <a:noAutofit/>
          </a:bodyPr>
          <a:lstStyle/>
          <a:p>
            <a:pPr>
              <a:lnSpc>
                <a:spcPct val="100000"/>
              </a:lnSpc>
            </a:pPr>
            <a:r>
              <a:rPr lang="en-US" sz="2800" dirty="0" smtClean="0"/>
              <a:t>Activity Diagram</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sz="half" idx="1"/>
          </p:nvPr>
        </p:nvSpPr>
        <p:spPr>
          <a:xfrm>
            <a:off x="838200" y="1512849"/>
            <a:ext cx="5181600" cy="4664114"/>
          </a:xfrm>
        </p:spPr>
        <p:txBody>
          <a:bodyPr>
            <a:normAutofit/>
          </a:bodyPr>
          <a:lstStyle/>
          <a:p>
            <a:pPr marL="0" indent="0" algn="just">
              <a:lnSpc>
                <a:spcPct val="100000"/>
              </a:lnSpc>
              <a:buNone/>
            </a:pPr>
            <a:r>
              <a:rPr lang="en-US" dirty="0" smtClean="0"/>
              <a:t>           Key </a:t>
            </a:r>
            <a:r>
              <a:rPr lang="en-US" dirty="0"/>
              <a:t>Elements</a:t>
            </a:r>
            <a:r>
              <a:rPr lang="en-US" dirty="0" smtClean="0"/>
              <a:t>:</a:t>
            </a:r>
            <a:endParaRPr lang="en-US" dirty="0"/>
          </a:p>
          <a:p>
            <a:pPr algn="just">
              <a:lnSpc>
                <a:spcPct val="100000"/>
              </a:lnSpc>
              <a:buFont typeface="Wingdings" panose="05000000000000000000" pitchFamily="2" charset="2"/>
              <a:buChar char="Ø"/>
            </a:pPr>
            <a:r>
              <a:rPr lang="en-US" dirty="0" smtClean="0"/>
              <a:t> Actions </a:t>
            </a:r>
            <a:r>
              <a:rPr lang="en-US" dirty="0"/>
              <a:t>(rounded rectangles</a:t>
            </a:r>
            <a:r>
              <a:rPr lang="en-US" dirty="0" smtClean="0"/>
              <a:t>)</a:t>
            </a:r>
            <a:endParaRPr lang="en-US" dirty="0"/>
          </a:p>
          <a:p>
            <a:pPr algn="just">
              <a:lnSpc>
                <a:spcPct val="100000"/>
              </a:lnSpc>
              <a:buFont typeface="Wingdings" panose="05000000000000000000" pitchFamily="2" charset="2"/>
              <a:buChar char="Ø"/>
            </a:pPr>
            <a:r>
              <a:rPr lang="en-US" dirty="0" smtClean="0"/>
              <a:t> Decisions </a:t>
            </a:r>
            <a:r>
              <a:rPr lang="en-US" dirty="0"/>
              <a:t>(diamonds)</a:t>
            </a:r>
          </a:p>
          <a:p>
            <a:pPr marL="0" indent="0" algn="just">
              <a:lnSpc>
                <a:spcPct val="100000"/>
              </a:lnSpc>
              <a:buNone/>
            </a:pPr>
            <a:r>
              <a:rPr lang="en-US" dirty="0" smtClean="0"/>
              <a:t>Example</a:t>
            </a:r>
            <a:r>
              <a:rPr lang="en-US" dirty="0"/>
              <a:t>:</a:t>
            </a:r>
          </a:p>
          <a:p>
            <a:pPr marL="0" indent="0" algn="just">
              <a:lnSpc>
                <a:spcPct val="100000"/>
              </a:lnSpc>
              <a:buNone/>
            </a:pPr>
            <a:r>
              <a:rPr lang="en-US" dirty="0"/>
              <a:t>Order Processing Flow from "Place Order" to "Delivery".</a:t>
            </a:r>
            <a:endParaRPr lang="en-US" dirty="0"/>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18811" y="1512849"/>
            <a:ext cx="4534989" cy="4664114"/>
          </a:xfrm>
        </p:spPr>
      </p:pic>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757132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smtClean="0"/>
              <a:t>Activity Diagram</a:t>
            </a: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3470" y="1446023"/>
            <a:ext cx="3020483" cy="4530725"/>
          </a:xfrm>
        </p:spPr>
      </p:pic>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1446023"/>
            <a:ext cx="3452949" cy="453072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8996" y="1446023"/>
            <a:ext cx="3914804" cy="4530725"/>
          </a:xfrm>
          <a:prstGeom prst="rect">
            <a:avLst/>
          </a:prstGeom>
        </p:spPr>
      </p:pic>
    </p:spTree>
    <p:extLst>
      <p:ext uri="{BB962C8B-B14F-4D97-AF65-F5344CB8AC3E}">
        <p14:creationId xmlns:p14="http://schemas.microsoft.com/office/powerpoint/2010/main" val="370220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smtClean="0"/>
              <a:t>Sequence Diagram</a:t>
            </a:r>
            <a:endParaRPr lang="en-US" sz="2800"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838199" y="1568223"/>
            <a:ext cx="10826931" cy="4530651"/>
          </a:xfrm>
        </p:spPr>
        <p:txBody>
          <a:bodyPr>
            <a:normAutofit/>
          </a:bodyPr>
          <a:lstStyle/>
          <a:p>
            <a:pPr marL="0" indent="0" algn="just">
              <a:lnSpc>
                <a:spcPct val="100000"/>
              </a:lnSpc>
              <a:buNone/>
            </a:pPr>
            <a:r>
              <a:rPr lang="en-US" dirty="0"/>
              <a:t>A Sequence Diagram in Unified Modeling Language (UML) is a behavioral diagram that models the interaction between objects in a sequential order. It shows how objects communicate with each other over time and emphasizes the sequence of messages exchanged between them. Sequence diagrams are particularly useful for understanding dynamic behavior, such as method calls, event handling, or workflow execution</a:t>
            </a:r>
            <a:r>
              <a:rPr lang="en-US" dirty="0" smtClean="0"/>
              <a:t>.</a:t>
            </a:r>
            <a:endParaRPr lang="en-US" dirty="0"/>
          </a:p>
          <a:p>
            <a:pPr marL="0" indent="0" algn="just">
              <a:lnSpc>
                <a:spcPct val="100000"/>
              </a:lnSpc>
              <a:buNone/>
            </a:pPr>
            <a:r>
              <a:rPr lang="en-US" dirty="0"/>
              <a:t>Sequence diagrams are widely used during the design phase of software development to visualize how different components of a system interact to achieve specific functionality.</a:t>
            </a:r>
            <a:endParaRPr lang="en-US"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2056111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a:xfrm>
            <a:off x="2700349" y="395492"/>
            <a:ext cx="8510016" cy="1050531"/>
          </a:xfrm>
        </p:spPr>
        <p:txBody>
          <a:bodyPr>
            <a:noAutofit/>
          </a:bodyPr>
          <a:lstStyle/>
          <a:p>
            <a:pPr>
              <a:lnSpc>
                <a:spcPct val="100000"/>
              </a:lnSpc>
            </a:pPr>
            <a:r>
              <a:rPr lang="en-US" sz="2800" dirty="0" smtClean="0"/>
              <a:t>Sequence Diagram cont.. </a:t>
            </a: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10508" y="1446023"/>
            <a:ext cx="4299857" cy="4530725"/>
          </a:xfrm>
        </p:spPr>
      </p:pic>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
        <p:nvSpPr>
          <p:cNvPr id="6" name="TextBox 5"/>
          <p:cNvSpPr txBox="1"/>
          <p:nvPr/>
        </p:nvSpPr>
        <p:spPr>
          <a:xfrm>
            <a:off x="394063" y="1554537"/>
            <a:ext cx="2532017" cy="3539430"/>
          </a:xfrm>
          <a:prstGeom prst="rect">
            <a:avLst/>
          </a:prstGeom>
          <a:noFill/>
        </p:spPr>
        <p:txBody>
          <a:bodyPr wrap="square" rtlCol="0">
            <a:spAutoFit/>
          </a:bodyPr>
          <a:lstStyle/>
          <a:p>
            <a:r>
              <a:rPr lang="en-US" sz="2800" dirty="0" smtClean="0">
                <a:latin typeface="Tahoma" panose="020B0604030504040204" pitchFamily="34" charset="0"/>
                <a:ea typeface="Tahoma" panose="020B0604030504040204" pitchFamily="34" charset="0"/>
                <a:cs typeface="Tahoma" panose="020B0604030504040204" pitchFamily="34" charset="0"/>
              </a:rPr>
              <a:t>          Key </a:t>
            </a:r>
            <a:r>
              <a:rPr lang="en-US" sz="2800" dirty="0">
                <a:latin typeface="Tahoma" panose="020B0604030504040204" pitchFamily="34" charset="0"/>
                <a:ea typeface="Tahoma" panose="020B0604030504040204" pitchFamily="34" charset="0"/>
                <a:cs typeface="Tahoma" panose="020B0604030504040204" pitchFamily="34" charset="0"/>
              </a:rPr>
              <a:t>Elements</a:t>
            </a:r>
            <a:r>
              <a:rPr lang="en-US" sz="2800" dirty="0" smtClean="0">
                <a:latin typeface="Tahoma" panose="020B0604030504040204" pitchFamily="34" charset="0"/>
                <a:ea typeface="Tahoma" panose="020B0604030504040204" pitchFamily="34" charset="0"/>
                <a:cs typeface="Tahoma" panose="020B0604030504040204" pitchFamily="34" charset="0"/>
              </a:rPr>
              <a:t>:</a:t>
            </a:r>
            <a:endParaRPr lang="en-US" sz="2800" dirty="0">
              <a:latin typeface="Tahoma" panose="020B0604030504040204" pitchFamily="34" charset="0"/>
              <a:ea typeface="Tahoma" panose="020B0604030504040204" pitchFamily="34" charset="0"/>
              <a:cs typeface="Tahoma" panose="020B0604030504040204" pitchFamily="34" charset="0"/>
            </a:endParaRPr>
          </a:p>
          <a:p>
            <a:pPr marL="457200" indent="-457200">
              <a:buFont typeface="Wingdings" panose="05000000000000000000" pitchFamily="2" charset="2"/>
              <a:buChar char="ü"/>
            </a:pPr>
            <a:r>
              <a:rPr lang="en-US" sz="2800" dirty="0">
                <a:latin typeface="Tahoma" panose="020B0604030504040204" pitchFamily="34" charset="0"/>
                <a:ea typeface="Tahoma" panose="020B0604030504040204" pitchFamily="34" charset="0"/>
                <a:cs typeface="Tahoma" panose="020B0604030504040204" pitchFamily="34" charset="0"/>
              </a:rPr>
              <a:t>Lifelines (objects</a:t>
            </a:r>
            <a:r>
              <a:rPr lang="en-US" sz="2800" dirty="0" smtClean="0">
                <a:latin typeface="Tahoma" panose="020B0604030504040204" pitchFamily="34" charset="0"/>
                <a:ea typeface="Tahoma" panose="020B0604030504040204" pitchFamily="34" charset="0"/>
                <a:cs typeface="Tahoma" panose="020B0604030504040204" pitchFamily="34" charset="0"/>
              </a:rPr>
              <a:t>)</a:t>
            </a:r>
          </a:p>
          <a:p>
            <a:endParaRPr lang="en-US" sz="2800" dirty="0">
              <a:latin typeface="Tahoma" panose="020B0604030504040204" pitchFamily="34" charset="0"/>
              <a:ea typeface="Tahoma" panose="020B0604030504040204" pitchFamily="34" charset="0"/>
              <a:cs typeface="Tahoma" panose="020B0604030504040204" pitchFamily="34" charset="0"/>
            </a:endParaRPr>
          </a:p>
          <a:p>
            <a:pPr marL="457200" indent="-457200">
              <a:buFont typeface="Wingdings" panose="05000000000000000000" pitchFamily="2" charset="2"/>
              <a:buChar char="ü"/>
            </a:pPr>
            <a:r>
              <a:rPr lang="en-US" sz="2800" dirty="0">
                <a:latin typeface="Tahoma" panose="020B0604030504040204" pitchFamily="34" charset="0"/>
                <a:ea typeface="Tahoma" panose="020B0604030504040204" pitchFamily="34" charset="0"/>
                <a:cs typeface="Tahoma" panose="020B0604030504040204" pitchFamily="34" charset="0"/>
              </a:rPr>
              <a:t>Messages (method calls)</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6914" y="1446023"/>
            <a:ext cx="4105143" cy="4565646"/>
          </a:xfrm>
          <a:prstGeom prst="rect">
            <a:avLst/>
          </a:prstGeom>
        </p:spPr>
      </p:pic>
    </p:spTree>
    <p:extLst>
      <p:ext uri="{BB962C8B-B14F-4D97-AF65-F5344CB8AC3E}">
        <p14:creationId xmlns:p14="http://schemas.microsoft.com/office/powerpoint/2010/main" val="1814607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a:xfrm>
            <a:off x="542365" y="2372472"/>
            <a:ext cx="10515600" cy="4351338"/>
          </a:xfrm>
        </p:spPr>
        <p:txBody>
          <a:bodyPr>
            <a:normAutofit/>
          </a:bodyPr>
          <a:lstStyle/>
          <a:p>
            <a:pPr marL="0" indent="0" algn="ctr">
              <a:buNone/>
            </a:pPr>
            <a:r>
              <a:rPr lang="en-US" sz="16600" dirty="0"/>
              <a:t>The End</a:t>
            </a:r>
            <a:endParaRPr lang="en-SL" sz="16600" dirty="0"/>
          </a:p>
          <a:p>
            <a:pPr marL="514350" indent="-514350" algn="ctr">
              <a:buFont typeface="+mj-lt"/>
              <a:buAutoNum type="arabicPeriod"/>
            </a:pPr>
            <a:endParaRPr lang="en-SL" sz="16600" dirty="0">
              <a:latin typeface="Tahoma" panose="020B0604030504040204" pitchFamily="34" charset="0"/>
              <a:ea typeface="Tahoma" panose="020B0604030504040204" pitchFamily="34" charset="0"/>
              <a:cs typeface="Tahoma" panose="020B0604030504040204" pitchFamily="34" charset="0"/>
            </a:endParaRPr>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en-SL" dirty="0"/>
          </a:p>
        </p:txBody>
      </p:sp>
    </p:spTree>
    <p:extLst>
      <p:ext uri="{BB962C8B-B14F-4D97-AF65-F5344CB8AC3E}">
        <p14:creationId xmlns:p14="http://schemas.microsoft.com/office/powerpoint/2010/main" val="4130571144"/>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ppt/theme/themeOverride2.xml><?xml version="1.0" encoding="utf-8"?>
<a:themeOverride xmlns:a="http://schemas.openxmlformats.org/drawingml/2006/main">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docProps/app.xml><?xml version="1.0" encoding="utf-8"?>
<Properties xmlns="http://schemas.openxmlformats.org/officeDocument/2006/extended-properties" xmlns:vt="http://schemas.openxmlformats.org/officeDocument/2006/docPropsVTypes">
  <Template/>
  <TotalTime>3761</TotalTime>
  <Words>1772</Words>
  <Application>Microsoft Office PowerPoint</Application>
  <PresentationFormat>Widescreen</PresentationFormat>
  <Paragraphs>227</Paragraphs>
  <Slides>28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DeepSeek-CJK-patch</vt:lpstr>
      <vt:lpstr>Tahoma</vt:lpstr>
      <vt:lpstr>Wingdings</vt:lpstr>
      <vt:lpstr>Office Theme</vt:lpstr>
      <vt:lpstr>PROG102 PRINCIPLES OF SOFTWARE ENGINEERING</vt:lpstr>
      <vt:lpstr>PowerPoint Presentation</vt:lpstr>
      <vt:lpstr> Unified Modeling Language:</vt:lpstr>
      <vt:lpstr>     Purpose and Uses of UML:</vt:lpstr>
      <vt:lpstr>Types of UML Diagrams:</vt:lpstr>
      <vt:lpstr>Structural UML Diagrams (Focus on Static System Structure)</vt:lpstr>
      <vt:lpstr> Cont…</vt:lpstr>
      <vt:lpstr> Real-World Example: E-Commerce System:</vt:lpstr>
      <vt:lpstr> Object Diagram: Definition:</vt:lpstr>
      <vt:lpstr> Component Diagram Definition:</vt:lpstr>
      <vt:lpstr> Component Diagrams:</vt:lpstr>
      <vt:lpstr> Deployment Diagram:</vt:lpstr>
      <vt:lpstr>Key components:</vt:lpstr>
      <vt:lpstr>Deployment Diagram:</vt:lpstr>
      <vt:lpstr>Package Diagram</vt:lpstr>
      <vt:lpstr>Composite Structure Diagram</vt:lpstr>
      <vt:lpstr>Behavioral Diagrams (dynamic behavior): Use Case Diagram</vt:lpstr>
      <vt:lpstr>Key Elements of a Use Case Diagram</vt:lpstr>
      <vt:lpstr>Key Elements of a Use Case Diagram</vt:lpstr>
      <vt:lpstr>Visual Representation</vt:lpstr>
      <vt:lpstr>Key Elements of a Use Case Diagram</vt:lpstr>
      <vt:lpstr>Use Case Diagrams of Online shopping system  Car rental system and Hospital Reception syst.</vt:lpstr>
      <vt:lpstr>Activity Diagram</vt:lpstr>
      <vt:lpstr>Activity Diagram</vt:lpstr>
      <vt:lpstr>Activity Diagram</vt:lpstr>
      <vt:lpstr>Sequence Diagram</vt:lpstr>
      <vt:lpstr>Sequence Diagram cont..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DELL</cp:lastModifiedBy>
  <cp:revision>75</cp:revision>
  <dcterms:created xsi:type="dcterms:W3CDTF">2023-03-30T14:56:20Z</dcterms:created>
  <dcterms:modified xsi:type="dcterms:W3CDTF">2025-04-29T00:20:53Z</dcterms:modified>
</cp:coreProperties>
</file>