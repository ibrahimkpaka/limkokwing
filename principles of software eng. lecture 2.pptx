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2"/>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91"/>
    <p:restoredTop sz="96405"/>
  </p:normalViewPr>
  <p:slideViewPr>
    <p:cSldViewPr snapToGrid="0">
      <p:cViewPr varScale="1">
        <p:scale>
          <a:sx n="67" d="100"/>
          <a:sy n="67" d="100"/>
        </p:scale>
        <p:origin x="96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aa-E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FA0420-623A-104A-8901-D83B63A1E660}" type="datetimeFigureOut">
              <a:rPr lang="aa-ET" smtClean="0"/>
              <a:t>03/19/2024</a:t>
            </a:fld>
            <a:endParaRPr lang="aa-E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a-E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a-E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aa-E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474951-2C74-D643-AB10-B943E48EDE1B}" type="slidenum">
              <a:rPr lang="aa-ET" smtClean="0"/>
              <a:t>‹#›</a:t>
            </a:fld>
            <a:endParaRPr lang="aa-ET"/>
          </a:p>
        </p:txBody>
      </p:sp>
    </p:spTree>
    <p:extLst>
      <p:ext uri="{BB962C8B-B14F-4D97-AF65-F5344CB8AC3E}">
        <p14:creationId xmlns:p14="http://schemas.microsoft.com/office/powerpoint/2010/main" val="1339432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a-ET" dirty="0"/>
          </a:p>
        </p:txBody>
      </p:sp>
      <p:sp>
        <p:nvSpPr>
          <p:cNvPr id="4" name="Slide Number Placeholder 3"/>
          <p:cNvSpPr>
            <a:spLocks noGrp="1"/>
          </p:cNvSpPr>
          <p:nvPr>
            <p:ph type="sldNum" sz="quarter" idx="5"/>
          </p:nvPr>
        </p:nvSpPr>
        <p:spPr/>
        <p:txBody>
          <a:bodyPr/>
          <a:lstStyle/>
          <a:p>
            <a:fld id="{0F474951-2C74-D643-AB10-B943E48EDE1B}" type="slidenum">
              <a:rPr lang="aa-ET" smtClean="0"/>
              <a:t>1</a:t>
            </a:fld>
            <a:endParaRPr lang="aa-ET"/>
          </a:p>
        </p:txBody>
      </p:sp>
    </p:spTree>
    <p:extLst>
      <p:ext uri="{BB962C8B-B14F-4D97-AF65-F5344CB8AC3E}">
        <p14:creationId xmlns:p14="http://schemas.microsoft.com/office/powerpoint/2010/main" val="2949366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41606"/>
            <a:ext cx="9144000" cy="2566386"/>
          </a:xfrm>
          <a:prstGeom prst="rect">
            <a:avLst/>
          </a:prstGeom>
        </p:spPr>
        <p:txBody>
          <a:bodyPr anchor="b"/>
          <a:lstStyle>
            <a:lvl1pPr algn="ctr">
              <a:defRPr sz="6000"/>
            </a:lvl1pPr>
          </a:lstStyle>
          <a:p>
            <a:r>
              <a:rPr lang="en-GB" dirty="0"/>
              <a:t>Click to edit Master title style</a:t>
            </a:r>
            <a:endParaRPr lang="en-US" dirty="0"/>
          </a:p>
        </p:txBody>
      </p:sp>
      <p:sp>
        <p:nvSpPr>
          <p:cNvPr id="3" name="Subtitle 2"/>
          <p:cNvSpPr>
            <a:spLocks noGrp="1"/>
          </p:cNvSpPr>
          <p:nvPr>
            <p:ph type="subTitle" idx="1"/>
          </p:nvPr>
        </p:nvSpPr>
        <p:spPr>
          <a:xfrm>
            <a:off x="1524000" y="4626863"/>
            <a:ext cx="9144000" cy="1134173"/>
          </a:xfrm>
          <a:prstGeom prst="rect">
            <a:avLst/>
          </a:prstGeom>
        </p:spPr>
        <p:txBody>
          <a:bodyPr/>
          <a:lstStyle>
            <a:lvl1pPr marL="0" indent="0" algn="ctr">
              <a:buNone/>
              <a:defRPr sz="2400">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Tree>
    <p:extLst>
      <p:ext uri="{BB962C8B-B14F-4D97-AF65-F5344CB8AC3E}">
        <p14:creationId xmlns:p14="http://schemas.microsoft.com/office/powerpoint/2010/main" val="2073380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nchor="ctr"/>
          <a:lstStyle/>
          <a:p>
            <a:r>
              <a:rPr lang="en-GB"/>
              <a:t>Click to edit Master title style</a:t>
            </a:r>
            <a:endParaRPr lang="en-US" dirty="0"/>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7">
            <a:extLst>
              <a:ext uri="{FF2B5EF4-FFF2-40B4-BE49-F238E27FC236}">
                <a16:creationId xmlns:a16="http://schemas.microsoft.com/office/drawing/2014/main" id="{348062B8-AB82-F2B3-3101-23B44D8D606A}"/>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1179791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Footer Placeholder 7">
            <a:extLst>
              <a:ext uri="{FF2B5EF4-FFF2-40B4-BE49-F238E27FC236}">
                <a16:creationId xmlns:a16="http://schemas.microsoft.com/office/drawing/2014/main" id="{364D8A2B-30B9-0C15-7F64-0649FFCC19DB}"/>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1894526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nchor="ct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Footer Placeholder 7">
            <a:extLst>
              <a:ext uri="{FF2B5EF4-FFF2-40B4-BE49-F238E27FC236}">
                <a16:creationId xmlns:a16="http://schemas.microsoft.com/office/drawing/2014/main" id="{B851334D-5ECD-EAA3-2745-D5C5E2235829}"/>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6372650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43784" y="265177"/>
            <a:ext cx="8511604" cy="1060703"/>
          </a:xfrm>
          <a:prstGeom prst="rect">
            <a:avLst/>
          </a:prstGeom>
        </p:spPr>
        <p:txBody>
          <a:bodyPr anchor="ct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Footer Placeholder 7">
            <a:extLst>
              <a:ext uri="{FF2B5EF4-FFF2-40B4-BE49-F238E27FC236}">
                <a16:creationId xmlns:a16="http://schemas.microsoft.com/office/drawing/2014/main" id="{8D0414B7-8E21-99AD-DF91-1DCCECDD55D0}"/>
              </a:ext>
            </a:extLst>
          </p:cNvPr>
          <p:cNvSpPr>
            <a:spLocks noGrp="1"/>
          </p:cNvSpPr>
          <p:nvPr>
            <p:ph type="ftr" sz="quarter" idx="10"/>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2176047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nchor="ctr"/>
          <a:lstStyle/>
          <a:p>
            <a:r>
              <a:rPr lang="en-GB"/>
              <a:t>Click to edit Master title style</a:t>
            </a:r>
            <a:endParaRPr lang="en-US" dirty="0"/>
          </a:p>
        </p:txBody>
      </p:sp>
      <p:sp>
        <p:nvSpPr>
          <p:cNvPr id="6" name="Footer Placeholder 7">
            <a:extLst>
              <a:ext uri="{FF2B5EF4-FFF2-40B4-BE49-F238E27FC236}">
                <a16:creationId xmlns:a16="http://schemas.microsoft.com/office/drawing/2014/main" id="{C9302E01-FFBE-4FF0-034F-30AE985A79ED}"/>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457503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7">
            <a:extLst>
              <a:ext uri="{FF2B5EF4-FFF2-40B4-BE49-F238E27FC236}">
                <a16:creationId xmlns:a16="http://schemas.microsoft.com/office/drawing/2014/main" id="{A6526409-90E9-E7E1-3A56-5E9CC7FAF266}"/>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4120280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Footer Placeholder 7">
            <a:extLst>
              <a:ext uri="{FF2B5EF4-FFF2-40B4-BE49-F238E27FC236}">
                <a16:creationId xmlns:a16="http://schemas.microsoft.com/office/drawing/2014/main" id="{30FAA1DA-807D-5822-720A-CDE3F6847ADD}"/>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423088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Footer Placeholder 7">
            <a:extLst>
              <a:ext uri="{FF2B5EF4-FFF2-40B4-BE49-F238E27FC236}">
                <a16:creationId xmlns:a16="http://schemas.microsoft.com/office/drawing/2014/main" id="{4C9D83BE-7273-D727-7A95-1537E313079C}"/>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3794633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843784" y="282931"/>
            <a:ext cx="8510016" cy="1050531"/>
          </a:xfrm>
          <a:prstGeom prst="rect">
            <a:avLst/>
          </a:prstGeo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7">
            <a:extLst>
              <a:ext uri="{FF2B5EF4-FFF2-40B4-BE49-F238E27FC236}">
                <a16:creationId xmlns:a16="http://schemas.microsoft.com/office/drawing/2014/main" id="{8669B2F4-83DB-3FF1-8FDF-AA9829120606}"/>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692221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7">
            <a:extLst>
              <a:ext uri="{FF2B5EF4-FFF2-40B4-BE49-F238E27FC236}">
                <a16:creationId xmlns:a16="http://schemas.microsoft.com/office/drawing/2014/main" id="{B306E8DF-42D3-5DCD-9E8E-8F8E91F971AB}"/>
              </a:ext>
            </a:extLst>
          </p:cNvPr>
          <p:cNvSpPr>
            <a:spLocks noGrp="1"/>
          </p:cNvSpPr>
          <p:nvPr>
            <p:ph type="ftr" sz="quarter" idx="3"/>
          </p:nvPr>
        </p:nvSpPr>
        <p:spPr>
          <a:xfrm>
            <a:off x="838200" y="6356350"/>
            <a:ext cx="10515600" cy="365125"/>
          </a:xfrm>
          <a:prstGeom prst="rect">
            <a:avLst/>
          </a:prstGeom>
          <a:ln>
            <a:noFill/>
          </a:ln>
        </p:spPr>
        <p:txBody>
          <a:bodyPr vert="horz" lIns="91440" tIns="45720" rIns="91440" bIns="45720" rtlCol="0" anchor="ctr"/>
          <a:lstStyle>
            <a:lvl1pPr marL="0" marR="0" indent="0" algn="ctr" defTabSz="457200" rtl="0" eaLnBrk="1" fontAlgn="auto" latinLnBrk="0" hangingPunct="1">
              <a:lnSpc>
                <a:spcPct val="100000"/>
              </a:lnSpc>
              <a:spcBef>
                <a:spcPts val="0"/>
              </a:spcBef>
              <a:spcAft>
                <a:spcPts val="0"/>
              </a:spcAft>
              <a:buClrTx/>
              <a:buSzTx/>
              <a:buFontTx/>
              <a:buNone/>
              <a:tabLst/>
              <a:defRPr sz="9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1757644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BF1A32-7ED7-AE66-BF3F-32FEBA886B5D}"/>
              </a:ext>
            </a:extLst>
          </p:cNvPr>
          <p:cNvPicPr>
            <a:picLocks noChangeAspect="1"/>
          </p:cNvPicPr>
          <p:nvPr userDrawn="1"/>
        </p:nvPicPr>
        <p:blipFill rotWithShape="1">
          <a:blip r:embed="rId13">
            <a:extLst>
              <a:ext uri="{BEBA8EAE-BF5A-486C-A8C5-ECC9F3942E4B}">
                <a14:imgProps xmlns:a14="http://schemas.microsoft.com/office/drawing/2010/main">
                  <a14:imgLayer r:embed="rId14">
                    <a14:imgEffect>
                      <a14:sharpenSoften amount="50000"/>
                    </a14:imgEffect>
                    <a14:imgEffect>
                      <a14:brightnessContrast contrast="100000"/>
                    </a14:imgEffect>
                  </a14:imgLayer>
                </a14:imgProps>
              </a:ext>
              <a:ext uri="{28A0092B-C50C-407E-A947-70E740481C1C}">
                <a14:useLocalDpi xmlns:a14="http://schemas.microsoft.com/office/drawing/2010/main" val="0"/>
              </a:ext>
            </a:extLst>
          </a:blip>
          <a:srcRect l="375" t="600" r="642"/>
          <a:stretch/>
        </p:blipFill>
        <p:spPr bwMode="auto">
          <a:xfrm>
            <a:off x="838200" y="282931"/>
            <a:ext cx="1765324" cy="1050531"/>
          </a:xfrm>
          <a:prstGeom prst="rect">
            <a:avLst/>
          </a:prstGeom>
          <a:noFill/>
          <a:ln>
            <a:noFill/>
          </a:ln>
        </p:spPr>
      </p:pic>
      <p:cxnSp>
        <p:nvCxnSpPr>
          <p:cNvPr id="10" name="Straight Connector 9">
            <a:extLst>
              <a:ext uri="{FF2B5EF4-FFF2-40B4-BE49-F238E27FC236}">
                <a16:creationId xmlns:a16="http://schemas.microsoft.com/office/drawing/2014/main" id="{ACA603D9-487D-F442-A363-C94794B2E8A7}"/>
              </a:ext>
            </a:extLst>
          </p:cNvPr>
          <p:cNvCxnSpPr>
            <a:cxnSpLocks/>
          </p:cNvCxnSpPr>
          <p:nvPr userDrawn="1"/>
        </p:nvCxnSpPr>
        <p:spPr>
          <a:xfrm>
            <a:off x="838200" y="617696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90EC78E-36D0-6EDD-4F54-599D4DCFD2F1}"/>
              </a:ext>
            </a:extLst>
          </p:cNvPr>
          <p:cNvCxnSpPr>
            <a:cxnSpLocks/>
          </p:cNvCxnSpPr>
          <p:nvPr userDrawn="1"/>
        </p:nvCxnSpPr>
        <p:spPr>
          <a:xfrm>
            <a:off x="838200" y="6438735"/>
            <a:ext cx="10515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itle Placeholder 16">
            <a:extLst>
              <a:ext uri="{FF2B5EF4-FFF2-40B4-BE49-F238E27FC236}">
                <a16:creationId xmlns:a16="http://schemas.microsoft.com/office/drawing/2014/main" id="{4EB62306-4DB1-0C16-FD02-F978E22A713D}"/>
              </a:ext>
            </a:extLst>
          </p:cNvPr>
          <p:cNvSpPr>
            <a:spLocks noGrp="1"/>
          </p:cNvSpPr>
          <p:nvPr>
            <p:ph type="title"/>
          </p:nvPr>
        </p:nvSpPr>
        <p:spPr>
          <a:xfrm>
            <a:off x="2751513" y="291794"/>
            <a:ext cx="8602287" cy="930177"/>
          </a:xfrm>
          <a:prstGeom prst="rect">
            <a:avLst/>
          </a:prstGeom>
        </p:spPr>
        <p:txBody>
          <a:bodyPr vert="horz" lIns="91440" tIns="45720" rIns="91440" bIns="45720" rtlCol="0" anchor="ctr">
            <a:normAutofit/>
          </a:bodyPr>
          <a:lstStyle/>
          <a:p>
            <a:r>
              <a:rPr lang="en-GB"/>
              <a:t>Click to edit Master title style</a:t>
            </a:r>
            <a:endParaRPr lang="aa-ET"/>
          </a:p>
        </p:txBody>
      </p:sp>
      <p:sp>
        <p:nvSpPr>
          <p:cNvPr id="18" name="Text Placeholder 17">
            <a:extLst>
              <a:ext uri="{FF2B5EF4-FFF2-40B4-BE49-F238E27FC236}">
                <a16:creationId xmlns:a16="http://schemas.microsoft.com/office/drawing/2014/main" id="{AD394821-2868-4EF8-6E39-CCCC04BF74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aa-ET"/>
          </a:p>
        </p:txBody>
      </p:sp>
      <p:cxnSp>
        <p:nvCxnSpPr>
          <p:cNvPr id="3" name="Straight Connector 2">
            <a:extLst>
              <a:ext uri="{FF2B5EF4-FFF2-40B4-BE49-F238E27FC236}">
                <a16:creationId xmlns:a16="http://schemas.microsoft.com/office/drawing/2014/main" id="{4EAD2543-0F31-E0B8-C1CA-64FAF24066C2}"/>
              </a:ext>
            </a:extLst>
          </p:cNvPr>
          <p:cNvCxnSpPr/>
          <p:nvPr userDrawn="1"/>
        </p:nvCxnSpPr>
        <p:spPr>
          <a:xfrm>
            <a:off x="2751513" y="1333462"/>
            <a:ext cx="86022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48314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90000"/>
        </a:lnSpc>
        <a:spcBef>
          <a:spcPct val="0"/>
        </a:spcBef>
        <a:buNone/>
        <a:defRPr sz="3600" b="1"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A323B-F5C3-B592-FB36-4B5BAEECEC8A}"/>
              </a:ext>
            </a:extLst>
          </p:cNvPr>
          <p:cNvSpPr>
            <a:spLocks noGrp="1"/>
          </p:cNvSpPr>
          <p:nvPr>
            <p:ph type="ctrTitle"/>
          </p:nvPr>
        </p:nvSpPr>
        <p:spPr>
          <a:xfrm>
            <a:off x="838200" y="1941606"/>
            <a:ext cx="10515600" cy="2566386"/>
          </a:xfrm>
        </p:spPr>
        <p:txBody>
          <a:bodyPr anchor="ctr">
            <a:noAutofit/>
          </a:bodyPr>
          <a:lstStyle/>
          <a:p>
            <a:r>
              <a:rPr lang="en-GB" sz="4400" dirty="0"/>
              <a:t>PRINCIPLES OF SOFTWARE ENGINEERING</a:t>
            </a:r>
            <a:r>
              <a:rPr lang="en-GB" sz="4400" dirty="0">
                <a:latin typeface="Tahoma" panose="020B0604030504040204" pitchFamily="34" charset="0"/>
                <a:ea typeface="Tahoma" panose="020B0604030504040204" pitchFamily="34" charset="0"/>
                <a:cs typeface="Tahoma" panose="020B0604030504040204" pitchFamily="34" charset="0"/>
              </a:rPr>
              <a:t> </a:t>
            </a:r>
            <a:endParaRPr lang="aa-ET" sz="4400" dirty="0">
              <a:latin typeface="Tahoma" panose="020B0604030504040204" pitchFamily="34" charset="0"/>
              <a:ea typeface="Tahoma" panose="020B0604030504040204" pitchFamily="34" charset="0"/>
              <a:cs typeface="Tahoma" panose="020B0604030504040204" pitchFamily="34" charset="0"/>
            </a:endParaRPr>
          </a:p>
        </p:txBody>
      </p:sp>
      <p:sp>
        <p:nvSpPr>
          <p:cNvPr id="3" name="Subtitle 2">
            <a:extLst>
              <a:ext uri="{FF2B5EF4-FFF2-40B4-BE49-F238E27FC236}">
                <a16:creationId xmlns:a16="http://schemas.microsoft.com/office/drawing/2014/main" id="{B6A380B1-3D40-258B-262F-E3A1CE85CEE4}"/>
              </a:ext>
            </a:extLst>
          </p:cNvPr>
          <p:cNvSpPr>
            <a:spLocks noGrp="1"/>
          </p:cNvSpPr>
          <p:nvPr>
            <p:ph type="subTitle" idx="1"/>
          </p:nvPr>
        </p:nvSpPr>
        <p:spPr>
          <a:xfrm>
            <a:off x="1524000" y="4926892"/>
            <a:ext cx="9144000" cy="1134173"/>
          </a:xfrm>
        </p:spPr>
        <p:txBody>
          <a:bodyPr>
            <a:normAutofit/>
          </a:bodyPr>
          <a:lstStyle/>
          <a:p>
            <a:r>
              <a:rPr lang="en-US" sz="3200" dirty="0"/>
              <a:t>LECTURE 2</a:t>
            </a:r>
            <a:endParaRPr lang="aa-ET" sz="3200" dirty="0">
              <a:latin typeface="Tahoma" panose="020B0604030504040204" pitchFamily="34" charset="0"/>
              <a:ea typeface="Tahoma" panose="020B0604030504040204" pitchFamily="34" charset="0"/>
              <a:cs typeface="Tahoma" panose="020B0604030504040204" pitchFamily="34" charset="0"/>
            </a:endParaRPr>
          </a:p>
        </p:txBody>
      </p:sp>
      <p:sp>
        <p:nvSpPr>
          <p:cNvPr id="4" name="Footer Placeholder 7">
            <a:extLst>
              <a:ext uri="{FF2B5EF4-FFF2-40B4-BE49-F238E27FC236}">
                <a16:creationId xmlns:a16="http://schemas.microsoft.com/office/drawing/2014/main" id="{AA5908C0-CE78-2C19-AE4A-3DE035E8370B}"/>
              </a:ext>
            </a:extLst>
          </p:cNvPr>
          <p:cNvSpPr txBox="1">
            <a:spLocks/>
          </p:cNvSpPr>
          <p:nvPr/>
        </p:nvSpPr>
        <p:spPr>
          <a:xfrm>
            <a:off x="838200" y="6479966"/>
            <a:ext cx="10515600" cy="365125"/>
          </a:xfrm>
          <a:prstGeom prst="rect">
            <a:avLst/>
          </a:prstGeom>
          <a:ln>
            <a:noFill/>
          </a:ln>
        </p:spPr>
        <p:txBody>
          <a:bodyPr vert="horz" lIns="91440" tIns="45720" rIns="91440" bIns="45720" rtlCol="0" anchor="ctr"/>
          <a:lstStyle>
            <a:defPPr>
              <a:defRPr lang="en-US"/>
            </a:defPPr>
            <a:lvl1pPr marL="0" marR="0" indent="0" algn="ctr" defTabSz="457200" rtl="0" eaLnBrk="1" fontAlgn="auto" latinLnBrk="0" hangingPunct="1">
              <a:lnSpc>
                <a:spcPct val="100000"/>
              </a:lnSpc>
              <a:spcBef>
                <a:spcPts val="0"/>
              </a:spcBef>
              <a:spcAft>
                <a:spcPts val="0"/>
              </a:spcAft>
              <a:buClrTx/>
              <a:buSzTx/>
              <a:buFontTx/>
              <a:buNone/>
              <a:tabLst/>
              <a:defRPr sz="900" kern="1200">
                <a:solidFill>
                  <a:schemeClr val="tx1">
                    <a:tint val="75000"/>
                  </a:schemeClr>
                </a:solidFill>
                <a:latin typeface="Tahoma" panose="020B0604030504040204" pitchFamily="34" charset="0"/>
                <a:ea typeface="Tahoma" panose="020B0604030504040204" pitchFamily="34" charset="0"/>
                <a:cs typeface="Tahom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800" dirty="0"/>
              <a:t>ALL RIGHTS RESERVED </a:t>
            </a:r>
          </a:p>
          <a:p>
            <a:r>
              <a:rPr lang="en-GB" sz="800" dirty="0"/>
              <a:t>No part of this document may be reproduced without written approval from Limkokwing University of Creative Technology</a:t>
            </a:r>
          </a:p>
          <a:p>
            <a:endParaRPr lang="aa-ET" sz="800" dirty="0"/>
          </a:p>
        </p:txBody>
      </p:sp>
    </p:spTree>
    <p:extLst>
      <p:ext uri="{BB962C8B-B14F-4D97-AF65-F5344CB8AC3E}">
        <p14:creationId xmlns:p14="http://schemas.microsoft.com/office/powerpoint/2010/main" val="392171472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p:txBody>
          <a:bodyPr/>
          <a:lstStyle/>
          <a:p>
            <a:r>
              <a:rPr lang="en-GB" altLang="en-US" dirty="0"/>
              <a:t>Objectives</a:t>
            </a:r>
            <a:endParaRPr lang="aa-ET"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p:txBody>
          <a:bodyPr/>
          <a:lstStyle/>
          <a:p>
            <a:r>
              <a:rPr lang="en-GB" altLang="en-US" dirty="0"/>
              <a:t>Define software Development Life Cycle</a:t>
            </a:r>
          </a:p>
          <a:p>
            <a:r>
              <a:rPr lang="en-GB" altLang="en-US" dirty="0"/>
              <a:t>Understanding SDLC models</a:t>
            </a:r>
          </a:p>
          <a:p>
            <a:r>
              <a:rPr lang="en-GB" altLang="en-US" dirty="0"/>
              <a:t>Understand Agile Processes</a:t>
            </a:r>
          </a:p>
          <a:p>
            <a:pPr marL="0" indent="0">
              <a:buNone/>
            </a:pPr>
            <a:endParaRPr lang="aa-ET" dirty="0">
              <a:latin typeface="Tahoma" panose="020B0604030504040204" pitchFamily="34" charset="0"/>
              <a:ea typeface="Tahoma" panose="020B0604030504040204" pitchFamily="34" charset="0"/>
              <a:cs typeface="Tahoma" panose="020B0604030504040204" pitchFamily="34" charset="0"/>
            </a:endParaRPr>
          </a:p>
          <a:p>
            <a:pPr marL="514350" indent="-514350">
              <a:buFont typeface="+mj-lt"/>
              <a:buAutoNum type="arabicPeriod"/>
            </a:pPr>
            <a:endParaRPr lang="aa-ET" dirty="0"/>
          </a:p>
          <a:p>
            <a:pPr marL="514350" indent="-514350">
              <a:buFont typeface="+mj-lt"/>
              <a:buAutoNum type="arabicPeriod"/>
            </a:pPr>
            <a:endParaRPr lang="aa-ET" dirty="0">
              <a:latin typeface="Tahoma" panose="020B0604030504040204" pitchFamily="34" charset="0"/>
              <a:ea typeface="Tahoma" panose="020B0604030504040204" pitchFamily="34" charset="0"/>
              <a:cs typeface="Tahoma" panose="020B0604030504040204" pitchFamily="34" charset="0"/>
            </a:endParaRPr>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4016491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0686-74A7-CB1B-1E58-8D32C903AC8E}"/>
              </a:ext>
            </a:extLst>
          </p:cNvPr>
          <p:cNvSpPr>
            <a:spLocks noGrp="1"/>
          </p:cNvSpPr>
          <p:nvPr>
            <p:ph type="title"/>
          </p:nvPr>
        </p:nvSpPr>
        <p:spPr/>
        <p:txBody>
          <a:bodyPr/>
          <a:lstStyle/>
          <a:p>
            <a:r>
              <a:rPr lang="en-GB" altLang="en-US" dirty="0"/>
              <a:t>Software Development Life cycle</a:t>
            </a:r>
            <a:endParaRPr lang="aa-ET" dirty="0"/>
          </a:p>
        </p:txBody>
      </p:sp>
      <p:sp>
        <p:nvSpPr>
          <p:cNvPr id="3" name="Content Placeholder 2">
            <a:extLst>
              <a:ext uri="{FF2B5EF4-FFF2-40B4-BE49-F238E27FC236}">
                <a16:creationId xmlns:a16="http://schemas.microsoft.com/office/drawing/2014/main" id="{D41E40EB-D821-1638-E169-2EA4DC8E8581}"/>
              </a:ext>
            </a:extLst>
          </p:cNvPr>
          <p:cNvSpPr>
            <a:spLocks noGrp="1"/>
          </p:cNvSpPr>
          <p:nvPr>
            <p:ph idx="1"/>
          </p:nvPr>
        </p:nvSpPr>
        <p:spPr/>
        <p:txBody>
          <a:bodyPr>
            <a:normAutofit fontScale="85000" lnSpcReduction="10000"/>
          </a:bodyPr>
          <a:lstStyle/>
          <a:p>
            <a:pPr marL="0" indent="0">
              <a:buFontTx/>
              <a:buNone/>
              <a:defRPr/>
            </a:pPr>
            <a:r>
              <a:rPr lang="en-US" sz="3200" dirty="0"/>
              <a:t>The software development life cycle (SDLC) refers to a series of stages that software goes through from its initial planning to its final deployment and maintenance. The SDLC process typically consists of the following stages:</a:t>
            </a:r>
          </a:p>
          <a:p>
            <a:pPr>
              <a:defRPr/>
            </a:pPr>
            <a:r>
              <a:rPr lang="en-US" sz="3200" dirty="0">
                <a:solidFill>
                  <a:srgbClr val="FFFF00"/>
                </a:solidFill>
              </a:rPr>
              <a:t>Planning</a:t>
            </a:r>
            <a:r>
              <a:rPr lang="en-US" sz="3200" dirty="0"/>
              <a:t>: This is the initial stage of the SDLC process, where the software requirements are gathered, and a project plan is developed. This stage typically involves defining the project scope, objectives, budget, and timelines.</a:t>
            </a:r>
          </a:p>
          <a:p>
            <a:pPr>
              <a:defRPr/>
            </a:pPr>
            <a:r>
              <a:rPr lang="en-US" sz="3200" dirty="0">
                <a:solidFill>
                  <a:srgbClr val="FFFF00"/>
                </a:solidFill>
              </a:rPr>
              <a:t>Analysis</a:t>
            </a:r>
            <a:r>
              <a:rPr lang="en-US" sz="3200" dirty="0"/>
              <a:t>: In this stage, the software requirements are analyzed, and the functional and technical specifications of the software are documented. This stage helps to identify any</a:t>
            </a:r>
          </a:p>
          <a:p>
            <a:pPr marL="0" indent="0">
              <a:buNone/>
            </a:pPr>
            <a:endParaRPr lang="en-GB" sz="3200" b="0" i="0" dirty="0">
              <a:effectLst/>
            </a:endParaRPr>
          </a:p>
          <a:p>
            <a:endParaRPr lang="aa-ET" sz="3200" dirty="0"/>
          </a:p>
        </p:txBody>
      </p:sp>
      <p:sp>
        <p:nvSpPr>
          <p:cNvPr id="5" name="Footer Placeholder 4">
            <a:extLst>
              <a:ext uri="{FF2B5EF4-FFF2-40B4-BE49-F238E27FC236}">
                <a16:creationId xmlns:a16="http://schemas.microsoft.com/office/drawing/2014/main" id="{66C5FD6A-1C8C-2E58-0746-3D080D10F787}"/>
              </a:ext>
            </a:extLst>
          </p:cNvPr>
          <p:cNvSpPr>
            <a:spLocks noGrp="1"/>
          </p:cNvSpPr>
          <p:nvPr>
            <p:ph type="ftr" sz="quarter" idx="3"/>
          </p:nvPr>
        </p:nvSpPr>
        <p:spPr>
          <a:xfrm>
            <a:off x="838200" y="6457954"/>
            <a:ext cx="10515600" cy="365125"/>
          </a:xfrm>
        </p:spPr>
        <p:txBody>
          <a:bodyPr/>
          <a:lstStyle/>
          <a:p>
            <a:r>
              <a:rPr lang="en-GB" dirty="0"/>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2295925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Software Development Life cycle</a:t>
            </a:r>
            <a:endParaRPr lang="en-US" dirty="0"/>
          </a:p>
        </p:txBody>
      </p:sp>
      <p:sp>
        <p:nvSpPr>
          <p:cNvPr id="3" name="Content Placeholder 2"/>
          <p:cNvSpPr>
            <a:spLocks noGrp="1"/>
          </p:cNvSpPr>
          <p:nvPr>
            <p:ph idx="1"/>
          </p:nvPr>
        </p:nvSpPr>
        <p:spPr/>
        <p:txBody>
          <a:bodyPr>
            <a:normAutofit fontScale="92500"/>
          </a:bodyPr>
          <a:lstStyle/>
          <a:p>
            <a:r>
              <a:rPr lang="en-US" altLang="en-US" b="1" dirty="0">
                <a:solidFill>
                  <a:srgbClr val="FFFF00"/>
                </a:solidFill>
              </a:rPr>
              <a:t>Design</a:t>
            </a:r>
            <a:r>
              <a:rPr lang="en-US" altLang="en-US" dirty="0"/>
              <a:t>: In this stage, the software design is developed based on the functional and technical specifications. The design stage typically involves creating detailed design documents, selecting appropriate technologies, and defining the system architecture.</a:t>
            </a:r>
          </a:p>
          <a:p>
            <a:r>
              <a:rPr lang="en-US" altLang="en-US" dirty="0">
                <a:solidFill>
                  <a:srgbClr val="FFFF00"/>
                </a:solidFill>
              </a:rPr>
              <a:t>Development</a:t>
            </a:r>
            <a:r>
              <a:rPr lang="en-US" altLang="en-US" dirty="0"/>
              <a:t>: This is the stage where the actual software development takes place. The development team creates the code, tests it, and integrates it into the larger system.</a:t>
            </a:r>
          </a:p>
          <a:p>
            <a:r>
              <a:rPr lang="en-US" altLang="en-US" dirty="0">
                <a:solidFill>
                  <a:srgbClr val="FFFF00"/>
                </a:solidFill>
              </a:rPr>
              <a:t>Testing</a:t>
            </a:r>
            <a:r>
              <a:rPr lang="en-US" altLang="en-US" dirty="0"/>
              <a:t>: In this stage, the software is tested to ensure that it meets the functional and technical specifications, is free of defects, and is of high quality. Various types of testing are performed, including unit testing, integration testing, system testing, and acceptance testing</a:t>
            </a:r>
          </a:p>
          <a:p>
            <a:pPr marL="0" indent="0">
              <a:buNone/>
            </a:pPr>
            <a:endParaRPr lang="en-US" dirty="0"/>
          </a:p>
        </p:txBody>
      </p:sp>
      <p:sp>
        <p:nvSpPr>
          <p:cNvPr id="4" name="Footer Placeholder 3"/>
          <p:cNvSpPr>
            <a:spLocks noGrp="1"/>
          </p:cNvSpPr>
          <p:nvPr>
            <p:ph type="ftr" sz="quarter" idx="3"/>
          </p:nvPr>
        </p:nvSpPr>
        <p:spPr/>
        <p:txBody>
          <a:body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2221774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SDLC Cont..</a:t>
            </a:r>
          </a:p>
        </p:txBody>
      </p:sp>
      <p:sp>
        <p:nvSpPr>
          <p:cNvPr id="3" name="Content Placeholder 2"/>
          <p:cNvSpPr>
            <a:spLocks noGrp="1"/>
          </p:cNvSpPr>
          <p:nvPr>
            <p:ph idx="1"/>
          </p:nvPr>
        </p:nvSpPr>
        <p:spPr/>
        <p:txBody>
          <a:bodyPr>
            <a:normAutofit fontScale="92500"/>
          </a:bodyPr>
          <a:lstStyle/>
          <a:p>
            <a:r>
              <a:rPr lang="en-US" altLang="en-US" dirty="0">
                <a:solidFill>
                  <a:srgbClr val="FFFF00"/>
                </a:solidFill>
              </a:rPr>
              <a:t>Deployment:</a:t>
            </a:r>
            <a:r>
              <a:rPr lang="en-US" altLang="en-US" dirty="0"/>
              <a:t> Once the software has been tested and is deemed to be stable, it is deployed to the production environment. This stage involves installing the software on the users' systems and ensuring that it is running correctly.</a:t>
            </a:r>
          </a:p>
          <a:p>
            <a:r>
              <a:rPr lang="en-US" altLang="en-US" dirty="0">
                <a:solidFill>
                  <a:srgbClr val="FFFF00"/>
                </a:solidFill>
              </a:rPr>
              <a:t>Maintenance</a:t>
            </a:r>
            <a:r>
              <a:rPr lang="en-US" altLang="en-US" dirty="0"/>
              <a:t>: This is the final stage of the SDLC process, where the software is maintained and updated to ensure that it continues to function correctly and meets the changing needs of the users.</a:t>
            </a:r>
          </a:p>
          <a:p>
            <a:r>
              <a:rPr lang="en-US" altLang="en-US" dirty="0"/>
              <a:t>By following the SDLC process, software development teams can ensure that software is developed in a systematic and controlled manner, resulting in software that is of high quality, meets user requirements, and is delivered on time and within budget.</a:t>
            </a:r>
            <a:endParaRPr lang="en-GB" altLang="en-US" dirty="0"/>
          </a:p>
          <a:p>
            <a:pPr marL="0" indent="0">
              <a:buNone/>
            </a:pPr>
            <a:endParaRPr lang="en-US" dirty="0"/>
          </a:p>
        </p:txBody>
      </p:sp>
      <p:sp>
        <p:nvSpPr>
          <p:cNvPr id="4" name="Footer Placeholder 3"/>
          <p:cNvSpPr>
            <a:spLocks noGrp="1"/>
          </p:cNvSpPr>
          <p:nvPr>
            <p:ph type="ftr" sz="quarter" idx="3"/>
          </p:nvPr>
        </p:nvSpPr>
        <p:spPr/>
        <p:txBody>
          <a:body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2959313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dirty="0"/>
              <a:t>Software Development Life cycle model</a:t>
            </a:r>
            <a:endParaRPr lang="en-US" dirty="0"/>
          </a:p>
        </p:txBody>
      </p:sp>
      <p:sp>
        <p:nvSpPr>
          <p:cNvPr id="3" name="Content Placeholder 2"/>
          <p:cNvSpPr>
            <a:spLocks noGrp="1"/>
          </p:cNvSpPr>
          <p:nvPr>
            <p:ph idx="1"/>
          </p:nvPr>
        </p:nvSpPr>
        <p:spPr/>
        <p:txBody>
          <a:bodyPr/>
          <a:lstStyle/>
          <a:p>
            <a:pPr marL="0" indent="0">
              <a:buNone/>
            </a:pPr>
            <a:r>
              <a:rPr lang="en-US" altLang="en-US" dirty="0"/>
              <a:t>A software development life cycle (SDLC) model is a structured approach to software development that describes the phases and activities involved in developing and maintaining software. There are several SDLC models, each with its own set of phases and activities. These are as follows</a:t>
            </a:r>
            <a:endParaRPr lang="en-GB" altLang="en-US" dirty="0"/>
          </a:p>
          <a:p>
            <a:pPr marL="0" indent="0">
              <a:buNone/>
            </a:pPr>
            <a:endParaRPr lang="en-US" dirty="0"/>
          </a:p>
        </p:txBody>
      </p:sp>
      <p:sp>
        <p:nvSpPr>
          <p:cNvPr id="4" name="Footer Placeholder 3"/>
          <p:cNvSpPr>
            <a:spLocks noGrp="1"/>
          </p:cNvSpPr>
          <p:nvPr>
            <p:ph type="ftr" sz="quarter" idx="3"/>
          </p:nvPr>
        </p:nvSpPr>
        <p:spPr/>
        <p:txBody>
          <a:body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4157874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The Waterfall Model</a:t>
            </a:r>
            <a:endParaRPr lang="en-US" dirty="0"/>
          </a:p>
        </p:txBody>
      </p:sp>
      <p:sp>
        <p:nvSpPr>
          <p:cNvPr id="3" name="Content Placeholder 2"/>
          <p:cNvSpPr>
            <a:spLocks noGrp="1"/>
          </p:cNvSpPr>
          <p:nvPr>
            <p:ph idx="1"/>
          </p:nvPr>
        </p:nvSpPr>
        <p:spPr/>
        <p:txBody>
          <a:bodyPr/>
          <a:lstStyle/>
          <a:p>
            <a:pPr marL="457200" indent="-457200"/>
            <a:r>
              <a:rPr lang="en-GB" altLang="en-US" dirty="0"/>
              <a:t>Suggests a systematic , sequential approach to software development .</a:t>
            </a:r>
          </a:p>
          <a:p>
            <a:pPr marL="457200" indent="-457200"/>
            <a:r>
              <a:rPr lang="en-GB" altLang="en-US" dirty="0"/>
              <a:t>The problems with this model are:</a:t>
            </a:r>
          </a:p>
          <a:p>
            <a:pPr marL="457200" indent="-457200">
              <a:buFontTx/>
              <a:buAutoNum type="arabicPeriod"/>
            </a:pPr>
            <a:r>
              <a:rPr lang="en-GB" altLang="en-US" dirty="0"/>
              <a:t>The projects rarely follow sequential flow it proposes.</a:t>
            </a:r>
          </a:p>
          <a:p>
            <a:pPr marL="457200" indent="-457200">
              <a:buFontTx/>
              <a:buAutoNum type="arabicPeriod"/>
            </a:pPr>
            <a:r>
              <a:rPr lang="en-GB" altLang="en-US" dirty="0"/>
              <a:t>It is difficult to state all requirements explicitly.</a:t>
            </a:r>
          </a:p>
          <a:p>
            <a:pPr marL="457200" indent="-457200">
              <a:buFontTx/>
              <a:buAutoNum type="arabicPeriod"/>
            </a:pPr>
            <a:r>
              <a:rPr lang="en-GB" altLang="en-US" dirty="0"/>
              <a:t>The customer must have patience, a working version of the program will not be available until late in the project.</a:t>
            </a:r>
          </a:p>
          <a:p>
            <a:pPr marL="0" indent="0">
              <a:buNone/>
            </a:pPr>
            <a:endParaRPr lang="en-US" dirty="0"/>
          </a:p>
        </p:txBody>
      </p:sp>
      <p:sp>
        <p:nvSpPr>
          <p:cNvPr id="4" name="Footer Placeholder 3"/>
          <p:cNvSpPr>
            <a:spLocks noGrp="1"/>
          </p:cNvSpPr>
          <p:nvPr>
            <p:ph type="ftr" sz="quarter" idx="3"/>
          </p:nvPr>
        </p:nvSpPr>
        <p:spPr/>
        <p:txBody>
          <a:body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4227943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The Waterfall Model</a:t>
            </a:r>
            <a:endParaRPr lang="en-US" dirty="0"/>
          </a:p>
        </p:txBody>
      </p:sp>
      <p:sp>
        <p:nvSpPr>
          <p:cNvPr id="3" name="Content Placeholder 2"/>
          <p:cNvSpPr>
            <a:spLocks noGrp="1"/>
          </p:cNvSpPr>
          <p:nvPr>
            <p:ph idx="1"/>
          </p:nvPr>
        </p:nvSpPr>
        <p:spPr/>
        <p:txBody>
          <a:bodyPr>
            <a:normAutofit fontScale="55000" lnSpcReduction="20000"/>
          </a:bodyPr>
          <a:lstStyle/>
          <a:p>
            <a:pPr>
              <a:buNone/>
            </a:pPr>
            <a:r>
              <a:rPr lang="en-US" altLang="en-US" sz="3200" dirty="0"/>
              <a:t>   The waterfall model can also be a traditional software development methodology that consists of a linear, sequential approach to software development. It is called the waterfall model because it flows from one stage to another in a linear manner, with each stage serving as the foundation for the next. Here are the stages, </a:t>
            </a:r>
          </a:p>
          <a:p>
            <a:r>
              <a:rPr lang="en-US" altLang="en-US" sz="3200" dirty="0"/>
              <a:t>Requirements gathering: In this stage, the requirements for the software are collected and documented.</a:t>
            </a:r>
          </a:p>
          <a:p>
            <a:r>
              <a:rPr lang="en-US" altLang="en-US" sz="3200" dirty="0"/>
              <a:t>Analysis: In this stage, the requirements are analyzed, and the feasibility of the project is determined.</a:t>
            </a:r>
          </a:p>
          <a:p>
            <a:r>
              <a:rPr lang="en-US" altLang="en-US" sz="3200" dirty="0"/>
              <a:t>Design: In this stage, the software design is created based on the requirements and analysis.</a:t>
            </a:r>
          </a:p>
          <a:p>
            <a:r>
              <a:rPr lang="en-US" altLang="en-US" sz="3200" dirty="0"/>
              <a:t>Implementation: In this stage, the software is developed and programmed based on the design.</a:t>
            </a:r>
          </a:p>
          <a:p>
            <a:r>
              <a:rPr lang="en-US" altLang="en-US" sz="3200" dirty="0"/>
              <a:t>Testing: In this stage, the software is tested to ensure that it meets the requirements and specifications.</a:t>
            </a:r>
          </a:p>
          <a:p>
            <a:r>
              <a:rPr lang="en-US" altLang="en-US" sz="3200" dirty="0"/>
              <a:t>Deployment: In this stage, the software is deployed and made available to end-users.</a:t>
            </a:r>
          </a:p>
          <a:p>
            <a:r>
              <a:rPr lang="en-US" altLang="en-US" sz="3200" dirty="0"/>
              <a:t>Maintenance: In this stage, the software is maintained and updated as needed.</a:t>
            </a:r>
          </a:p>
          <a:p>
            <a:pPr marL="0" indent="0">
              <a:buNone/>
            </a:pPr>
            <a:endParaRPr lang="en-US" dirty="0"/>
          </a:p>
        </p:txBody>
      </p:sp>
      <p:sp>
        <p:nvSpPr>
          <p:cNvPr id="4" name="Footer Placeholder 3"/>
          <p:cNvSpPr>
            <a:spLocks noGrp="1"/>
          </p:cNvSpPr>
          <p:nvPr>
            <p:ph type="ftr" sz="quarter" idx="3"/>
          </p:nvPr>
        </p:nvSpPr>
        <p:spPr/>
        <p:txBody>
          <a:body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945147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ltLang="en-US" dirty="0"/>
              <a:t>Advantages and Disadvantages of waterfall model</a:t>
            </a:r>
            <a:endParaRPr lang="en-US" dirty="0"/>
          </a:p>
        </p:txBody>
      </p:sp>
      <p:sp>
        <p:nvSpPr>
          <p:cNvPr id="3" name="Content Placeholder 2"/>
          <p:cNvSpPr>
            <a:spLocks noGrp="1"/>
          </p:cNvSpPr>
          <p:nvPr>
            <p:ph idx="1"/>
          </p:nvPr>
        </p:nvSpPr>
        <p:spPr/>
        <p:txBody>
          <a:bodyPr>
            <a:normAutofit fontScale="70000" lnSpcReduction="20000"/>
          </a:bodyPr>
          <a:lstStyle/>
          <a:p>
            <a:pPr>
              <a:defRPr/>
            </a:pPr>
            <a:r>
              <a:rPr lang="en-US" dirty="0"/>
              <a:t>The linear approach of the waterfall model makes it easy to understand and implement.</a:t>
            </a:r>
          </a:p>
          <a:p>
            <a:pPr>
              <a:defRPr/>
            </a:pPr>
            <a:r>
              <a:rPr lang="en-US" dirty="0"/>
              <a:t>Each stage has specific deliverables and goals, which makes it easy to measure progress.</a:t>
            </a:r>
          </a:p>
          <a:p>
            <a:pPr>
              <a:defRPr/>
            </a:pPr>
            <a:r>
              <a:rPr lang="en-US" dirty="0"/>
              <a:t>The waterfall model is well-suited for projects with well-defined requirements.</a:t>
            </a:r>
          </a:p>
          <a:p>
            <a:pPr>
              <a:defRPr/>
            </a:pPr>
            <a:r>
              <a:rPr lang="en-US" dirty="0"/>
              <a:t>The model emphasizes documentation and planning, which can help reduce the risk of project failure.</a:t>
            </a:r>
          </a:p>
          <a:p>
            <a:pPr marL="0" indent="0">
              <a:buFontTx/>
              <a:buNone/>
              <a:defRPr/>
            </a:pPr>
            <a:r>
              <a:rPr lang="en-US" dirty="0"/>
              <a:t>                             Disadvantages:</a:t>
            </a:r>
          </a:p>
          <a:p>
            <a:pPr>
              <a:defRPr/>
            </a:pPr>
            <a:r>
              <a:rPr lang="en-US" dirty="0"/>
              <a:t>The waterfall model assumes that all requirements are known upfront, which may not be the case in real-world projects.</a:t>
            </a:r>
          </a:p>
          <a:p>
            <a:pPr>
              <a:defRPr/>
            </a:pPr>
            <a:r>
              <a:rPr lang="en-US" dirty="0"/>
              <a:t>The linear approach of the waterfall model can lead to delays if any stage takes longer than expected.</a:t>
            </a:r>
          </a:p>
          <a:p>
            <a:pPr>
              <a:defRPr/>
            </a:pPr>
            <a:r>
              <a:rPr lang="en-US" dirty="0"/>
              <a:t>Testing is typically done at the end of the development process, which can lead to costly errors if issues are not discovered until late in the project.</a:t>
            </a:r>
          </a:p>
          <a:p>
            <a:pPr>
              <a:defRPr/>
            </a:pPr>
            <a:r>
              <a:rPr lang="en-US" dirty="0"/>
              <a:t>Changes to requirements or design are difficult to implement once development has begun, which can make the model inflexible.</a:t>
            </a:r>
            <a:endParaRPr lang="en-GB" altLang="en-US" dirty="0"/>
          </a:p>
          <a:p>
            <a:pPr marL="0" indent="0">
              <a:buNone/>
            </a:pPr>
            <a:endParaRPr lang="en-US" dirty="0"/>
          </a:p>
        </p:txBody>
      </p:sp>
      <p:sp>
        <p:nvSpPr>
          <p:cNvPr id="4" name="Footer Placeholder 3"/>
          <p:cNvSpPr>
            <a:spLocks noGrp="1"/>
          </p:cNvSpPr>
          <p:nvPr>
            <p:ph type="ftr" sz="quarter" idx="3"/>
          </p:nvPr>
        </p:nvSpPr>
        <p:spPr/>
        <p:txBody>
          <a:bodyPr/>
          <a:lstStyle/>
          <a:p>
            <a:r>
              <a:rPr lang="en-GB"/>
              <a:t>ALL RIGHTS RESERVED
No part of this document may be reproduced without written approval from Limkokwing University of Creative Technology, Sierra Leone Campus</a:t>
            </a:r>
            <a:endParaRPr lang="aa-ET" dirty="0"/>
          </a:p>
        </p:txBody>
      </p:sp>
    </p:spTree>
    <p:extLst>
      <p:ext uri="{BB962C8B-B14F-4D97-AF65-F5344CB8AC3E}">
        <p14:creationId xmlns:p14="http://schemas.microsoft.com/office/powerpoint/2010/main" val="3057835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14339"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C0555588-D3CE-4ED1-B5D1-D2503DD7CC4D}" type="slidenum">
              <a:rPr lang="en-GB" altLang="en-US" sz="1000">
                <a:solidFill>
                  <a:srgbClr val="FFFF00"/>
                </a:solidFill>
                <a:latin typeface="Arial" panose="020B0604020202020204" pitchFamily="34" charset="0"/>
              </a:rPr>
              <a:pPr>
                <a:spcBef>
                  <a:spcPct val="0"/>
                </a:spcBef>
                <a:buClrTx/>
                <a:buFontTx/>
                <a:buNone/>
              </a:pPr>
              <a:t>10</a:t>
            </a:fld>
            <a:endParaRPr lang="en-GB" altLang="en-US" sz="1000">
              <a:solidFill>
                <a:srgbClr val="FFFF00"/>
              </a:solidFill>
              <a:latin typeface="Arial" panose="020B0604020202020204" pitchFamily="34" charset="0"/>
            </a:endParaRPr>
          </a:p>
        </p:txBody>
      </p:sp>
      <p:sp>
        <p:nvSpPr>
          <p:cNvPr id="14340" name="Rectangle 2"/>
          <p:cNvSpPr>
            <a:spLocks noGrp="1" noChangeArrowheads="1"/>
          </p:cNvSpPr>
          <p:nvPr>
            <p:ph type="title"/>
          </p:nvPr>
        </p:nvSpPr>
        <p:spPr/>
        <p:txBody>
          <a:bodyPr/>
          <a:lstStyle/>
          <a:p>
            <a:pPr eaLnBrk="1" hangingPunct="1"/>
            <a:r>
              <a:rPr lang="en-GB" altLang="en-US"/>
              <a:t>The Waterfall Model</a:t>
            </a:r>
          </a:p>
        </p:txBody>
      </p:sp>
      <p:sp>
        <p:nvSpPr>
          <p:cNvPr id="14341" name="Text Box 5"/>
          <p:cNvSpPr txBox="1">
            <a:spLocks noChangeArrowheads="1"/>
          </p:cNvSpPr>
          <p:nvPr/>
        </p:nvSpPr>
        <p:spPr bwMode="auto">
          <a:xfrm>
            <a:off x="1992314" y="2133601"/>
            <a:ext cx="1584325" cy="157162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eaLnBrk="1" hangingPunct="1">
              <a:spcBef>
                <a:spcPct val="50000"/>
              </a:spcBef>
              <a:buClrTx/>
              <a:buFontTx/>
              <a:buNone/>
            </a:pPr>
            <a:r>
              <a:rPr lang="en-GB" altLang="en-US" sz="1600" dirty="0">
                <a:solidFill>
                  <a:schemeClr val="tx1"/>
                </a:solidFill>
              </a:rPr>
              <a:t>Communication</a:t>
            </a:r>
          </a:p>
          <a:p>
            <a:pPr eaLnBrk="1" hangingPunct="1">
              <a:spcBef>
                <a:spcPct val="50000"/>
              </a:spcBef>
              <a:buClrTx/>
              <a:buFontTx/>
              <a:buNone/>
            </a:pPr>
            <a:r>
              <a:rPr lang="en-GB" altLang="en-US" sz="1600" dirty="0">
                <a:solidFill>
                  <a:schemeClr val="tx1"/>
                </a:solidFill>
              </a:rPr>
              <a:t>Project Initiation</a:t>
            </a:r>
          </a:p>
          <a:p>
            <a:pPr eaLnBrk="1" hangingPunct="1">
              <a:spcBef>
                <a:spcPct val="50000"/>
              </a:spcBef>
              <a:buClrTx/>
              <a:buFontTx/>
              <a:buNone/>
            </a:pPr>
            <a:r>
              <a:rPr lang="en-GB" altLang="en-US" sz="1600" dirty="0">
                <a:solidFill>
                  <a:schemeClr val="tx1"/>
                </a:solidFill>
              </a:rPr>
              <a:t>Requirements Gathering</a:t>
            </a:r>
          </a:p>
        </p:txBody>
      </p:sp>
      <p:sp>
        <p:nvSpPr>
          <p:cNvPr id="14342" name="Text Box 6"/>
          <p:cNvSpPr txBox="1">
            <a:spLocks noChangeArrowheads="1"/>
          </p:cNvSpPr>
          <p:nvPr/>
        </p:nvSpPr>
        <p:spPr bwMode="auto">
          <a:xfrm>
            <a:off x="4008438" y="2492376"/>
            <a:ext cx="1223962" cy="1204913"/>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eaLnBrk="1" hangingPunct="1">
              <a:spcBef>
                <a:spcPct val="50000"/>
              </a:spcBef>
              <a:buClrTx/>
              <a:buFontTx/>
              <a:buNone/>
            </a:pPr>
            <a:r>
              <a:rPr lang="en-GB" altLang="en-US" sz="1600" dirty="0">
                <a:solidFill>
                  <a:schemeClr val="tx1"/>
                </a:solidFill>
              </a:rPr>
              <a:t>Planning</a:t>
            </a:r>
          </a:p>
          <a:p>
            <a:pPr eaLnBrk="1" hangingPunct="1">
              <a:spcBef>
                <a:spcPct val="50000"/>
              </a:spcBef>
              <a:buClrTx/>
              <a:buFontTx/>
              <a:buNone/>
            </a:pPr>
            <a:r>
              <a:rPr lang="en-GB" altLang="en-US" sz="1600" dirty="0">
                <a:solidFill>
                  <a:schemeClr val="tx1"/>
                </a:solidFill>
              </a:rPr>
              <a:t>Estimating, Scheduling, Tracking</a:t>
            </a:r>
          </a:p>
        </p:txBody>
      </p:sp>
      <p:sp>
        <p:nvSpPr>
          <p:cNvPr id="14343" name="Text Box 7"/>
          <p:cNvSpPr txBox="1">
            <a:spLocks noChangeArrowheads="1"/>
          </p:cNvSpPr>
          <p:nvPr/>
        </p:nvSpPr>
        <p:spPr bwMode="auto">
          <a:xfrm>
            <a:off x="5591176" y="3068639"/>
            <a:ext cx="1152525" cy="960437"/>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eaLnBrk="1" hangingPunct="1">
              <a:spcBef>
                <a:spcPct val="50000"/>
              </a:spcBef>
              <a:buClrTx/>
              <a:buFontTx/>
              <a:buNone/>
            </a:pPr>
            <a:r>
              <a:rPr lang="en-GB" altLang="en-US" sz="1600">
                <a:solidFill>
                  <a:schemeClr val="tx1"/>
                </a:solidFill>
              </a:rPr>
              <a:t>Modeling</a:t>
            </a:r>
          </a:p>
          <a:p>
            <a:pPr eaLnBrk="1" hangingPunct="1">
              <a:spcBef>
                <a:spcPct val="50000"/>
              </a:spcBef>
              <a:buClrTx/>
              <a:buFontTx/>
              <a:buNone/>
            </a:pPr>
            <a:r>
              <a:rPr lang="en-GB" altLang="en-US" sz="1600">
                <a:solidFill>
                  <a:schemeClr val="tx1"/>
                </a:solidFill>
              </a:rPr>
              <a:t>Analysis, Design</a:t>
            </a:r>
          </a:p>
        </p:txBody>
      </p:sp>
      <p:sp>
        <p:nvSpPr>
          <p:cNvPr id="14344" name="Text Box 8"/>
          <p:cNvSpPr txBox="1">
            <a:spLocks noChangeArrowheads="1"/>
          </p:cNvSpPr>
          <p:nvPr/>
        </p:nvSpPr>
        <p:spPr bwMode="auto">
          <a:xfrm>
            <a:off x="7175501" y="3357563"/>
            <a:ext cx="1439863" cy="715962"/>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eaLnBrk="1" hangingPunct="1">
              <a:spcBef>
                <a:spcPct val="50000"/>
              </a:spcBef>
              <a:buClrTx/>
              <a:buFontTx/>
              <a:buNone/>
            </a:pPr>
            <a:r>
              <a:rPr lang="en-GB" altLang="en-US" sz="1600">
                <a:solidFill>
                  <a:schemeClr val="tx1"/>
                </a:solidFill>
              </a:rPr>
              <a:t>Construction</a:t>
            </a:r>
          </a:p>
          <a:p>
            <a:pPr eaLnBrk="1" hangingPunct="1">
              <a:spcBef>
                <a:spcPct val="50000"/>
              </a:spcBef>
              <a:buClrTx/>
              <a:buFontTx/>
              <a:buNone/>
            </a:pPr>
            <a:r>
              <a:rPr lang="en-GB" altLang="en-US" sz="1600">
                <a:solidFill>
                  <a:schemeClr val="tx1"/>
                </a:solidFill>
              </a:rPr>
              <a:t>Code, Test</a:t>
            </a:r>
          </a:p>
        </p:txBody>
      </p:sp>
      <p:sp>
        <p:nvSpPr>
          <p:cNvPr id="14345" name="Text Box 9"/>
          <p:cNvSpPr txBox="1">
            <a:spLocks noChangeArrowheads="1"/>
          </p:cNvSpPr>
          <p:nvPr/>
        </p:nvSpPr>
        <p:spPr bwMode="auto">
          <a:xfrm>
            <a:off x="8832851" y="4365626"/>
            <a:ext cx="1584325" cy="1204913"/>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eaLnBrk="1" hangingPunct="1">
              <a:spcBef>
                <a:spcPct val="50000"/>
              </a:spcBef>
              <a:buClrTx/>
              <a:buFontTx/>
              <a:buNone/>
            </a:pPr>
            <a:r>
              <a:rPr lang="en-GB" altLang="en-US" sz="1600">
                <a:solidFill>
                  <a:schemeClr val="tx1"/>
                </a:solidFill>
              </a:rPr>
              <a:t>Deplyment</a:t>
            </a:r>
          </a:p>
          <a:p>
            <a:pPr eaLnBrk="1" hangingPunct="1">
              <a:spcBef>
                <a:spcPct val="50000"/>
              </a:spcBef>
              <a:buClrTx/>
              <a:buFontTx/>
              <a:buNone/>
            </a:pPr>
            <a:r>
              <a:rPr lang="en-GB" altLang="en-US" sz="1600">
                <a:solidFill>
                  <a:schemeClr val="tx1"/>
                </a:solidFill>
              </a:rPr>
              <a:t>Delivery, Support, feedback</a:t>
            </a:r>
          </a:p>
        </p:txBody>
      </p:sp>
      <p:sp>
        <p:nvSpPr>
          <p:cNvPr id="14346" name="Line 10"/>
          <p:cNvSpPr>
            <a:spLocks noChangeShapeType="1"/>
          </p:cNvSpPr>
          <p:nvPr/>
        </p:nvSpPr>
        <p:spPr bwMode="auto">
          <a:xfrm>
            <a:off x="3575050" y="2349500"/>
            <a:ext cx="433388" cy="287338"/>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14347" name="Line 11"/>
          <p:cNvSpPr>
            <a:spLocks noChangeShapeType="1"/>
          </p:cNvSpPr>
          <p:nvPr/>
        </p:nvSpPr>
        <p:spPr bwMode="auto">
          <a:xfrm>
            <a:off x="5232401" y="2852738"/>
            <a:ext cx="358775" cy="360362"/>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14348" name="Line 12"/>
          <p:cNvSpPr>
            <a:spLocks noChangeShapeType="1"/>
          </p:cNvSpPr>
          <p:nvPr/>
        </p:nvSpPr>
        <p:spPr bwMode="auto">
          <a:xfrm>
            <a:off x="6743700" y="3500438"/>
            <a:ext cx="431800" cy="360362"/>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14349" name="Line 13"/>
          <p:cNvSpPr>
            <a:spLocks noChangeShapeType="1"/>
          </p:cNvSpPr>
          <p:nvPr/>
        </p:nvSpPr>
        <p:spPr bwMode="auto">
          <a:xfrm>
            <a:off x="8616951" y="3860801"/>
            <a:ext cx="358775" cy="504825"/>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Tree>
    <p:extLst>
      <p:ext uri="{BB962C8B-B14F-4D97-AF65-F5344CB8AC3E}">
        <p14:creationId xmlns:p14="http://schemas.microsoft.com/office/powerpoint/2010/main" val="2544772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15363"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39EA7CA7-2C35-46C3-B1A7-003749F8D113}" type="slidenum">
              <a:rPr lang="en-GB" altLang="en-US" sz="1000">
                <a:solidFill>
                  <a:srgbClr val="FFFF00"/>
                </a:solidFill>
                <a:latin typeface="Arial" panose="020B0604020202020204" pitchFamily="34" charset="0"/>
              </a:rPr>
              <a:pPr>
                <a:spcBef>
                  <a:spcPct val="0"/>
                </a:spcBef>
                <a:buClrTx/>
                <a:buFontTx/>
                <a:buNone/>
              </a:pPr>
              <a:t>11</a:t>
            </a:fld>
            <a:endParaRPr lang="en-GB" altLang="en-US" sz="1000">
              <a:solidFill>
                <a:srgbClr val="FFFF00"/>
              </a:solidFill>
              <a:latin typeface="Arial" panose="020B0604020202020204" pitchFamily="34" charset="0"/>
            </a:endParaRPr>
          </a:p>
        </p:txBody>
      </p:sp>
      <p:sp>
        <p:nvSpPr>
          <p:cNvPr id="15364" name="Rectangle 2"/>
          <p:cNvSpPr>
            <a:spLocks noGrp="1" noChangeArrowheads="1"/>
          </p:cNvSpPr>
          <p:nvPr>
            <p:ph type="title"/>
          </p:nvPr>
        </p:nvSpPr>
        <p:spPr/>
        <p:txBody>
          <a:bodyPr/>
          <a:lstStyle/>
          <a:p>
            <a:pPr eaLnBrk="1" hangingPunct="1"/>
            <a:r>
              <a:rPr lang="en-GB" altLang="en-US"/>
              <a:t>Spiral Model</a:t>
            </a:r>
          </a:p>
        </p:txBody>
      </p:sp>
      <p:sp>
        <p:nvSpPr>
          <p:cNvPr id="15365" name="Rectangle 3"/>
          <p:cNvSpPr>
            <a:spLocks noGrp="1" noChangeArrowheads="1"/>
          </p:cNvSpPr>
          <p:nvPr>
            <p:ph type="body" idx="1"/>
          </p:nvPr>
        </p:nvSpPr>
        <p:spPr/>
        <p:txBody>
          <a:bodyPr/>
          <a:lstStyle/>
          <a:p>
            <a:pPr eaLnBrk="1" hangingPunct="1"/>
            <a:r>
              <a:rPr lang="en-GB" altLang="en-US" sz="2000"/>
              <a:t>The model couples the iterative nature of prototyping with the controlled and systematic aspects of the waterfall model.</a:t>
            </a:r>
          </a:p>
          <a:p>
            <a:pPr eaLnBrk="1" hangingPunct="1"/>
            <a:r>
              <a:rPr lang="en-GB" altLang="en-US" sz="2000"/>
              <a:t>Software is developed in a series of evolution</a:t>
            </a:r>
          </a:p>
          <a:p>
            <a:pPr eaLnBrk="1" hangingPunct="1"/>
            <a:r>
              <a:rPr lang="en-GB" altLang="en-US" sz="2000"/>
              <a:t>Spiral model is divided into a sets of activities defined by software engineers.</a:t>
            </a:r>
          </a:p>
          <a:p>
            <a:pPr eaLnBrk="1" hangingPunct="1"/>
            <a:r>
              <a:rPr lang="en-GB" altLang="en-US" sz="2000"/>
              <a:t>It is realistic when it comes to large scale system development because software evolves as the process progress, the developer and the customer better understand and react to risks at each evolutionary level.</a:t>
            </a:r>
          </a:p>
          <a:p>
            <a:pPr eaLnBrk="1" hangingPunct="1"/>
            <a:r>
              <a:rPr lang="en-GB" altLang="en-US" sz="2000"/>
              <a:t>Spiral model can adapted to apply throughout the life of a computer software.</a:t>
            </a:r>
          </a:p>
        </p:txBody>
      </p:sp>
    </p:spTree>
    <p:extLst>
      <p:ext uri="{BB962C8B-B14F-4D97-AF65-F5344CB8AC3E}">
        <p14:creationId xmlns:p14="http://schemas.microsoft.com/office/powerpoint/2010/main" val="3837550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a:t>Spiral model cont…</a:t>
            </a:r>
          </a:p>
        </p:txBody>
      </p:sp>
      <p:sp>
        <p:nvSpPr>
          <p:cNvPr id="3" name="Content Placeholder 2"/>
          <p:cNvSpPr>
            <a:spLocks noGrp="1"/>
          </p:cNvSpPr>
          <p:nvPr>
            <p:ph idx="1"/>
          </p:nvPr>
        </p:nvSpPr>
        <p:spPr/>
        <p:txBody>
          <a:bodyPr/>
          <a:lstStyle/>
          <a:p>
            <a:pPr marL="0" indent="0">
              <a:buNone/>
              <a:defRPr/>
            </a:pPr>
            <a:r>
              <a:rPr lang="en-US" sz="2000" dirty="0"/>
              <a:t>The spiral software development model is a risk-driven approach that combines elements of both waterfall and agile methodologies. The spiral model emphasizes continuous evaluation and risk analysis throughout the entire development process.</a:t>
            </a:r>
          </a:p>
          <a:p>
            <a:pPr marL="0" indent="0">
              <a:buNone/>
              <a:defRPr/>
            </a:pPr>
            <a:r>
              <a:rPr lang="en-US" sz="2000" dirty="0"/>
              <a:t>Stages:</a:t>
            </a:r>
          </a:p>
          <a:p>
            <a:pPr>
              <a:defRPr/>
            </a:pPr>
            <a:r>
              <a:rPr lang="en-US" sz="2000" dirty="0"/>
              <a:t>Planning: In this stage, the project team identifies objectives, alternatives, constraints, and risks.</a:t>
            </a:r>
          </a:p>
          <a:p>
            <a:pPr>
              <a:defRPr/>
            </a:pPr>
            <a:r>
              <a:rPr lang="en-US" sz="2000" dirty="0"/>
              <a:t>Risk Analysis: In this stage, the project team identifies, assesses, and evaluates the risks associated with the project.</a:t>
            </a:r>
          </a:p>
          <a:p>
            <a:pPr>
              <a:defRPr/>
            </a:pPr>
            <a:r>
              <a:rPr lang="en-US" sz="2000" dirty="0"/>
              <a:t>Engineering: In this stage, the team creates a high-level design and then proceeds to develop and test the software.</a:t>
            </a:r>
          </a:p>
          <a:p>
            <a:pPr>
              <a:defRPr/>
            </a:pPr>
            <a:r>
              <a:rPr lang="en-US" sz="2000" dirty="0"/>
              <a:t>Evaluation: In this stage, the team evaluates the software and the development process to identify improvements and new risks</a:t>
            </a:r>
            <a:r>
              <a:rPr lang="en-US" dirty="0"/>
              <a:t>.</a:t>
            </a:r>
          </a:p>
        </p:txBody>
      </p:sp>
      <p:sp>
        <p:nvSpPr>
          <p:cNvPr id="16388"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16389"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D6646643-6D04-40DB-A7FB-068FC46F212A}" type="slidenum">
              <a:rPr lang="en-GB" altLang="en-US" sz="1000">
                <a:solidFill>
                  <a:srgbClr val="FFFF00"/>
                </a:solidFill>
                <a:latin typeface="Arial" panose="020B0604020202020204" pitchFamily="34" charset="0"/>
              </a:rPr>
              <a:pPr/>
              <a:t>12</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2572388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ltLang="en-US"/>
              <a:t>Advantages of spiral model</a:t>
            </a:r>
          </a:p>
        </p:txBody>
      </p:sp>
      <p:sp>
        <p:nvSpPr>
          <p:cNvPr id="17411" name="Content Placeholder 2"/>
          <p:cNvSpPr>
            <a:spLocks noGrp="1"/>
          </p:cNvSpPr>
          <p:nvPr>
            <p:ph idx="1"/>
          </p:nvPr>
        </p:nvSpPr>
        <p:spPr/>
        <p:txBody>
          <a:bodyPr/>
          <a:lstStyle/>
          <a:p>
            <a:r>
              <a:rPr lang="en-US" altLang="en-US"/>
              <a:t>The spiral model emphasizes continuous risk analysis and evaluation, which can lead to a better understanding of the risks associated with the project.</a:t>
            </a:r>
          </a:p>
          <a:p>
            <a:r>
              <a:rPr lang="en-US" altLang="en-US"/>
              <a:t>The model allows for flexibility and adaptability, which can help teams respond to changes in requirements or priorities.</a:t>
            </a:r>
          </a:p>
          <a:p>
            <a:r>
              <a:rPr lang="en-US" altLang="en-US"/>
              <a:t>The model can be well-suited for projects with complex or critical systems.</a:t>
            </a:r>
          </a:p>
          <a:p>
            <a:r>
              <a:rPr lang="en-US" altLang="en-US"/>
              <a:t>The model can be used with other methodologies such as Agile or Waterfall, providing a flexible approach.</a:t>
            </a:r>
          </a:p>
        </p:txBody>
      </p:sp>
      <p:sp>
        <p:nvSpPr>
          <p:cNvPr id="17412"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17413"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323B3091-F109-49E3-B416-3CD5BC90536E}" type="slidenum">
              <a:rPr lang="en-GB" altLang="en-US" sz="1000">
                <a:solidFill>
                  <a:srgbClr val="FFFF00"/>
                </a:solidFill>
                <a:latin typeface="Arial" panose="020B0604020202020204" pitchFamily="34" charset="0"/>
              </a:rPr>
              <a:pPr/>
              <a:t>13</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2296797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a:t>Disadvantages</a:t>
            </a:r>
          </a:p>
        </p:txBody>
      </p:sp>
      <p:sp>
        <p:nvSpPr>
          <p:cNvPr id="3" name="Content Placeholder 2"/>
          <p:cNvSpPr>
            <a:spLocks noGrp="1"/>
          </p:cNvSpPr>
          <p:nvPr>
            <p:ph idx="1"/>
          </p:nvPr>
        </p:nvSpPr>
        <p:spPr/>
        <p:txBody>
          <a:bodyPr/>
          <a:lstStyle/>
          <a:p>
            <a:pPr>
              <a:defRPr/>
            </a:pPr>
            <a:r>
              <a:rPr lang="en-US" dirty="0"/>
              <a:t>The model can be time-consuming and expensive, as it requires continuous evaluation and analysis.</a:t>
            </a:r>
          </a:p>
          <a:p>
            <a:pPr>
              <a:defRPr/>
            </a:pPr>
            <a:r>
              <a:rPr lang="en-US" dirty="0"/>
              <a:t>The model requires a high level of expertise in risk analysis, which may be difficult for some teams to achieve.</a:t>
            </a:r>
          </a:p>
          <a:p>
            <a:pPr>
              <a:defRPr/>
            </a:pPr>
            <a:r>
              <a:rPr lang="en-US" dirty="0"/>
              <a:t>The model may not be well-suited for projects with fixed requirements or strict timelines.</a:t>
            </a:r>
          </a:p>
          <a:p>
            <a:pPr>
              <a:defRPr/>
            </a:pPr>
            <a:r>
              <a:rPr lang="en-US" dirty="0"/>
              <a:t>The model may require more resources and time than other methodologies due to the need for ongoing risk analysis and evaluation.</a:t>
            </a:r>
          </a:p>
          <a:p>
            <a:pPr marL="0" indent="0">
              <a:buNone/>
              <a:defRPr/>
            </a:pPr>
            <a:endParaRPr lang="en-US" dirty="0"/>
          </a:p>
        </p:txBody>
      </p:sp>
      <p:sp>
        <p:nvSpPr>
          <p:cNvPr id="18436"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18437"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D71D24D3-A12B-4377-99B7-AF8389AA9C85}" type="slidenum">
              <a:rPr lang="en-GB" altLang="en-US" sz="1000">
                <a:solidFill>
                  <a:srgbClr val="FFFF00"/>
                </a:solidFill>
                <a:latin typeface="Arial" panose="020B0604020202020204" pitchFamily="34" charset="0"/>
              </a:rPr>
              <a:pPr/>
              <a:t>14</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3133863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19459"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E77BD47C-618A-4665-A0DC-CBFACD34FCF2}" type="slidenum">
              <a:rPr lang="en-GB" altLang="en-US" sz="1000">
                <a:solidFill>
                  <a:srgbClr val="FFFF00"/>
                </a:solidFill>
                <a:latin typeface="Arial" panose="020B0604020202020204" pitchFamily="34" charset="0"/>
              </a:rPr>
              <a:pPr>
                <a:spcBef>
                  <a:spcPct val="0"/>
                </a:spcBef>
                <a:buClrTx/>
                <a:buFontTx/>
                <a:buNone/>
              </a:pPr>
              <a:t>15</a:t>
            </a:fld>
            <a:endParaRPr lang="en-GB" altLang="en-US" sz="1000">
              <a:solidFill>
                <a:srgbClr val="FFFF00"/>
              </a:solidFill>
              <a:latin typeface="Arial" panose="020B0604020202020204" pitchFamily="34" charset="0"/>
            </a:endParaRPr>
          </a:p>
        </p:txBody>
      </p:sp>
      <p:sp>
        <p:nvSpPr>
          <p:cNvPr id="19460" name="Rectangle 2"/>
          <p:cNvSpPr>
            <a:spLocks noGrp="1" noChangeArrowheads="1"/>
          </p:cNvSpPr>
          <p:nvPr>
            <p:ph type="title"/>
          </p:nvPr>
        </p:nvSpPr>
        <p:spPr/>
        <p:txBody>
          <a:bodyPr/>
          <a:lstStyle/>
          <a:p>
            <a:pPr eaLnBrk="1" hangingPunct="1"/>
            <a:r>
              <a:rPr lang="en-GB" altLang="en-US"/>
              <a:t>Spiral Model cont…</a:t>
            </a:r>
          </a:p>
        </p:txBody>
      </p:sp>
      <p:sp>
        <p:nvSpPr>
          <p:cNvPr id="19461" name="Freeform 7"/>
          <p:cNvSpPr>
            <a:spLocks/>
          </p:cNvSpPr>
          <p:nvPr/>
        </p:nvSpPr>
        <p:spPr bwMode="auto">
          <a:xfrm>
            <a:off x="3287713" y="1844676"/>
            <a:ext cx="5029200" cy="4837113"/>
          </a:xfrm>
          <a:custGeom>
            <a:avLst/>
            <a:gdLst>
              <a:gd name="T0" fmla="*/ 2147483646 w 3168"/>
              <a:gd name="T1" fmla="*/ 2147483646 h 3047"/>
              <a:gd name="T2" fmla="*/ 2147483646 w 3168"/>
              <a:gd name="T3" fmla="*/ 2147483646 h 3047"/>
              <a:gd name="T4" fmla="*/ 2147483646 w 3168"/>
              <a:gd name="T5" fmla="*/ 2147483646 h 3047"/>
              <a:gd name="T6" fmla="*/ 2147483646 w 3168"/>
              <a:gd name="T7" fmla="*/ 2147483646 h 3047"/>
              <a:gd name="T8" fmla="*/ 2147483646 w 3168"/>
              <a:gd name="T9" fmla="*/ 2147483646 h 3047"/>
              <a:gd name="T10" fmla="*/ 2147483646 w 3168"/>
              <a:gd name="T11" fmla="*/ 2147483646 h 3047"/>
              <a:gd name="T12" fmla="*/ 2147483646 w 3168"/>
              <a:gd name="T13" fmla="*/ 2147483646 h 3047"/>
              <a:gd name="T14" fmla="*/ 2147483646 w 3168"/>
              <a:gd name="T15" fmla="*/ 2147483646 h 3047"/>
              <a:gd name="T16" fmla="*/ 2147483646 w 3168"/>
              <a:gd name="T17" fmla="*/ 2147483646 h 3047"/>
              <a:gd name="T18" fmla="*/ 2147483646 w 3168"/>
              <a:gd name="T19" fmla="*/ 2147483646 h 3047"/>
              <a:gd name="T20" fmla="*/ 2147483646 w 3168"/>
              <a:gd name="T21" fmla="*/ 2147483646 h 3047"/>
              <a:gd name="T22" fmla="*/ 2147483646 w 3168"/>
              <a:gd name="T23" fmla="*/ 2147483646 h 3047"/>
              <a:gd name="T24" fmla="*/ 2147483646 w 3168"/>
              <a:gd name="T25" fmla="*/ 2147483646 h 3047"/>
              <a:gd name="T26" fmla="*/ 2147483646 w 3168"/>
              <a:gd name="T27" fmla="*/ 2147483646 h 3047"/>
              <a:gd name="T28" fmla="*/ 2147483646 w 3168"/>
              <a:gd name="T29" fmla="*/ 2147483646 h 3047"/>
              <a:gd name="T30" fmla="*/ 2147483646 w 3168"/>
              <a:gd name="T31" fmla="*/ 2147483646 h 3047"/>
              <a:gd name="T32" fmla="*/ 2147483646 w 3168"/>
              <a:gd name="T33" fmla="*/ 2147483646 h 3047"/>
              <a:gd name="T34" fmla="*/ 2147483646 w 3168"/>
              <a:gd name="T35" fmla="*/ 2147483646 h 3047"/>
              <a:gd name="T36" fmla="*/ 2147483646 w 3168"/>
              <a:gd name="T37" fmla="*/ 2147483646 h 3047"/>
              <a:gd name="T38" fmla="*/ 2147483646 w 3168"/>
              <a:gd name="T39" fmla="*/ 0 h 304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168"/>
              <a:gd name="T61" fmla="*/ 0 h 3047"/>
              <a:gd name="T62" fmla="*/ 3168 w 3168"/>
              <a:gd name="T63" fmla="*/ 3047 h 304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168" h="3047">
                <a:moveTo>
                  <a:pt x="1436" y="1542"/>
                </a:moveTo>
                <a:cubicBezTo>
                  <a:pt x="1376" y="1485"/>
                  <a:pt x="1316" y="1429"/>
                  <a:pt x="1346" y="1361"/>
                </a:cubicBezTo>
                <a:cubicBezTo>
                  <a:pt x="1376" y="1293"/>
                  <a:pt x="1490" y="1157"/>
                  <a:pt x="1618" y="1134"/>
                </a:cubicBezTo>
                <a:cubicBezTo>
                  <a:pt x="1746" y="1111"/>
                  <a:pt x="2026" y="1104"/>
                  <a:pt x="2117" y="1225"/>
                </a:cubicBezTo>
                <a:cubicBezTo>
                  <a:pt x="2208" y="1346"/>
                  <a:pt x="2230" y="1701"/>
                  <a:pt x="2162" y="1860"/>
                </a:cubicBezTo>
                <a:cubicBezTo>
                  <a:pt x="2094" y="2019"/>
                  <a:pt x="1883" y="2185"/>
                  <a:pt x="1709" y="2177"/>
                </a:cubicBezTo>
                <a:cubicBezTo>
                  <a:pt x="1535" y="2169"/>
                  <a:pt x="1232" y="1988"/>
                  <a:pt x="1119" y="1814"/>
                </a:cubicBezTo>
                <a:cubicBezTo>
                  <a:pt x="1006" y="1640"/>
                  <a:pt x="952" y="1315"/>
                  <a:pt x="1028" y="1134"/>
                </a:cubicBezTo>
                <a:cubicBezTo>
                  <a:pt x="1104" y="953"/>
                  <a:pt x="1376" y="786"/>
                  <a:pt x="1573" y="726"/>
                </a:cubicBezTo>
                <a:cubicBezTo>
                  <a:pt x="1770" y="666"/>
                  <a:pt x="2034" y="620"/>
                  <a:pt x="2208" y="771"/>
                </a:cubicBezTo>
                <a:cubicBezTo>
                  <a:pt x="2382" y="922"/>
                  <a:pt x="2662" y="1323"/>
                  <a:pt x="2616" y="1633"/>
                </a:cubicBezTo>
                <a:cubicBezTo>
                  <a:pt x="2570" y="1943"/>
                  <a:pt x="2252" y="2548"/>
                  <a:pt x="1935" y="2631"/>
                </a:cubicBezTo>
                <a:cubicBezTo>
                  <a:pt x="1618" y="2714"/>
                  <a:pt x="923" y="2449"/>
                  <a:pt x="711" y="2132"/>
                </a:cubicBezTo>
                <a:cubicBezTo>
                  <a:pt x="499" y="1815"/>
                  <a:pt x="415" y="1028"/>
                  <a:pt x="665" y="726"/>
                </a:cubicBezTo>
                <a:cubicBezTo>
                  <a:pt x="915" y="424"/>
                  <a:pt x="1792" y="205"/>
                  <a:pt x="2208" y="318"/>
                </a:cubicBezTo>
                <a:cubicBezTo>
                  <a:pt x="2624" y="431"/>
                  <a:pt x="3152" y="983"/>
                  <a:pt x="3160" y="1406"/>
                </a:cubicBezTo>
                <a:cubicBezTo>
                  <a:pt x="3168" y="1829"/>
                  <a:pt x="2722" y="2669"/>
                  <a:pt x="2253" y="2858"/>
                </a:cubicBezTo>
                <a:cubicBezTo>
                  <a:pt x="1784" y="3047"/>
                  <a:pt x="696" y="2910"/>
                  <a:pt x="348" y="2540"/>
                </a:cubicBezTo>
                <a:cubicBezTo>
                  <a:pt x="0" y="2170"/>
                  <a:pt x="15" y="1058"/>
                  <a:pt x="166" y="635"/>
                </a:cubicBezTo>
                <a:cubicBezTo>
                  <a:pt x="317" y="212"/>
                  <a:pt x="786" y="106"/>
                  <a:pt x="1255" y="0"/>
                </a:cubicBezTo>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19462" name="Line 8"/>
          <p:cNvSpPr>
            <a:spLocks noChangeShapeType="1"/>
          </p:cNvSpPr>
          <p:nvPr/>
        </p:nvSpPr>
        <p:spPr bwMode="auto">
          <a:xfrm flipH="1">
            <a:off x="2711451" y="4221163"/>
            <a:ext cx="3313113" cy="100806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9463" name="Line 9"/>
          <p:cNvSpPr>
            <a:spLocks noChangeShapeType="1"/>
          </p:cNvSpPr>
          <p:nvPr/>
        </p:nvSpPr>
        <p:spPr bwMode="auto">
          <a:xfrm flipH="1" flipV="1">
            <a:off x="2640013" y="2636839"/>
            <a:ext cx="3384550" cy="158432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9464" name="Line 10"/>
          <p:cNvSpPr>
            <a:spLocks noChangeShapeType="1"/>
          </p:cNvSpPr>
          <p:nvPr/>
        </p:nvSpPr>
        <p:spPr bwMode="auto">
          <a:xfrm flipV="1">
            <a:off x="6096000" y="1773239"/>
            <a:ext cx="2305050" cy="244792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9465" name="Line 11"/>
          <p:cNvSpPr>
            <a:spLocks noChangeShapeType="1"/>
          </p:cNvSpPr>
          <p:nvPr/>
        </p:nvSpPr>
        <p:spPr bwMode="auto">
          <a:xfrm>
            <a:off x="6096000" y="4221164"/>
            <a:ext cx="3600450" cy="115252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9466" name="Line 12"/>
          <p:cNvSpPr>
            <a:spLocks noChangeShapeType="1"/>
          </p:cNvSpPr>
          <p:nvPr/>
        </p:nvSpPr>
        <p:spPr bwMode="auto">
          <a:xfrm>
            <a:off x="6096001" y="4221163"/>
            <a:ext cx="792163" cy="230346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19467" name="Line 13"/>
          <p:cNvSpPr>
            <a:spLocks noChangeShapeType="1"/>
          </p:cNvSpPr>
          <p:nvPr/>
        </p:nvSpPr>
        <p:spPr bwMode="auto">
          <a:xfrm flipH="1" flipV="1">
            <a:off x="5232401" y="4076701"/>
            <a:ext cx="142875" cy="288925"/>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19468" name="Line 14"/>
          <p:cNvSpPr>
            <a:spLocks noChangeShapeType="1"/>
          </p:cNvSpPr>
          <p:nvPr/>
        </p:nvSpPr>
        <p:spPr bwMode="auto">
          <a:xfrm flipV="1">
            <a:off x="3575050" y="4292600"/>
            <a:ext cx="0" cy="4318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19469" name="Text Box 15"/>
          <p:cNvSpPr txBox="1">
            <a:spLocks noChangeArrowheads="1"/>
          </p:cNvSpPr>
          <p:nvPr/>
        </p:nvSpPr>
        <p:spPr bwMode="auto">
          <a:xfrm>
            <a:off x="5951539" y="1484313"/>
            <a:ext cx="1368425"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eaLnBrk="1" hangingPunct="1">
              <a:spcBef>
                <a:spcPct val="50000"/>
              </a:spcBef>
              <a:buClrTx/>
              <a:buFontTx/>
              <a:buNone/>
            </a:pPr>
            <a:r>
              <a:rPr lang="en-GB" altLang="en-US" sz="1400" b="1">
                <a:solidFill>
                  <a:schemeClr val="tx1"/>
                </a:solidFill>
              </a:rPr>
              <a:t>Planning</a:t>
            </a:r>
          </a:p>
          <a:p>
            <a:pPr eaLnBrk="1" hangingPunct="1">
              <a:spcBef>
                <a:spcPct val="50000"/>
              </a:spcBef>
              <a:buClrTx/>
              <a:buFontTx/>
              <a:buNone/>
            </a:pPr>
            <a:r>
              <a:rPr lang="en-GB" altLang="en-US" sz="1400">
                <a:solidFill>
                  <a:schemeClr val="tx1"/>
                </a:solidFill>
              </a:rPr>
              <a:t>Estimation, scheduling</a:t>
            </a:r>
          </a:p>
        </p:txBody>
      </p:sp>
      <p:sp>
        <p:nvSpPr>
          <p:cNvPr id="19470" name="Text Box 16"/>
          <p:cNvSpPr txBox="1">
            <a:spLocks noChangeArrowheads="1"/>
          </p:cNvSpPr>
          <p:nvPr/>
        </p:nvSpPr>
        <p:spPr bwMode="auto">
          <a:xfrm>
            <a:off x="8975725" y="2133600"/>
            <a:ext cx="1512888"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eaLnBrk="1" hangingPunct="1">
              <a:spcBef>
                <a:spcPct val="50000"/>
              </a:spcBef>
              <a:buClrTx/>
              <a:buFontTx/>
              <a:buNone/>
            </a:pPr>
            <a:r>
              <a:rPr lang="en-GB" altLang="en-US" sz="1400" b="1">
                <a:solidFill>
                  <a:schemeClr val="tx1"/>
                </a:solidFill>
              </a:rPr>
              <a:t>Modeling</a:t>
            </a:r>
          </a:p>
          <a:p>
            <a:pPr eaLnBrk="1" hangingPunct="1">
              <a:spcBef>
                <a:spcPct val="50000"/>
              </a:spcBef>
              <a:buClrTx/>
              <a:buFontTx/>
              <a:buNone/>
            </a:pPr>
            <a:r>
              <a:rPr lang="en-GB" altLang="en-US" sz="1400">
                <a:solidFill>
                  <a:schemeClr val="tx1"/>
                </a:solidFill>
              </a:rPr>
              <a:t>Analysis, design</a:t>
            </a:r>
          </a:p>
        </p:txBody>
      </p:sp>
      <p:sp>
        <p:nvSpPr>
          <p:cNvPr id="19471" name="Text Box 17"/>
          <p:cNvSpPr txBox="1">
            <a:spLocks noChangeArrowheads="1"/>
          </p:cNvSpPr>
          <p:nvPr/>
        </p:nvSpPr>
        <p:spPr bwMode="auto">
          <a:xfrm>
            <a:off x="8183563" y="5373688"/>
            <a:ext cx="1441450"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eaLnBrk="1" hangingPunct="1">
              <a:spcBef>
                <a:spcPct val="50000"/>
              </a:spcBef>
              <a:buClrTx/>
              <a:buFontTx/>
              <a:buNone/>
            </a:pPr>
            <a:r>
              <a:rPr lang="en-GB" altLang="en-US" sz="1400" b="1">
                <a:solidFill>
                  <a:schemeClr val="tx1"/>
                </a:solidFill>
              </a:rPr>
              <a:t>Construction</a:t>
            </a:r>
          </a:p>
          <a:p>
            <a:pPr eaLnBrk="1" hangingPunct="1">
              <a:spcBef>
                <a:spcPct val="50000"/>
              </a:spcBef>
              <a:buClrTx/>
              <a:buFontTx/>
              <a:buNone/>
            </a:pPr>
            <a:r>
              <a:rPr lang="en-GB" altLang="en-US" sz="1400">
                <a:solidFill>
                  <a:schemeClr val="tx1"/>
                </a:solidFill>
              </a:rPr>
              <a:t>Code,test</a:t>
            </a:r>
          </a:p>
        </p:txBody>
      </p:sp>
      <p:sp>
        <p:nvSpPr>
          <p:cNvPr id="19472" name="Text Box 18"/>
          <p:cNvSpPr txBox="1">
            <a:spLocks noChangeArrowheads="1"/>
          </p:cNvSpPr>
          <p:nvPr/>
        </p:nvSpPr>
        <p:spPr bwMode="auto">
          <a:xfrm>
            <a:off x="2424114" y="5516563"/>
            <a:ext cx="1296987" cy="84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eaLnBrk="1" hangingPunct="1">
              <a:spcBef>
                <a:spcPct val="50000"/>
              </a:spcBef>
              <a:buClrTx/>
              <a:buFontTx/>
              <a:buNone/>
            </a:pPr>
            <a:r>
              <a:rPr lang="en-GB" altLang="en-US" sz="1400" b="1">
                <a:solidFill>
                  <a:schemeClr val="tx1"/>
                </a:solidFill>
              </a:rPr>
              <a:t>Deployment</a:t>
            </a:r>
          </a:p>
          <a:p>
            <a:pPr eaLnBrk="1" hangingPunct="1">
              <a:spcBef>
                <a:spcPct val="50000"/>
              </a:spcBef>
              <a:buClrTx/>
              <a:buFontTx/>
              <a:buNone/>
            </a:pPr>
            <a:r>
              <a:rPr lang="en-GB" altLang="en-US" sz="1400">
                <a:solidFill>
                  <a:schemeClr val="tx1"/>
                </a:solidFill>
              </a:rPr>
              <a:t>Delivery, Feedbaclk</a:t>
            </a:r>
          </a:p>
        </p:txBody>
      </p:sp>
      <p:sp>
        <p:nvSpPr>
          <p:cNvPr id="19473" name="Text Box 19"/>
          <p:cNvSpPr txBox="1">
            <a:spLocks noChangeArrowheads="1"/>
          </p:cNvSpPr>
          <p:nvPr/>
        </p:nvSpPr>
        <p:spPr bwMode="auto">
          <a:xfrm>
            <a:off x="1703388" y="3141663"/>
            <a:ext cx="16557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eaLnBrk="1" hangingPunct="1">
              <a:spcBef>
                <a:spcPct val="50000"/>
              </a:spcBef>
              <a:buClrTx/>
              <a:buFontTx/>
              <a:buNone/>
            </a:pPr>
            <a:r>
              <a:rPr lang="en-GB" altLang="en-US" sz="1400" b="1">
                <a:solidFill>
                  <a:schemeClr val="tx1"/>
                </a:solidFill>
              </a:rPr>
              <a:t>Communication</a:t>
            </a:r>
          </a:p>
        </p:txBody>
      </p:sp>
    </p:spTree>
    <p:extLst>
      <p:ext uri="{BB962C8B-B14F-4D97-AF65-F5344CB8AC3E}">
        <p14:creationId xmlns:p14="http://schemas.microsoft.com/office/powerpoint/2010/main" val="1176317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20483"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D6EEFF49-2354-497E-A713-E154AEDD115B}" type="slidenum">
              <a:rPr lang="en-GB" altLang="en-US" sz="1000">
                <a:solidFill>
                  <a:srgbClr val="FFFF00"/>
                </a:solidFill>
                <a:latin typeface="Arial" panose="020B0604020202020204" pitchFamily="34" charset="0"/>
              </a:rPr>
              <a:pPr>
                <a:spcBef>
                  <a:spcPct val="0"/>
                </a:spcBef>
                <a:buClrTx/>
                <a:buFontTx/>
                <a:buNone/>
              </a:pPr>
              <a:t>16</a:t>
            </a:fld>
            <a:endParaRPr lang="en-GB" altLang="en-US" sz="1000">
              <a:solidFill>
                <a:srgbClr val="FFFF00"/>
              </a:solidFill>
              <a:latin typeface="Arial" panose="020B0604020202020204" pitchFamily="34" charset="0"/>
            </a:endParaRPr>
          </a:p>
        </p:txBody>
      </p:sp>
      <p:sp>
        <p:nvSpPr>
          <p:cNvPr id="20484" name="Rectangle 2"/>
          <p:cNvSpPr>
            <a:spLocks noGrp="1" noChangeArrowheads="1"/>
          </p:cNvSpPr>
          <p:nvPr>
            <p:ph type="title"/>
          </p:nvPr>
        </p:nvSpPr>
        <p:spPr/>
        <p:txBody>
          <a:bodyPr/>
          <a:lstStyle/>
          <a:p>
            <a:pPr eaLnBrk="1" hangingPunct="1"/>
            <a:r>
              <a:rPr lang="en-GB" altLang="en-US" sz="3200"/>
              <a:t>Rapid Application Development (RAD)</a:t>
            </a:r>
          </a:p>
        </p:txBody>
      </p:sp>
      <p:sp>
        <p:nvSpPr>
          <p:cNvPr id="20485" name="Rectangle 3"/>
          <p:cNvSpPr>
            <a:spLocks noGrp="1" noChangeArrowheads="1"/>
          </p:cNvSpPr>
          <p:nvPr>
            <p:ph type="body" idx="1"/>
          </p:nvPr>
        </p:nvSpPr>
        <p:spPr/>
        <p:txBody>
          <a:bodyPr/>
          <a:lstStyle/>
          <a:p>
            <a:pPr eaLnBrk="1" hangingPunct="1"/>
            <a:r>
              <a:rPr lang="en-GB" altLang="en-US"/>
              <a:t>Its an incremental software process model that emphasise a short development life cycle and users feedback.</a:t>
            </a:r>
          </a:p>
          <a:p>
            <a:pPr eaLnBrk="1" hangingPunct="1"/>
            <a:r>
              <a:rPr lang="en-GB" altLang="en-US"/>
              <a:t>There are teams in RAD,</a:t>
            </a:r>
          </a:p>
          <a:p>
            <a:pPr eaLnBrk="1" hangingPunct="1"/>
            <a:r>
              <a:rPr lang="en-GB" altLang="en-US"/>
              <a:t>Rapid Development is achieved by using component based construction approach.</a:t>
            </a:r>
          </a:p>
        </p:txBody>
      </p:sp>
    </p:spTree>
    <p:extLst>
      <p:ext uri="{BB962C8B-B14F-4D97-AF65-F5344CB8AC3E}">
        <p14:creationId xmlns:p14="http://schemas.microsoft.com/office/powerpoint/2010/main" val="3361226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a:t>Stages in RAD</a:t>
            </a:r>
          </a:p>
        </p:txBody>
      </p:sp>
      <p:sp>
        <p:nvSpPr>
          <p:cNvPr id="21507" name="Content Placeholder 2"/>
          <p:cNvSpPr>
            <a:spLocks noGrp="1"/>
          </p:cNvSpPr>
          <p:nvPr>
            <p:ph idx="1"/>
          </p:nvPr>
        </p:nvSpPr>
        <p:spPr/>
        <p:txBody>
          <a:bodyPr/>
          <a:lstStyle/>
          <a:p>
            <a:r>
              <a:rPr lang="en-US" altLang="en-US"/>
              <a:t>Requirements Planning: In this stage, the project team identifies project requirements and defines the scope of the project.</a:t>
            </a:r>
          </a:p>
          <a:p>
            <a:r>
              <a:rPr lang="en-US" altLang="en-US"/>
              <a:t>User Design: In this stage, the team creates a prototype or mock-up of the software to get user feedback and refine the design.</a:t>
            </a:r>
          </a:p>
          <a:p>
            <a:r>
              <a:rPr lang="en-US" altLang="en-US"/>
              <a:t>Construction: In this stage, the team develops the software based on the feedback from the user design stage.</a:t>
            </a:r>
          </a:p>
          <a:p>
            <a:r>
              <a:rPr lang="en-US" altLang="en-US"/>
              <a:t>Testing: In this stage, the team tests the software to ensure that it meets the project requirements and the users' needs.</a:t>
            </a:r>
          </a:p>
        </p:txBody>
      </p:sp>
      <p:sp>
        <p:nvSpPr>
          <p:cNvPr id="21508"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21509"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7BDF5C03-547B-44AB-B8E6-600F126956E1}" type="slidenum">
              <a:rPr lang="en-GB" altLang="en-US" sz="1000">
                <a:solidFill>
                  <a:srgbClr val="FFFF00"/>
                </a:solidFill>
                <a:latin typeface="Arial" panose="020B0604020202020204" pitchFamily="34" charset="0"/>
              </a:rPr>
              <a:pPr/>
              <a:t>17</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3623794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a:t>Advantages of RAD</a:t>
            </a:r>
          </a:p>
        </p:txBody>
      </p:sp>
      <p:sp>
        <p:nvSpPr>
          <p:cNvPr id="22531" name="Content Placeholder 2"/>
          <p:cNvSpPr>
            <a:spLocks noGrp="1"/>
          </p:cNvSpPr>
          <p:nvPr>
            <p:ph idx="1"/>
          </p:nvPr>
        </p:nvSpPr>
        <p:spPr/>
        <p:txBody>
          <a:bodyPr/>
          <a:lstStyle/>
          <a:p>
            <a:r>
              <a:rPr lang="en-US" altLang="en-US"/>
              <a:t>The RAD model allows for faster development of software by emphasizing prototyping and user feedback.</a:t>
            </a:r>
          </a:p>
          <a:p>
            <a:r>
              <a:rPr lang="en-US" altLang="en-US"/>
              <a:t>The model is well-suited for projects with evolving requirements or where user feedback is essential.</a:t>
            </a:r>
          </a:p>
          <a:p>
            <a:r>
              <a:rPr lang="en-US" altLang="en-US"/>
              <a:t>The model can be a good fit for smaller projects where speed and flexibility are important.</a:t>
            </a:r>
          </a:p>
          <a:p>
            <a:r>
              <a:rPr lang="en-US" altLang="en-US"/>
              <a:t>The RAD model can be a more cost-effective approach to software development than other models.</a:t>
            </a:r>
          </a:p>
        </p:txBody>
      </p:sp>
      <p:sp>
        <p:nvSpPr>
          <p:cNvPr id="22532"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22533"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1CA41AC2-F7FE-442C-B07D-EC0E63F80791}" type="slidenum">
              <a:rPr lang="en-GB" altLang="en-US" sz="1000">
                <a:solidFill>
                  <a:srgbClr val="FFFF00"/>
                </a:solidFill>
                <a:latin typeface="Arial" panose="020B0604020202020204" pitchFamily="34" charset="0"/>
              </a:rPr>
              <a:pPr/>
              <a:t>18</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3218092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2209800" y="404813"/>
            <a:ext cx="8305800" cy="1143000"/>
          </a:xfrm>
        </p:spPr>
        <p:txBody>
          <a:bodyPr/>
          <a:lstStyle/>
          <a:p>
            <a:r>
              <a:rPr lang="en-US" altLang="en-US" dirty="0"/>
              <a:t>    Disadvantages of RAD</a:t>
            </a:r>
          </a:p>
        </p:txBody>
      </p:sp>
      <p:sp>
        <p:nvSpPr>
          <p:cNvPr id="3" name="Content Placeholder 2"/>
          <p:cNvSpPr>
            <a:spLocks noGrp="1"/>
          </p:cNvSpPr>
          <p:nvPr>
            <p:ph idx="1"/>
          </p:nvPr>
        </p:nvSpPr>
        <p:spPr/>
        <p:txBody>
          <a:bodyPr/>
          <a:lstStyle/>
          <a:p>
            <a:pPr>
              <a:defRPr/>
            </a:pPr>
            <a:r>
              <a:rPr lang="en-US" dirty="0"/>
              <a:t>The RAD model may not be suitable for large-scale or complex projects that require more extensive planning and analysis.</a:t>
            </a:r>
          </a:p>
          <a:p>
            <a:pPr>
              <a:defRPr/>
            </a:pPr>
            <a:r>
              <a:rPr lang="en-US" dirty="0"/>
              <a:t>The model may lead to a lack of documentation or testing, which can lead to maintenance issues in the future.</a:t>
            </a:r>
          </a:p>
          <a:p>
            <a:pPr>
              <a:defRPr/>
            </a:pPr>
            <a:r>
              <a:rPr lang="en-US" dirty="0"/>
              <a:t>The RAD model can be challenging to implement for inexperienced or unskilled development teams.</a:t>
            </a:r>
          </a:p>
          <a:p>
            <a:pPr>
              <a:defRPr/>
            </a:pPr>
            <a:r>
              <a:rPr lang="en-US" dirty="0"/>
              <a:t>The model can be more prone to errors or security vulnerabilities than other models due to its rapid pace of development.</a:t>
            </a:r>
          </a:p>
          <a:p>
            <a:pPr marL="0" indent="0">
              <a:buNone/>
              <a:defRPr/>
            </a:pPr>
            <a:endParaRPr lang="en-US" dirty="0"/>
          </a:p>
        </p:txBody>
      </p:sp>
      <p:sp>
        <p:nvSpPr>
          <p:cNvPr id="23556"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23557"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2EB906ED-3FA5-439E-91CA-86057F1ECDF9}" type="slidenum">
              <a:rPr lang="en-GB" altLang="en-US" sz="1000">
                <a:solidFill>
                  <a:srgbClr val="FFFF00"/>
                </a:solidFill>
                <a:latin typeface="Arial" panose="020B0604020202020204" pitchFamily="34" charset="0"/>
              </a:rPr>
              <a:pPr/>
              <a:t>19</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1500165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24579"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94B986D8-F5FF-4B1D-96FA-F77FA75CE531}" type="slidenum">
              <a:rPr lang="en-GB" altLang="en-US" sz="1000">
                <a:solidFill>
                  <a:srgbClr val="FFFF00"/>
                </a:solidFill>
                <a:latin typeface="Arial" panose="020B0604020202020204" pitchFamily="34" charset="0"/>
              </a:rPr>
              <a:pPr>
                <a:spcBef>
                  <a:spcPct val="0"/>
                </a:spcBef>
                <a:buClrTx/>
                <a:buFontTx/>
                <a:buNone/>
              </a:pPr>
              <a:t>20</a:t>
            </a:fld>
            <a:endParaRPr lang="en-GB" altLang="en-US" sz="1000">
              <a:solidFill>
                <a:srgbClr val="FFFF00"/>
              </a:solidFill>
              <a:latin typeface="Arial" panose="020B0604020202020204" pitchFamily="34" charset="0"/>
            </a:endParaRPr>
          </a:p>
        </p:txBody>
      </p:sp>
      <p:sp>
        <p:nvSpPr>
          <p:cNvPr id="24580" name="Rectangle 2"/>
          <p:cNvSpPr>
            <a:spLocks noGrp="1" noChangeArrowheads="1"/>
          </p:cNvSpPr>
          <p:nvPr>
            <p:ph type="title"/>
          </p:nvPr>
        </p:nvSpPr>
        <p:spPr/>
        <p:txBody>
          <a:bodyPr/>
          <a:lstStyle/>
          <a:p>
            <a:pPr eaLnBrk="1" hangingPunct="1"/>
            <a:r>
              <a:rPr lang="en-GB" altLang="en-US"/>
              <a:t>Agile Model</a:t>
            </a:r>
          </a:p>
        </p:txBody>
      </p:sp>
      <p:sp>
        <p:nvSpPr>
          <p:cNvPr id="13317" name="Rectangle 3"/>
          <p:cNvSpPr>
            <a:spLocks noGrp="1" noChangeArrowheads="1"/>
          </p:cNvSpPr>
          <p:nvPr>
            <p:ph type="body" idx="1"/>
          </p:nvPr>
        </p:nvSpPr>
        <p:spPr/>
        <p:txBody>
          <a:bodyPr/>
          <a:lstStyle/>
          <a:p>
            <a:pPr marL="0" indent="0">
              <a:buNone/>
              <a:defRPr/>
            </a:pPr>
            <a:r>
              <a:rPr lang="en-US" sz="1600" dirty="0"/>
              <a:t>The agile model is an iterative and flexible software development methodology that focuses on delivering software in small, incremental releases. It emphasizes collaboration, adaptive planning, and continuous improvement. Here are the stages, advantages, and disadvantages of the agile model:</a:t>
            </a:r>
          </a:p>
          <a:p>
            <a:pPr marL="0" indent="0">
              <a:buNone/>
              <a:defRPr/>
            </a:pPr>
            <a:r>
              <a:rPr lang="en-US" sz="1600" dirty="0"/>
              <a:t>     Stages:</a:t>
            </a:r>
          </a:p>
          <a:p>
            <a:pPr>
              <a:defRPr/>
            </a:pPr>
            <a:r>
              <a:rPr lang="en-US" sz="1600" dirty="0"/>
              <a:t>Planning: In this stage, the project team works together to define the requirements and scope of the project.</a:t>
            </a:r>
          </a:p>
          <a:p>
            <a:pPr>
              <a:defRPr/>
            </a:pPr>
            <a:r>
              <a:rPr lang="en-US" sz="1600" dirty="0"/>
              <a:t>Design: In this stage, the team creates a high-level design for the software.</a:t>
            </a:r>
          </a:p>
          <a:p>
            <a:pPr>
              <a:defRPr/>
            </a:pPr>
            <a:r>
              <a:rPr lang="en-US" sz="1600" dirty="0"/>
              <a:t>Development: In this stage, the software is developed in small, incremental iterations.</a:t>
            </a:r>
          </a:p>
          <a:p>
            <a:pPr>
              <a:defRPr/>
            </a:pPr>
            <a:r>
              <a:rPr lang="en-US" sz="1600" dirty="0"/>
              <a:t>Testing: In this stage, the software is tested continuously to ensure that it meets the requirements and specifications.</a:t>
            </a:r>
          </a:p>
          <a:p>
            <a:pPr>
              <a:defRPr/>
            </a:pPr>
            <a:r>
              <a:rPr lang="en-US" sz="1600" dirty="0"/>
              <a:t>Deployment: In this stage, the software is deployed to end-users.</a:t>
            </a:r>
          </a:p>
          <a:p>
            <a:pPr>
              <a:defRPr/>
            </a:pPr>
            <a:r>
              <a:rPr lang="en-US" sz="1600" dirty="0"/>
              <a:t>Maintenance: In this stage, the software is continuously maintained and updated based on feedback and new requirements.</a:t>
            </a:r>
          </a:p>
        </p:txBody>
      </p:sp>
    </p:spTree>
    <p:extLst>
      <p:ext uri="{BB962C8B-B14F-4D97-AF65-F5344CB8AC3E}">
        <p14:creationId xmlns:p14="http://schemas.microsoft.com/office/powerpoint/2010/main" val="2738395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25603"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D90D2DE0-0A4F-4DF7-9355-4F6D20960C06}" type="slidenum">
              <a:rPr lang="en-GB" altLang="en-US" sz="1000">
                <a:solidFill>
                  <a:srgbClr val="FFFF00"/>
                </a:solidFill>
                <a:latin typeface="Arial" panose="020B0604020202020204" pitchFamily="34" charset="0"/>
              </a:rPr>
              <a:pPr>
                <a:spcBef>
                  <a:spcPct val="0"/>
                </a:spcBef>
                <a:buClrTx/>
                <a:buFontTx/>
                <a:buNone/>
              </a:pPr>
              <a:t>21</a:t>
            </a:fld>
            <a:endParaRPr lang="en-GB" altLang="en-US" sz="1000">
              <a:solidFill>
                <a:srgbClr val="FFFF00"/>
              </a:solidFill>
              <a:latin typeface="Arial" panose="020B0604020202020204" pitchFamily="34" charset="0"/>
            </a:endParaRPr>
          </a:p>
        </p:txBody>
      </p:sp>
      <p:sp>
        <p:nvSpPr>
          <p:cNvPr id="25604" name="Rectangle 2"/>
          <p:cNvSpPr>
            <a:spLocks noGrp="1" noChangeArrowheads="1"/>
          </p:cNvSpPr>
          <p:nvPr>
            <p:ph type="title"/>
          </p:nvPr>
        </p:nvSpPr>
        <p:spPr/>
        <p:txBody>
          <a:bodyPr/>
          <a:lstStyle/>
          <a:p>
            <a:pPr eaLnBrk="1" hangingPunct="1"/>
            <a:r>
              <a:rPr lang="en-GB" altLang="en-US"/>
              <a:t>Agile Methods</a:t>
            </a:r>
          </a:p>
        </p:txBody>
      </p:sp>
      <p:sp>
        <p:nvSpPr>
          <p:cNvPr id="25605" name="Rectangle 3"/>
          <p:cNvSpPr>
            <a:spLocks noGrp="1" noChangeArrowheads="1"/>
          </p:cNvSpPr>
          <p:nvPr>
            <p:ph type="body" idx="1"/>
          </p:nvPr>
        </p:nvSpPr>
        <p:spPr/>
        <p:txBody>
          <a:bodyPr/>
          <a:lstStyle/>
          <a:p>
            <a:pPr eaLnBrk="1" hangingPunct="1"/>
            <a:r>
              <a:rPr lang="en-GB" altLang="en-US"/>
              <a:t>Agile methodologies generally promote a project management process that encourages frequent inspection and adaptation, a leadership philosophy that encourages teamwork, self-organization and accountability, a set of engineering best practices that allow for rapid delivery of high-quality software, and a business approach that aligns development with customer needs and company goals. </a:t>
            </a:r>
          </a:p>
        </p:txBody>
      </p:sp>
    </p:spTree>
    <p:extLst>
      <p:ext uri="{BB962C8B-B14F-4D97-AF65-F5344CB8AC3E}">
        <p14:creationId xmlns:p14="http://schemas.microsoft.com/office/powerpoint/2010/main" val="13798052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a:t>Advantages of the agile </a:t>
            </a:r>
          </a:p>
        </p:txBody>
      </p:sp>
      <p:sp>
        <p:nvSpPr>
          <p:cNvPr id="26627" name="Content Placeholder 2"/>
          <p:cNvSpPr>
            <a:spLocks noGrp="1"/>
          </p:cNvSpPr>
          <p:nvPr>
            <p:ph idx="1"/>
          </p:nvPr>
        </p:nvSpPr>
        <p:spPr/>
        <p:txBody>
          <a:bodyPr/>
          <a:lstStyle/>
          <a:p>
            <a:pPr>
              <a:buFont typeface="Wingdings" panose="05000000000000000000" pitchFamily="2" charset="2"/>
              <a:buChar char="§"/>
            </a:pPr>
            <a:r>
              <a:rPr lang="en-US" altLang="en-US"/>
              <a:t>The agile model allows for flexibility and adaptability, which can help teams respond to changes in requirements or priorities.</a:t>
            </a:r>
          </a:p>
          <a:p>
            <a:r>
              <a:rPr lang="en-US" altLang="en-US"/>
              <a:t>The model emphasizes collaboration and communication between team members and stakeholders, which can lead to better outcomes and increased stakeholder satisfaction.</a:t>
            </a:r>
          </a:p>
          <a:p>
            <a:r>
              <a:rPr lang="en-US" altLang="en-US"/>
              <a:t>The iterative nature of the model allows for continuous feedback and improvement, which can result in higher quality software.</a:t>
            </a:r>
          </a:p>
          <a:p>
            <a:r>
              <a:rPr lang="en-US" altLang="en-US"/>
              <a:t>The model can be well-suited for projects with evolving or unclear requirements.</a:t>
            </a:r>
          </a:p>
        </p:txBody>
      </p:sp>
      <p:sp>
        <p:nvSpPr>
          <p:cNvPr id="26628"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26629"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C1AB499E-89E4-4BBA-8FF3-E5115736F591}" type="slidenum">
              <a:rPr lang="en-GB" altLang="en-US" sz="1000">
                <a:solidFill>
                  <a:srgbClr val="FFFF00"/>
                </a:solidFill>
                <a:latin typeface="Arial" panose="020B0604020202020204" pitchFamily="34" charset="0"/>
              </a:rPr>
              <a:pPr/>
              <a:t>22</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4245408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a:t>Disadvantages</a:t>
            </a:r>
          </a:p>
        </p:txBody>
      </p:sp>
      <p:sp>
        <p:nvSpPr>
          <p:cNvPr id="27651" name="Content Placeholder 2"/>
          <p:cNvSpPr>
            <a:spLocks noGrp="1"/>
          </p:cNvSpPr>
          <p:nvPr>
            <p:ph idx="1"/>
          </p:nvPr>
        </p:nvSpPr>
        <p:spPr/>
        <p:txBody>
          <a:bodyPr>
            <a:normAutofit fontScale="92500" lnSpcReduction="10000"/>
          </a:bodyPr>
          <a:lstStyle/>
          <a:p>
            <a:r>
              <a:rPr lang="en-US" altLang="en-US"/>
              <a:t>Disadvantages:</a:t>
            </a:r>
          </a:p>
          <a:p>
            <a:r>
              <a:rPr lang="en-US" altLang="en-US"/>
              <a:t>The agile model requires a high level of involvement and commitment from all team members and stakeholders, which can be challenging to maintain over time.</a:t>
            </a:r>
          </a:p>
          <a:p>
            <a:r>
              <a:rPr lang="en-US" altLang="en-US"/>
              <a:t>The model may not be well-suited for projects with fixed requirements or strict timelines.</a:t>
            </a:r>
          </a:p>
          <a:p>
            <a:r>
              <a:rPr lang="en-US" altLang="en-US"/>
              <a:t>The iterative nature of the model can lead to scope creep, where the project expands beyond its initial scope.</a:t>
            </a:r>
          </a:p>
          <a:p>
            <a:r>
              <a:rPr lang="en-US" altLang="en-US"/>
              <a:t>The model may require more resources and time than other methodologies due to the need for ongoing collaboration and communication.</a:t>
            </a:r>
          </a:p>
        </p:txBody>
      </p:sp>
      <p:sp>
        <p:nvSpPr>
          <p:cNvPr id="27652" name="Footer Placeholder 3"/>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r>
              <a:rPr lang="en-US" altLang="en-US" sz="1000">
                <a:solidFill>
                  <a:srgbClr val="FFFF00"/>
                </a:solidFill>
                <a:latin typeface="Arial" panose="020B0604020202020204" pitchFamily="34" charset="0"/>
              </a:rPr>
              <a:t>Prog 102   Principles of Software Engineering</a:t>
            </a:r>
            <a:endParaRPr lang="en-GB" altLang="en-US" sz="1000">
              <a:solidFill>
                <a:srgbClr val="FFFF00"/>
              </a:solidFill>
              <a:latin typeface="Arial" panose="020B0604020202020204" pitchFamily="34" charset="0"/>
            </a:endParaRPr>
          </a:p>
        </p:txBody>
      </p:sp>
      <p:sp>
        <p:nvSpPr>
          <p:cNvPr id="27653" name="Slide Number Placeholder 4"/>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ahoma" panose="020B0604030504040204" pitchFamily="34" charset="0"/>
                <a:cs typeface="Arial" panose="020B0604020202020204" pitchFamily="34" charset="0"/>
              </a:defRPr>
            </a:lvl1pPr>
            <a:lvl2pPr marL="742950" indent="-285750">
              <a:defRPr sz="2400">
                <a:solidFill>
                  <a:schemeClr val="tx1"/>
                </a:solidFill>
                <a:latin typeface="Tahoma" panose="020B0604030504040204" pitchFamily="34" charset="0"/>
                <a:cs typeface="Arial" panose="020B0604020202020204" pitchFamily="34" charset="0"/>
              </a:defRPr>
            </a:lvl2pPr>
            <a:lvl3pPr marL="1143000" indent="-228600">
              <a:defRPr sz="2400">
                <a:solidFill>
                  <a:schemeClr val="tx1"/>
                </a:solidFill>
                <a:latin typeface="Tahoma" panose="020B0604030504040204" pitchFamily="34" charset="0"/>
                <a:cs typeface="Arial" panose="020B0604020202020204" pitchFamily="34" charset="0"/>
              </a:defRPr>
            </a:lvl3pPr>
            <a:lvl4pPr marL="1600200" indent="-228600">
              <a:defRPr sz="2400">
                <a:solidFill>
                  <a:schemeClr val="tx1"/>
                </a:solidFill>
                <a:latin typeface="Tahoma" panose="020B0604030504040204" pitchFamily="34" charset="0"/>
                <a:cs typeface="Arial" panose="020B0604020202020204" pitchFamily="34" charset="0"/>
              </a:defRPr>
            </a:lvl4pPr>
            <a:lvl5pPr marL="2057400" indent="-228600">
              <a:defRPr sz="24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cs typeface="Arial" panose="020B0604020202020204" pitchFamily="34" charset="0"/>
              </a:defRPr>
            </a:lvl9pPr>
          </a:lstStyle>
          <a:p>
            <a:fld id="{78373A73-521C-4346-B5F4-97EE47B8C7EA}" type="slidenum">
              <a:rPr lang="en-GB" altLang="en-US" sz="1000">
                <a:solidFill>
                  <a:srgbClr val="FFFF00"/>
                </a:solidFill>
                <a:latin typeface="Arial" panose="020B0604020202020204" pitchFamily="34" charset="0"/>
              </a:rPr>
              <a:pPr/>
              <a:t>23</a:t>
            </a:fld>
            <a:endParaRPr lang="en-GB" altLang="en-US" sz="1000">
              <a:solidFill>
                <a:srgbClr val="FFFF00"/>
              </a:solidFill>
              <a:latin typeface="Arial" panose="020B0604020202020204" pitchFamily="34" charset="0"/>
            </a:endParaRPr>
          </a:p>
        </p:txBody>
      </p:sp>
    </p:spTree>
    <p:extLst>
      <p:ext uri="{BB962C8B-B14F-4D97-AF65-F5344CB8AC3E}">
        <p14:creationId xmlns:p14="http://schemas.microsoft.com/office/powerpoint/2010/main" val="4188163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28675"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CFC99522-6D2C-475A-BF8F-3B036633540C}" type="slidenum">
              <a:rPr lang="en-GB" altLang="en-US" sz="1000">
                <a:solidFill>
                  <a:srgbClr val="FFFF00"/>
                </a:solidFill>
                <a:latin typeface="Arial" panose="020B0604020202020204" pitchFamily="34" charset="0"/>
              </a:rPr>
              <a:pPr>
                <a:spcBef>
                  <a:spcPct val="0"/>
                </a:spcBef>
                <a:buClrTx/>
                <a:buFontTx/>
                <a:buNone/>
              </a:pPr>
              <a:t>24</a:t>
            </a:fld>
            <a:endParaRPr lang="en-GB" altLang="en-US" sz="1000">
              <a:solidFill>
                <a:srgbClr val="FFFF00"/>
              </a:solidFill>
              <a:latin typeface="Arial" panose="020B0604020202020204" pitchFamily="34" charset="0"/>
            </a:endParaRPr>
          </a:p>
        </p:txBody>
      </p:sp>
      <p:sp>
        <p:nvSpPr>
          <p:cNvPr id="28676" name="Rectangle 2"/>
          <p:cNvSpPr>
            <a:spLocks noGrp="1" noChangeArrowheads="1"/>
          </p:cNvSpPr>
          <p:nvPr>
            <p:ph type="title"/>
          </p:nvPr>
        </p:nvSpPr>
        <p:spPr/>
        <p:txBody>
          <a:bodyPr/>
          <a:lstStyle/>
          <a:p>
            <a:pPr eaLnBrk="1" hangingPunct="1"/>
            <a:r>
              <a:rPr lang="en-GB" altLang="en-US"/>
              <a:t>Agile Methods cont…</a:t>
            </a:r>
          </a:p>
        </p:txBody>
      </p:sp>
      <p:sp>
        <p:nvSpPr>
          <p:cNvPr id="28677" name="Rectangle 3"/>
          <p:cNvSpPr>
            <a:spLocks noGrp="1" noChangeArrowheads="1"/>
          </p:cNvSpPr>
          <p:nvPr>
            <p:ph type="body" idx="1"/>
          </p:nvPr>
        </p:nvSpPr>
        <p:spPr/>
        <p:txBody>
          <a:bodyPr/>
          <a:lstStyle/>
          <a:p>
            <a:pPr eaLnBrk="1" hangingPunct="1">
              <a:buFontTx/>
              <a:buNone/>
            </a:pPr>
            <a:r>
              <a:rPr lang="en-GB" altLang="en-US" sz="2000"/>
              <a:t>Some of the well-known agile software development methods: </a:t>
            </a:r>
          </a:p>
          <a:p>
            <a:pPr eaLnBrk="1" hangingPunct="1"/>
            <a:r>
              <a:rPr lang="en-GB" altLang="en-US" sz="2000"/>
              <a:t>XP (eXtreme Programming)</a:t>
            </a:r>
          </a:p>
          <a:p>
            <a:pPr eaLnBrk="1" hangingPunct="1"/>
            <a:r>
              <a:rPr lang="en-GB" altLang="en-US" sz="2000"/>
              <a:t>DSDM (Dynamic System Development Methods)</a:t>
            </a:r>
          </a:p>
          <a:p>
            <a:pPr eaLnBrk="1" hangingPunct="1">
              <a:buFontTx/>
              <a:buNone/>
            </a:pPr>
            <a:endParaRPr lang="en-GB" altLang="en-US" sz="2000"/>
          </a:p>
          <a:p>
            <a:pPr eaLnBrk="1" hangingPunct="1">
              <a:buFontTx/>
              <a:buNone/>
            </a:pPr>
            <a:r>
              <a:rPr lang="en-GB" altLang="en-US" sz="2000"/>
              <a:t>Some of Agile Practices</a:t>
            </a:r>
          </a:p>
          <a:p>
            <a:pPr eaLnBrk="1" hangingPunct="1"/>
            <a:r>
              <a:rPr lang="en-GB" altLang="en-US" sz="2000"/>
              <a:t>TDD (Test Driven Development)</a:t>
            </a:r>
          </a:p>
          <a:p>
            <a:pPr eaLnBrk="1" hangingPunct="1"/>
            <a:r>
              <a:rPr lang="en-GB" altLang="en-US" sz="2000"/>
              <a:t>Pair Programming</a:t>
            </a:r>
          </a:p>
        </p:txBody>
      </p:sp>
    </p:spTree>
    <p:extLst>
      <p:ext uri="{BB962C8B-B14F-4D97-AF65-F5344CB8AC3E}">
        <p14:creationId xmlns:p14="http://schemas.microsoft.com/office/powerpoint/2010/main" val="3388774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29699"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80878D13-A5B8-46DA-BC42-D7626F19D6BE}" type="slidenum">
              <a:rPr lang="en-GB" altLang="en-US" sz="1000">
                <a:solidFill>
                  <a:srgbClr val="FFFF00"/>
                </a:solidFill>
                <a:latin typeface="Arial" panose="020B0604020202020204" pitchFamily="34" charset="0"/>
              </a:rPr>
              <a:pPr>
                <a:spcBef>
                  <a:spcPct val="0"/>
                </a:spcBef>
                <a:buClrTx/>
                <a:buFontTx/>
                <a:buNone/>
              </a:pPr>
              <a:t>25</a:t>
            </a:fld>
            <a:endParaRPr lang="en-GB" altLang="en-US" sz="1000">
              <a:solidFill>
                <a:srgbClr val="FFFF00"/>
              </a:solidFill>
              <a:latin typeface="Arial" panose="020B0604020202020204" pitchFamily="34" charset="0"/>
            </a:endParaRPr>
          </a:p>
        </p:txBody>
      </p:sp>
      <p:sp>
        <p:nvSpPr>
          <p:cNvPr id="29700" name="Rectangle 2"/>
          <p:cNvSpPr>
            <a:spLocks noGrp="1" noChangeArrowheads="1"/>
          </p:cNvSpPr>
          <p:nvPr>
            <p:ph type="title"/>
          </p:nvPr>
        </p:nvSpPr>
        <p:spPr/>
        <p:txBody>
          <a:bodyPr/>
          <a:lstStyle/>
          <a:p>
            <a:pPr eaLnBrk="1" hangingPunct="1"/>
            <a:r>
              <a:rPr lang="en-GB" altLang="en-US"/>
              <a:t>Agile Methods (XP)</a:t>
            </a:r>
          </a:p>
        </p:txBody>
      </p:sp>
      <p:sp>
        <p:nvSpPr>
          <p:cNvPr id="29701" name="Rectangle 3"/>
          <p:cNvSpPr>
            <a:spLocks noGrp="1" noChangeArrowheads="1"/>
          </p:cNvSpPr>
          <p:nvPr>
            <p:ph type="body" idx="1"/>
          </p:nvPr>
        </p:nvSpPr>
        <p:spPr/>
        <p:txBody>
          <a:bodyPr/>
          <a:lstStyle/>
          <a:p>
            <a:pPr marL="457200" indent="-457200">
              <a:buNone/>
            </a:pPr>
            <a:r>
              <a:rPr lang="en-GB" altLang="en-US" sz="2000"/>
              <a:t>XP uses object oriented approach to development</a:t>
            </a:r>
          </a:p>
          <a:p>
            <a:pPr marL="457200" indent="-457200">
              <a:buNone/>
            </a:pPr>
            <a:r>
              <a:rPr lang="en-GB" altLang="en-US" sz="2000"/>
              <a:t>XP has key 4 activities namely, planning, design, coding and testing.</a:t>
            </a:r>
          </a:p>
          <a:p>
            <a:pPr marL="457200" indent="-457200">
              <a:buFontTx/>
              <a:buAutoNum type="arabicPeriod"/>
            </a:pPr>
            <a:r>
              <a:rPr lang="en-GB" altLang="en-US" sz="2000"/>
              <a:t>Planning: starts with user stories to describe required features and functionalities of the proposed system.</a:t>
            </a:r>
          </a:p>
          <a:p>
            <a:pPr marL="914400" lvl="1" indent="-457200"/>
            <a:r>
              <a:rPr lang="en-GB" altLang="en-US" sz="2000"/>
              <a:t>XP team analyses the story and put a cost to it (development weeks, mostly 3, if more than 3, stories is divided into small stories by the user. </a:t>
            </a:r>
            <a:r>
              <a:rPr lang="en-GB" altLang="en-US" sz="1200" i="1"/>
              <a:t>(note iteration process here)</a:t>
            </a:r>
          </a:p>
          <a:p>
            <a:pPr marL="914400" lvl="1" indent="-457200"/>
            <a:r>
              <a:rPr lang="en-GB" altLang="en-US" sz="2000"/>
              <a:t>Customers and XP team work together to decide how to group stories into next release (next software increment) to be developed.</a:t>
            </a:r>
          </a:p>
          <a:p>
            <a:pPr marL="914400" lvl="1" indent="-457200"/>
            <a:r>
              <a:rPr lang="en-GB" altLang="en-US" sz="2000"/>
              <a:t>Once agreement on stories to be included, delivery date and other project maters, (Commitment) XP team devise 3 ways to develop system.</a:t>
            </a:r>
          </a:p>
          <a:p>
            <a:pPr marL="457200" indent="-457200">
              <a:buNone/>
            </a:pPr>
            <a:endParaRPr lang="en-GB" altLang="en-US" sz="2000"/>
          </a:p>
        </p:txBody>
      </p:sp>
    </p:spTree>
    <p:extLst>
      <p:ext uri="{BB962C8B-B14F-4D97-AF65-F5344CB8AC3E}">
        <p14:creationId xmlns:p14="http://schemas.microsoft.com/office/powerpoint/2010/main" val="3415069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30723"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9A2BAC2C-36DC-4B7C-B86B-FB2D8C26ED31}" type="slidenum">
              <a:rPr lang="en-GB" altLang="en-US" sz="1000">
                <a:solidFill>
                  <a:srgbClr val="FFFF00"/>
                </a:solidFill>
                <a:latin typeface="Arial" panose="020B0604020202020204" pitchFamily="34" charset="0"/>
              </a:rPr>
              <a:pPr>
                <a:spcBef>
                  <a:spcPct val="0"/>
                </a:spcBef>
                <a:buClrTx/>
                <a:buFontTx/>
                <a:buNone/>
              </a:pPr>
              <a:t>26</a:t>
            </a:fld>
            <a:endParaRPr lang="en-GB" altLang="en-US" sz="1000">
              <a:solidFill>
                <a:srgbClr val="FFFF00"/>
              </a:solidFill>
              <a:latin typeface="Arial" panose="020B0604020202020204" pitchFamily="34" charset="0"/>
            </a:endParaRPr>
          </a:p>
        </p:txBody>
      </p:sp>
      <p:sp>
        <p:nvSpPr>
          <p:cNvPr id="30724" name="Rectangle 2"/>
          <p:cNvSpPr>
            <a:spLocks noGrp="1" noChangeArrowheads="1"/>
          </p:cNvSpPr>
          <p:nvPr>
            <p:ph type="title"/>
          </p:nvPr>
        </p:nvSpPr>
        <p:spPr/>
        <p:txBody>
          <a:bodyPr/>
          <a:lstStyle/>
          <a:p>
            <a:pPr eaLnBrk="1" hangingPunct="1"/>
            <a:r>
              <a:rPr lang="en-GB" altLang="en-US"/>
              <a:t>XP</a:t>
            </a:r>
          </a:p>
        </p:txBody>
      </p:sp>
      <p:sp>
        <p:nvSpPr>
          <p:cNvPr id="30725" name="Rectangle 3"/>
          <p:cNvSpPr>
            <a:spLocks noGrp="1" noChangeArrowheads="1"/>
          </p:cNvSpPr>
          <p:nvPr>
            <p:ph type="body" idx="1"/>
          </p:nvPr>
        </p:nvSpPr>
        <p:spPr/>
        <p:txBody>
          <a:bodyPr/>
          <a:lstStyle/>
          <a:p>
            <a:pPr marL="457200" indent="-457200">
              <a:buNone/>
            </a:pPr>
            <a:r>
              <a:rPr lang="en-GB" altLang="en-US" sz="1800"/>
              <a:t>3 ways XP team develops a system</a:t>
            </a:r>
          </a:p>
          <a:p>
            <a:pPr marL="457200" indent="-457200">
              <a:buFontTx/>
              <a:buAutoNum type="arabicPeriod"/>
            </a:pPr>
            <a:r>
              <a:rPr lang="en-GB" altLang="en-US" sz="1800"/>
              <a:t>All stories to be implemented immidiately(within a few weeks)</a:t>
            </a:r>
          </a:p>
          <a:p>
            <a:pPr marL="457200" indent="-457200">
              <a:buFontTx/>
              <a:buAutoNum type="arabicPeriod"/>
            </a:pPr>
            <a:r>
              <a:rPr lang="en-GB" altLang="en-US" sz="1800"/>
              <a:t>The stories with highest value will be moved up in the schedule and implemented first</a:t>
            </a:r>
          </a:p>
          <a:p>
            <a:pPr marL="457200" indent="-457200">
              <a:buFontTx/>
              <a:buAutoNum type="arabicPeriod"/>
            </a:pPr>
            <a:r>
              <a:rPr lang="en-GB" altLang="en-US" sz="1800"/>
              <a:t>The riskiest stories will be moved up the schedule and implemented first.</a:t>
            </a:r>
          </a:p>
          <a:p>
            <a:pPr marL="457200" indent="-457200">
              <a:buNone/>
            </a:pPr>
            <a:r>
              <a:rPr lang="en-GB" altLang="en-US" sz="1800"/>
              <a:t>Project Velocity is computed once the 1</a:t>
            </a:r>
            <a:r>
              <a:rPr lang="en-GB" altLang="en-US" sz="1800" baseline="30000"/>
              <a:t>st</a:t>
            </a:r>
            <a:r>
              <a:rPr lang="en-GB" altLang="en-US" sz="1800"/>
              <a:t> project release is done. It is the number of stories implemented on the first release. Project Velocity can be used to:</a:t>
            </a:r>
          </a:p>
          <a:p>
            <a:pPr marL="457200" indent="-457200">
              <a:buFontTx/>
              <a:buAutoNum type="arabicPeriod"/>
            </a:pPr>
            <a:r>
              <a:rPr lang="en-GB" altLang="en-US" sz="1800"/>
              <a:t>Help estimate delivery dates and schedule for subsequent releases</a:t>
            </a:r>
          </a:p>
          <a:p>
            <a:pPr marL="457200" indent="-457200">
              <a:buFontTx/>
              <a:buAutoNum type="arabicPeriod"/>
            </a:pPr>
            <a:r>
              <a:rPr lang="en-GB" altLang="en-US" sz="1800"/>
              <a:t>Determine whether an over commitment has been made for all stories across the entire development project.</a:t>
            </a:r>
          </a:p>
          <a:p>
            <a:pPr marL="457200" indent="-457200">
              <a:buNone/>
            </a:pPr>
            <a:r>
              <a:rPr lang="en-GB" altLang="en-US" sz="1800"/>
              <a:t>NB: the customer can add stories, change the value of existing or split stories or eliminate them, then XP team reconsiders all remaining releases and modifies plans accordingly.</a:t>
            </a:r>
          </a:p>
        </p:txBody>
      </p:sp>
    </p:spTree>
    <p:extLst>
      <p:ext uri="{BB962C8B-B14F-4D97-AF65-F5344CB8AC3E}">
        <p14:creationId xmlns:p14="http://schemas.microsoft.com/office/powerpoint/2010/main" val="3257373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31747"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59A5CD3A-9F0D-4A34-8E21-3B6819D36377}" type="slidenum">
              <a:rPr lang="en-GB" altLang="en-US" sz="1000">
                <a:solidFill>
                  <a:srgbClr val="FFFF00"/>
                </a:solidFill>
                <a:latin typeface="Arial" panose="020B0604020202020204" pitchFamily="34" charset="0"/>
              </a:rPr>
              <a:pPr>
                <a:spcBef>
                  <a:spcPct val="0"/>
                </a:spcBef>
                <a:buClrTx/>
                <a:buFontTx/>
                <a:buNone/>
              </a:pPr>
              <a:t>27</a:t>
            </a:fld>
            <a:endParaRPr lang="en-GB" altLang="en-US" sz="1000">
              <a:solidFill>
                <a:srgbClr val="FFFF00"/>
              </a:solidFill>
              <a:latin typeface="Arial" panose="020B0604020202020204" pitchFamily="34" charset="0"/>
            </a:endParaRPr>
          </a:p>
        </p:txBody>
      </p:sp>
      <p:sp>
        <p:nvSpPr>
          <p:cNvPr id="31748" name="Rectangle 2"/>
          <p:cNvSpPr>
            <a:spLocks noGrp="1" noChangeArrowheads="1"/>
          </p:cNvSpPr>
          <p:nvPr>
            <p:ph type="title"/>
          </p:nvPr>
        </p:nvSpPr>
        <p:spPr/>
        <p:txBody>
          <a:bodyPr/>
          <a:lstStyle/>
          <a:p>
            <a:pPr eaLnBrk="1" hangingPunct="1"/>
            <a:r>
              <a:rPr lang="en-GB" altLang="en-US"/>
              <a:t>XP design activity</a:t>
            </a:r>
          </a:p>
        </p:txBody>
      </p:sp>
      <p:sp>
        <p:nvSpPr>
          <p:cNvPr id="31749" name="Rectangle 3"/>
          <p:cNvSpPr>
            <a:spLocks noGrp="1" noChangeArrowheads="1"/>
          </p:cNvSpPr>
          <p:nvPr>
            <p:ph type="body" idx="1"/>
          </p:nvPr>
        </p:nvSpPr>
        <p:spPr/>
        <p:txBody>
          <a:bodyPr/>
          <a:lstStyle/>
          <a:p>
            <a:pPr eaLnBrk="1" hangingPunct="1"/>
            <a:r>
              <a:rPr lang="en-GB" altLang="en-US" sz="2000"/>
              <a:t>Follows KIS, (keep it simple) principle.</a:t>
            </a:r>
          </a:p>
          <a:p>
            <a:pPr eaLnBrk="1" hangingPunct="1"/>
            <a:r>
              <a:rPr lang="en-GB" altLang="en-US" sz="2000"/>
              <a:t>Design provides implementation guidance for a story as it is written, nothing less, nothing more. The extra functionality (when the developer assumes that it will be required later) is discouraged</a:t>
            </a:r>
          </a:p>
          <a:p>
            <a:pPr eaLnBrk="1" hangingPunct="1"/>
            <a:r>
              <a:rPr lang="en-GB" altLang="en-US" sz="2000"/>
              <a:t>XP encourages use of CRC (Class responsibility collaborator) to identify and organise OO Classes that are relevant to the current software increment.</a:t>
            </a:r>
          </a:p>
          <a:p>
            <a:pPr eaLnBrk="1" hangingPunct="1"/>
            <a:r>
              <a:rPr lang="en-GB" altLang="en-US" sz="2000"/>
              <a:t>Design is viewed as transient artefact that can and should be modified as construction proceeds.</a:t>
            </a:r>
          </a:p>
          <a:p>
            <a:pPr eaLnBrk="1" hangingPunct="1"/>
            <a:r>
              <a:rPr lang="en-GB" altLang="en-US" sz="2000"/>
              <a:t>Refactoring is encouraged (changing software in a way that it doesn’t alter external behaviour of the code yet improves the internal structures)</a:t>
            </a:r>
          </a:p>
          <a:p>
            <a:pPr eaLnBrk="1" hangingPunct="1"/>
            <a:endParaRPr lang="en-GB" altLang="en-US" sz="2000"/>
          </a:p>
          <a:p>
            <a:pPr eaLnBrk="1" hangingPunct="1">
              <a:buFontTx/>
              <a:buNone/>
            </a:pPr>
            <a:endParaRPr lang="en-GB" altLang="en-US" sz="2000"/>
          </a:p>
        </p:txBody>
      </p:sp>
    </p:spTree>
    <p:extLst>
      <p:ext uri="{BB962C8B-B14F-4D97-AF65-F5344CB8AC3E}">
        <p14:creationId xmlns:p14="http://schemas.microsoft.com/office/powerpoint/2010/main" val="3669760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32771"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A7C3F199-F812-40E0-AAD5-0CD7F9F5B921}" type="slidenum">
              <a:rPr lang="en-GB" altLang="en-US" sz="1000">
                <a:solidFill>
                  <a:srgbClr val="FFFF00"/>
                </a:solidFill>
                <a:latin typeface="Arial" panose="020B0604020202020204" pitchFamily="34" charset="0"/>
              </a:rPr>
              <a:pPr>
                <a:spcBef>
                  <a:spcPct val="0"/>
                </a:spcBef>
                <a:buClrTx/>
                <a:buFontTx/>
                <a:buNone/>
              </a:pPr>
              <a:t>28</a:t>
            </a:fld>
            <a:endParaRPr lang="en-GB" altLang="en-US" sz="1000">
              <a:solidFill>
                <a:srgbClr val="FFFF00"/>
              </a:solidFill>
              <a:latin typeface="Arial" panose="020B0604020202020204" pitchFamily="34" charset="0"/>
            </a:endParaRPr>
          </a:p>
        </p:txBody>
      </p:sp>
      <p:sp>
        <p:nvSpPr>
          <p:cNvPr id="32772" name="Rectangle 2"/>
          <p:cNvSpPr>
            <a:spLocks noGrp="1" noChangeArrowheads="1"/>
          </p:cNvSpPr>
          <p:nvPr>
            <p:ph type="title"/>
          </p:nvPr>
        </p:nvSpPr>
        <p:spPr/>
        <p:txBody>
          <a:bodyPr/>
          <a:lstStyle/>
          <a:p>
            <a:pPr eaLnBrk="1" hangingPunct="1"/>
            <a:r>
              <a:rPr lang="en-GB" altLang="en-US"/>
              <a:t>XP Coding Activity</a:t>
            </a:r>
          </a:p>
        </p:txBody>
      </p:sp>
      <p:sp>
        <p:nvSpPr>
          <p:cNvPr id="32773" name="Rectangle 3"/>
          <p:cNvSpPr>
            <a:spLocks noGrp="1" noChangeArrowheads="1"/>
          </p:cNvSpPr>
          <p:nvPr>
            <p:ph type="body" idx="1"/>
          </p:nvPr>
        </p:nvSpPr>
        <p:spPr/>
        <p:txBody>
          <a:bodyPr/>
          <a:lstStyle/>
          <a:p>
            <a:pPr eaLnBrk="1" hangingPunct="1"/>
            <a:r>
              <a:rPr lang="en-GB" altLang="en-US"/>
              <a:t>Do not rush to coding, rather design a series of unit tests that will satisfy the stories to be included. The developer then focus on developing what is required to meet the tests and test the code.</a:t>
            </a:r>
          </a:p>
          <a:p>
            <a:pPr eaLnBrk="1" hangingPunct="1"/>
            <a:r>
              <a:rPr lang="en-GB" altLang="en-US"/>
              <a:t>Pair programming is recommended here.</a:t>
            </a:r>
          </a:p>
          <a:p>
            <a:pPr eaLnBrk="1" hangingPunct="1"/>
            <a:endParaRPr lang="en-GB" altLang="en-US"/>
          </a:p>
          <a:p>
            <a:pPr eaLnBrk="1" hangingPunct="1"/>
            <a:endParaRPr lang="en-GB" altLang="en-US"/>
          </a:p>
        </p:txBody>
      </p:sp>
    </p:spTree>
    <p:extLst>
      <p:ext uri="{BB962C8B-B14F-4D97-AF65-F5344CB8AC3E}">
        <p14:creationId xmlns:p14="http://schemas.microsoft.com/office/powerpoint/2010/main" val="21461656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33795"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992A9C99-390A-4417-948D-4F4808BE3F51}" type="slidenum">
              <a:rPr lang="en-GB" altLang="en-US" sz="1000">
                <a:solidFill>
                  <a:srgbClr val="FFFF00"/>
                </a:solidFill>
                <a:latin typeface="Arial" panose="020B0604020202020204" pitchFamily="34" charset="0"/>
              </a:rPr>
              <a:pPr>
                <a:spcBef>
                  <a:spcPct val="0"/>
                </a:spcBef>
                <a:buClrTx/>
                <a:buFontTx/>
                <a:buNone/>
              </a:pPr>
              <a:t>29</a:t>
            </a:fld>
            <a:endParaRPr lang="en-GB" altLang="en-US" sz="1000">
              <a:solidFill>
                <a:srgbClr val="FFFF00"/>
              </a:solidFill>
              <a:latin typeface="Arial" panose="020B0604020202020204" pitchFamily="34" charset="0"/>
            </a:endParaRPr>
          </a:p>
        </p:txBody>
      </p:sp>
      <p:sp>
        <p:nvSpPr>
          <p:cNvPr id="33796" name="Rectangle 2"/>
          <p:cNvSpPr>
            <a:spLocks noGrp="1" noChangeArrowheads="1"/>
          </p:cNvSpPr>
          <p:nvPr>
            <p:ph type="title"/>
          </p:nvPr>
        </p:nvSpPr>
        <p:spPr/>
        <p:txBody>
          <a:bodyPr/>
          <a:lstStyle/>
          <a:p>
            <a:pPr eaLnBrk="1" hangingPunct="1"/>
            <a:r>
              <a:rPr lang="en-GB" altLang="en-US"/>
              <a:t>XP testing Activity</a:t>
            </a:r>
          </a:p>
        </p:txBody>
      </p:sp>
      <p:sp>
        <p:nvSpPr>
          <p:cNvPr id="33797" name="Rectangle 3"/>
          <p:cNvSpPr>
            <a:spLocks noGrp="1" noChangeArrowheads="1"/>
          </p:cNvSpPr>
          <p:nvPr>
            <p:ph type="body" idx="1"/>
          </p:nvPr>
        </p:nvSpPr>
        <p:spPr/>
        <p:txBody>
          <a:bodyPr/>
          <a:lstStyle/>
          <a:p>
            <a:pPr eaLnBrk="1" hangingPunct="1"/>
            <a:r>
              <a:rPr lang="en-GB" altLang="en-US"/>
              <a:t>Unit test before coding is key element in XP</a:t>
            </a:r>
          </a:p>
          <a:p>
            <a:pPr eaLnBrk="1" hangingPunct="1"/>
            <a:r>
              <a:rPr lang="en-GB" altLang="en-US"/>
              <a:t>Test should be in an automated environment to make them easy and repeatable.</a:t>
            </a:r>
          </a:p>
          <a:p>
            <a:pPr eaLnBrk="1" hangingPunct="1"/>
            <a:r>
              <a:rPr lang="en-GB" altLang="en-US"/>
              <a:t>Integration and validation to done on daily basis to help identifies errors early.</a:t>
            </a:r>
          </a:p>
          <a:p>
            <a:pPr eaLnBrk="1" hangingPunct="1"/>
            <a:r>
              <a:rPr lang="en-GB" altLang="en-US"/>
              <a:t>Acceptance Tests are specified by the customer and focus on functionality and features visible to the customer.</a:t>
            </a:r>
          </a:p>
        </p:txBody>
      </p:sp>
    </p:spTree>
    <p:extLst>
      <p:ext uri="{BB962C8B-B14F-4D97-AF65-F5344CB8AC3E}">
        <p14:creationId xmlns:p14="http://schemas.microsoft.com/office/powerpoint/2010/main" val="25618081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4"/>
          <p:cNvSpPr>
            <a:spLocks noGrp="1"/>
          </p:cNvSpPr>
          <p:nvPr>
            <p:ph type="ftr" sz="quarter" idx="4294967295"/>
          </p:nvPr>
        </p:nvSpPr>
        <p:spPr>
          <a:xfrm>
            <a:off x="4648200" y="6400800"/>
            <a:ext cx="28956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r>
              <a:rPr lang="en-US" altLang="en-US" sz="1000">
                <a:solidFill>
                  <a:srgbClr val="FFFF00"/>
                </a:solidFill>
                <a:latin typeface="Arial" panose="020B0604020202020204" pitchFamily="34" charset="0"/>
                <a:cs typeface="Arial" panose="020B0604020202020204" pitchFamily="34" charset="0"/>
              </a:rPr>
              <a:t>Prog 102   Principles of Software Engineering</a:t>
            </a:r>
            <a:endParaRPr lang="en-GB" altLang="en-US" sz="1000">
              <a:solidFill>
                <a:srgbClr val="FFFF00"/>
              </a:solidFill>
              <a:latin typeface="Arial" panose="020B0604020202020204" pitchFamily="34" charset="0"/>
              <a:cs typeface="Arial" panose="020B0604020202020204" pitchFamily="34" charset="0"/>
            </a:endParaRPr>
          </a:p>
        </p:txBody>
      </p:sp>
      <p:sp>
        <p:nvSpPr>
          <p:cNvPr id="34819" name="Slide Number Placeholder 5"/>
          <p:cNvSpPr>
            <a:spLocks noGrp="1"/>
          </p:cNvSpPr>
          <p:nvPr>
            <p:ph type="sldNum" sz="quarter" idx="4294967295"/>
          </p:nvPr>
        </p:nvSpPr>
        <p:spPr>
          <a:xfrm>
            <a:off x="8610600" y="6400800"/>
            <a:ext cx="19050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FFFF"/>
              </a:buClr>
              <a:buChar char="•"/>
              <a:defRPr sz="2400">
                <a:solidFill>
                  <a:srgbClr val="FFFFFF"/>
                </a:solidFill>
                <a:latin typeface="Tahoma" panose="020B0604030504040204" pitchFamily="34" charset="0"/>
              </a:defRPr>
            </a:lvl1pPr>
            <a:lvl2pPr marL="742950" indent="-285750">
              <a:spcBef>
                <a:spcPct val="20000"/>
              </a:spcBef>
              <a:buClr>
                <a:srgbClr val="FFFFFF"/>
              </a:buClr>
              <a:buChar char="–"/>
              <a:defRPr sz="2400">
                <a:solidFill>
                  <a:srgbClr val="FFFFFF"/>
                </a:solidFill>
                <a:latin typeface="Tahoma" panose="020B0604030504040204" pitchFamily="34" charset="0"/>
              </a:defRPr>
            </a:lvl2pPr>
            <a:lvl3pPr marL="1143000" indent="-228600">
              <a:spcBef>
                <a:spcPct val="20000"/>
              </a:spcBef>
              <a:buClr>
                <a:srgbClr val="FFFFFF"/>
              </a:buClr>
              <a:buChar char="•"/>
              <a:defRPr sz="2400">
                <a:solidFill>
                  <a:srgbClr val="FFFFFF"/>
                </a:solidFill>
                <a:latin typeface="Tahoma" panose="020B0604030504040204" pitchFamily="34" charset="0"/>
              </a:defRPr>
            </a:lvl3pPr>
            <a:lvl4pPr marL="1600200" indent="-228600">
              <a:spcBef>
                <a:spcPct val="20000"/>
              </a:spcBef>
              <a:buClr>
                <a:srgbClr val="FFFFFF"/>
              </a:buClr>
              <a:buChar char="–"/>
              <a:defRPr sz="2400">
                <a:solidFill>
                  <a:srgbClr val="FFFFFF"/>
                </a:solidFill>
                <a:latin typeface="Tahoma" panose="020B0604030504040204" pitchFamily="34" charset="0"/>
              </a:defRPr>
            </a:lvl4pPr>
            <a:lvl5pPr marL="2057400" indent="-228600">
              <a:spcBef>
                <a:spcPct val="20000"/>
              </a:spcBef>
              <a:buClr>
                <a:srgbClr val="FFFFFF"/>
              </a:buClr>
              <a:buChar char="•"/>
              <a:defRPr sz="2400">
                <a:solidFill>
                  <a:srgbClr val="FFFFFF"/>
                </a:solidFill>
                <a:latin typeface="Tahoma" panose="020B0604030504040204" pitchFamily="34" charset="0"/>
              </a:defRPr>
            </a:lvl5pPr>
            <a:lvl6pPr marL="25146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6pPr>
            <a:lvl7pPr marL="29718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7pPr>
            <a:lvl8pPr marL="34290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8pPr>
            <a:lvl9pPr marL="3886200" indent="-228600" eaLnBrk="0" fontAlgn="base" hangingPunct="0">
              <a:spcBef>
                <a:spcPct val="20000"/>
              </a:spcBef>
              <a:spcAft>
                <a:spcPct val="0"/>
              </a:spcAft>
              <a:buClr>
                <a:srgbClr val="FFFFFF"/>
              </a:buClr>
              <a:buChar char="•"/>
              <a:defRPr sz="2400">
                <a:solidFill>
                  <a:srgbClr val="FFFFFF"/>
                </a:solidFill>
                <a:latin typeface="Tahoma" panose="020B0604030504040204" pitchFamily="34" charset="0"/>
              </a:defRPr>
            </a:lvl9pPr>
          </a:lstStyle>
          <a:p>
            <a:pPr>
              <a:spcBef>
                <a:spcPct val="0"/>
              </a:spcBef>
              <a:buClrTx/>
              <a:buFontTx/>
              <a:buNone/>
            </a:pPr>
            <a:fld id="{129C2D35-B76E-4F02-8E84-7C5372629E75}" type="slidenum">
              <a:rPr lang="en-GB" altLang="en-US" sz="1000">
                <a:solidFill>
                  <a:srgbClr val="FFFF00"/>
                </a:solidFill>
                <a:latin typeface="Arial" panose="020B0604020202020204" pitchFamily="34" charset="0"/>
              </a:rPr>
              <a:pPr>
                <a:spcBef>
                  <a:spcPct val="0"/>
                </a:spcBef>
                <a:buClrTx/>
                <a:buFontTx/>
                <a:buNone/>
              </a:pPr>
              <a:t>30</a:t>
            </a:fld>
            <a:endParaRPr lang="en-GB" altLang="en-US" sz="1000">
              <a:solidFill>
                <a:srgbClr val="FFFF00"/>
              </a:solidFill>
              <a:latin typeface="Arial" panose="020B0604020202020204" pitchFamily="34" charset="0"/>
            </a:endParaRPr>
          </a:p>
        </p:txBody>
      </p:sp>
      <p:sp>
        <p:nvSpPr>
          <p:cNvPr id="34820" name="Rectangle 2"/>
          <p:cNvSpPr>
            <a:spLocks noGrp="1" noChangeArrowheads="1"/>
          </p:cNvSpPr>
          <p:nvPr>
            <p:ph type="title"/>
          </p:nvPr>
        </p:nvSpPr>
        <p:spPr/>
        <p:txBody>
          <a:bodyPr/>
          <a:lstStyle/>
          <a:p>
            <a:pPr eaLnBrk="1" hangingPunct="1"/>
            <a:r>
              <a:rPr lang="en-GB" altLang="en-US"/>
              <a:t>Agile Method DSDM</a:t>
            </a:r>
          </a:p>
        </p:txBody>
      </p:sp>
      <p:sp>
        <p:nvSpPr>
          <p:cNvPr id="34821" name="Rectangle 3"/>
          <p:cNvSpPr>
            <a:spLocks noGrp="1" noChangeArrowheads="1"/>
          </p:cNvSpPr>
          <p:nvPr>
            <p:ph type="body" idx="1"/>
          </p:nvPr>
        </p:nvSpPr>
        <p:spPr/>
        <p:txBody>
          <a:bodyPr/>
          <a:lstStyle/>
          <a:p>
            <a:pPr eaLnBrk="1" hangingPunct="1">
              <a:buFontTx/>
              <a:buNone/>
            </a:pPr>
            <a:r>
              <a:rPr lang="en-GB" altLang="en-US"/>
              <a:t>DSDM provides for building and maintaining systems which meet time constraints through the use of incremental prototyping in controlled environment.</a:t>
            </a:r>
          </a:p>
          <a:p>
            <a:pPr eaLnBrk="1" hangingPunct="1">
              <a:buFontTx/>
              <a:buNone/>
            </a:pPr>
            <a:r>
              <a:rPr lang="en-GB" altLang="en-US"/>
              <a:t>Use </a:t>
            </a:r>
            <a:r>
              <a:rPr lang="en-GB" altLang="en-US" i="1"/>
              <a:t>pareto principle </a:t>
            </a:r>
            <a:r>
              <a:rPr lang="en-GB" altLang="en-US"/>
              <a:t>that 80% of application can be delivered in 20% time it takes to deliver a 100% complete application.</a:t>
            </a:r>
          </a:p>
          <a:p>
            <a:pPr eaLnBrk="1" hangingPunct="1">
              <a:buFontTx/>
              <a:buNone/>
            </a:pPr>
            <a:r>
              <a:rPr lang="en-GB" altLang="en-US"/>
              <a:t>Its iterative just like XP, but depends on the 80% of work to go the next stage.</a:t>
            </a:r>
          </a:p>
          <a:p>
            <a:pPr eaLnBrk="1" hangingPunct="1">
              <a:buFontTx/>
              <a:buNone/>
            </a:pPr>
            <a:endParaRPr lang="en-GB" altLang="en-US" i="1"/>
          </a:p>
        </p:txBody>
      </p:sp>
    </p:spTree>
    <p:extLst>
      <p:ext uri="{BB962C8B-B14F-4D97-AF65-F5344CB8AC3E}">
        <p14:creationId xmlns:p14="http://schemas.microsoft.com/office/powerpoint/2010/main" val="2930739519"/>
      </p:ext>
    </p:extLst>
  </p:cSld>
  <p:clrMapOvr>
    <a:masterClrMapping/>
  </p:clrMapOvr>
</p:sld>
</file>

<file path=ppt/theme/theme1.xml><?xml version="1.0" encoding="utf-8"?>
<a:theme xmlns:a="http://schemas.openxmlformats.org/drawingml/2006/main" name="Office Theme">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themeOverride>
</file>

<file path=docProps/app.xml><?xml version="1.0" encoding="utf-8"?>
<Properties xmlns="http://schemas.openxmlformats.org/officeDocument/2006/extended-properties" xmlns:vt="http://schemas.openxmlformats.org/officeDocument/2006/docPropsVTypes">
  <Template/>
  <TotalTime>417</TotalTime>
  <Words>2903</Words>
  <Application>Microsoft Office PowerPoint</Application>
  <PresentationFormat>Widescreen</PresentationFormat>
  <Paragraphs>227</Paragraphs>
  <Slides>30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Tahoma</vt:lpstr>
      <vt:lpstr>Wingdings</vt:lpstr>
      <vt:lpstr>Office Theme</vt:lpstr>
      <vt:lpstr>PRINCIPLES OF SOFTWARE ENGINEERING </vt:lpstr>
      <vt:lpstr>Objectives</vt:lpstr>
      <vt:lpstr>Software Development Life cycle</vt:lpstr>
      <vt:lpstr>Software Development Life cycle</vt:lpstr>
      <vt:lpstr>SDLC Cont..</vt:lpstr>
      <vt:lpstr>Software Development Life cycle model</vt:lpstr>
      <vt:lpstr>The Waterfall Model</vt:lpstr>
      <vt:lpstr>The Waterfall Model</vt:lpstr>
      <vt:lpstr>Advantages and Disadvantages of waterfall model</vt:lpstr>
      <vt:lpstr>The Waterfall Model</vt:lpstr>
      <vt:lpstr>Spiral Model</vt:lpstr>
      <vt:lpstr>Spiral model cont…</vt:lpstr>
      <vt:lpstr>Advantages of spiral model</vt:lpstr>
      <vt:lpstr>Disadvantages</vt:lpstr>
      <vt:lpstr>Spiral Model cont…</vt:lpstr>
      <vt:lpstr>Rapid Application Development (RAD)</vt:lpstr>
      <vt:lpstr>Stages in RAD</vt:lpstr>
      <vt:lpstr>Advantages of RAD</vt:lpstr>
      <vt:lpstr>    Disadvantages of RAD</vt:lpstr>
      <vt:lpstr>Agile Model</vt:lpstr>
      <vt:lpstr>Agile Methods</vt:lpstr>
      <vt:lpstr>Advantages of the agile </vt:lpstr>
      <vt:lpstr>Disadvantages</vt:lpstr>
      <vt:lpstr>Agile Methods cont…</vt:lpstr>
      <vt:lpstr>Agile Methods (XP)</vt:lpstr>
      <vt:lpstr>XP</vt:lpstr>
      <vt:lpstr>XP design activity</vt:lpstr>
      <vt:lpstr>XP Coding Activity</vt:lpstr>
      <vt:lpstr>XP testing Activity</vt:lpstr>
      <vt:lpstr>Agile Method DSDM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user</cp:lastModifiedBy>
  <cp:revision>19</cp:revision>
  <dcterms:created xsi:type="dcterms:W3CDTF">2023-03-30T14:56:20Z</dcterms:created>
  <dcterms:modified xsi:type="dcterms:W3CDTF">2024-03-19T09:35:10Z</dcterms:modified>
</cp:coreProperties>
</file>