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6" r:id="rId2"/>
    <p:sldId id="28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91"/>
    <p:restoredTop sz="96405"/>
  </p:normalViewPr>
  <p:slideViewPr>
    <p:cSldViewPr snapToGrid="0">
      <p:cViewPr>
        <p:scale>
          <a:sx n="66" d="100"/>
          <a:sy n="66" d="100"/>
        </p:scale>
        <p:origin x="100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aa-E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A0420-623A-104A-8901-D83B63A1E660}" type="datetimeFigureOut">
              <a:rPr lang="aa-ET" smtClean="0"/>
              <a:t>04/03/2024</a:t>
            </a:fld>
            <a:endParaRPr lang="aa-E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a-E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a-E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aa-E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74951-2C74-D643-AB10-B943E48EDE1B}" type="slidenum">
              <a:rPr lang="aa-ET" smtClean="0"/>
              <a:t>‹#›</a:t>
            </a:fld>
            <a:endParaRPr lang="aa-ET"/>
          </a:p>
        </p:txBody>
      </p:sp>
    </p:spTree>
    <p:extLst>
      <p:ext uri="{BB962C8B-B14F-4D97-AF65-F5344CB8AC3E}">
        <p14:creationId xmlns:p14="http://schemas.microsoft.com/office/powerpoint/2010/main" val="1339432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dirty="0"/>
          </a:p>
        </p:txBody>
      </p:sp>
      <p:sp>
        <p:nvSpPr>
          <p:cNvPr id="4" name="Slide Number Placeholder 3"/>
          <p:cNvSpPr>
            <a:spLocks noGrp="1"/>
          </p:cNvSpPr>
          <p:nvPr>
            <p:ph type="sldNum" sz="quarter" idx="5"/>
          </p:nvPr>
        </p:nvSpPr>
        <p:spPr/>
        <p:txBody>
          <a:bodyPr/>
          <a:lstStyle/>
          <a:p>
            <a:fld id="{0F474951-2C74-D643-AB10-B943E48EDE1B}" type="slidenum">
              <a:rPr lang="aa-ET" smtClean="0"/>
              <a:t>1</a:t>
            </a:fld>
            <a:endParaRPr lang="aa-ET"/>
          </a:p>
        </p:txBody>
      </p:sp>
    </p:spTree>
    <p:extLst>
      <p:ext uri="{BB962C8B-B14F-4D97-AF65-F5344CB8AC3E}">
        <p14:creationId xmlns:p14="http://schemas.microsoft.com/office/powerpoint/2010/main" val="2949366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41606"/>
            <a:ext cx="9144000" cy="2566386"/>
          </a:xfrm>
          <a:prstGeom prst="rect">
            <a:avLst/>
          </a:prstGeom>
        </p:spPr>
        <p:txBody>
          <a:bodyPr anchor="b"/>
          <a:lstStyle>
            <a:lvl1pPr algn="ctr">
              <a:defRPr sz="6000"/>
            </a:lvl1pPr>
          </a:lstStyle>
          <a:p>
            <a:r>
              <a:rPr lang="en-GB" dirty="0"/>
              <a:t>Click to edit Master title style</a:t>
            </a:r>
            <a:endParaRPr lang="en-US" dirty="0"/>
          </a:p>
        </p:txBody>
      </p:sp>
      <p:sp>
        <p:nvSpPr>
          <p:cNvPr id="3" name="Subtitle 2"/>
          <p:cNvSpPr>
            <a:spLocks noGrp="1"/>
          </p:cNvSpPr>
          <p:nvPr>
            <p:ph type="subTitle" idx="1"/>
          </p:nvPr>
        </p:nvSpPr>
        <p:spPr>
          <a:xfrm>
            <a:off x="1524000" y="4626863"/>
            <a:ext cx="9144000" cy="1134173"/>
          </a:xfrm>
          <a:prstGeom prst="rect">
            <a:avLst/>
          </a:prstGeom>
        </p:spPr>
        <p:txBody>
          <a:bodyPr/>
          <a:lstStyle>
            <a:lvl1pPr marL="0" indent="0" algn="ctr">
              <a:buNone/>
              <a:defRPr sz="24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2073380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348062B8-AB82-F2B3-3101-23B44D8D606A}"/>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1179791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Footer Placeholder 7">
            <a:extLst>
              <a:ext uri="{FF2B5EF4-FFF2-40B4-BE49-F238E27FC236}">
                <a16:creationId xmlns:a16="http://schemas.microsoft.com/office/drawing/2014/main" id="{364D8A2B-30B9-0C15-7F64-0649FFCC19DB}"/>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1894526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a:extLst>
              <a:ext uri="{FF2B5EF4-FFF2-40B4-BE49-F238E27FC236}">
                <a16:creationId xmlns:a16="http://schemas.microsoft.com/office/drawing/2014/main" id="{B851334D-5ECD-EAA3-2745-D5C5E2235829}"/>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637265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43784" y="265177"/>
            <a:ext cx="8511604" cy="1060703"/>
          </a:xfrm>
          <a:prstGeom prst="rect">
            <a:avLst/>
          </a:prstGeom>
        </p:spPr>
        <p:txBody>
          <a:bodyPr anchor="ct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Footer Placeholder 7">
            <a:extLst>
              <a:ext uri="{FF2B5EF4-FFF2-40B4-BE49-F238E27FC236}">
                <a16:creationId xmlns:a16="http://schemas.microsoft.com/office/drawing/2014/main" id="{8D0414B7-8E21-99AD-DF91-1DCCECDD55D0}"/>
              </a:ext>
            </a:extLst>
          </p:cNvPr>
          <p:cNvSpPr>
            <a:spLocks noGrp="1"/>
          </p:cNvSpPr>
          <p:nvPr>
            <p:ph type="ftr" sz="quarter" idx="10"/>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2176047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6" name="Footer Placeholder 7">
            <a:extLst>
              <a:ext uri="{FF2B5EF4-FFF2-40B4-BE49-F238E27FC236}">
                <a16:creationId xmlns:a16="http://schemas.microsoft.com/office/drawing/2014/main" id="{C9302E01-FFBE-4FF0-034F-30AE985A79ED}"/>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57503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7">
            <a:extLst>
              <a:ext uri="{FF2B5EF4-FFF2-40B4-BE49-F238E27FC236}">
                <a16:creationId xmlns:a16="http://schemas.microsoft.com/office/drawing/2014/main" id="{A6526409-90E9-E7E1-3A56-5E9CC7FAF266}"/>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12028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Footer Placeholder 7">
            <a:extLst>
              <a:ext uri="{FF2B5EF4-FFF2-40B4-BE49-F238E27FC236}">
                <a16:creationId xmlns:a16="http://schemas.microsoft.com/office/drawing/2014/main" id="{30FAA1DA-807D-5822-720A-CDE3F6847ADD}"/>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23088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Footer Placeholder 7">
            <a:extLst>
              <a:ext uri="{FF2B5EF4-FFF2-40B4-BE49-F238E27FC236}">
                <a16:creationId xmlns:a16="http://schemas.microsoft.com/office/drawing/2014/main" id="{4C9D83BE-7273-D727-7A95-1537E313079C}"/>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3794633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8669B2F4-83DB-3FF1-8FDF-AA9829120606}"/>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692221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B306E8DF-42D3-5DCD-9E8E-8F8E91F971AB}"/>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1757644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BF1A32-7ED7-AE66-BF3F-32FEBA886B5D}"/>
              </a:ext>
            </a:extLst>
          </p:cNvPr>
          <p:cNvPicPr>
            <a:picLocks noChangeAspect="1"/>
          </p:cNvPicPr>
          <p:nvPr userDrawn="1"/>
        </p:nvPicPr>
        <p:blipFill rotWithShape="1">
          <a:blip r:embed="rId13">
            <a:extLst>
              <a:ext uri="{BEBA8EAE-BF5A-486C-A8C5-ECC9F3942E4B}">
                <a14:imgProps xmlns:a14="http://schemas.microsoft.com/office/drawing/2010/main">
                  <a14:imgLayer r:embed="rId14">
                    <a14:imgEffect>
                      <a14:sharpenSoften amount="50000"/>
                    </a14:imgEffect>
                    <a14:imgEffect>
                      <a14:brightnessContrast contrast="100000"/>
                    </a14:imgEffect>
                  </a14:imgLayer>
                </a14:imgProps>
              </a:ext>
              <a:ext uri="{28A0092B-C50C-407E-A947-70E740481C1C}">
                <a14:useLocalDpi xmlns:a14="http://schemas.microsoft.com/office/drawing/2010/main" val="0"/>
              </a:ext>
            </a:extLst>
          </a:blip>
          <a:srcRect l="375" t="600" r="642"/>
          <a:stretch/>
        </p:blipFill>
        <p:spPr bwMode="auto">
          <a:xfrm>
            <a:off x="838200" y="282931"/>
            <a:ext cx="1765324" cy="1050531"/>
          </a:xfrm>
          <a:prstGeom prst="rect">
            <a:avLst/>
          </a:prstGeom>
          <a:noFill/>
          <a:ln>
            <a:noFill/>
          </a:ln>
        </p:spPr>
      </p:pic>
      <p:cxnSp>
        <p:nvCxnSpPr>
          <p:cNvPr id="10" name="Straight Connector 9">
            <a:extLst>
              <a:ext uri="{FF2B5EF4-FFF2-40B4-BE49-F238E27FC236}">
                <a16:creationId xmlns:a16="http://schemas.microsoft.com/office/drawing/2014/main" id="{ACA603D9-487D-F442-A363-C94794B2E8A7}"/>
              </a:ext>
            </a:extLst>
          </p:cNvPr>
          <p:cNvCxnSpPr>
            <a:cxnSpLocks/>
          </p:cNvCxnSpPr>
          <p:nvPr userDrawn="1"/>
        </p:nvCxnSpPr>
        <p:spPr>
          <a:xfrm>
            <a:off x="838200" y="617696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90EC78E-36D0-6EDD-4F54-599D4DCFD2F1}"/>
              </a:ext>
            </a:extLst>
          </p:cNvPr>
          <p:cNvCxnSpPr>
            <a:cxnSpLocks/>
          </p:cNvCxnSpPr>
          <p:nvPr userDrawn="1"/>
        </p:nvCxnSpPr>
        <p:spPr>
          <a:xfrm>
            <a:off x="838200" y="6438735"/>
            <a:ext cx="10515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itle Placeholder 16">
            <a:extLst>
              <a:ext uri="{FF2B5EF4-FFF2-40B4-BE49-F238E27FC236}">
                <a16:creationId xmlns:a16="http://schemas.microsoft.com/office/drawing/2014/main" id="{4EB62306-4DB1-0C16-FD02-F978E22A713D}"/>
              </a:ext>
            </a:extLst>
          </p:cNvPr>
          <p:cNvSpPr>
            <a:spLocks noGrp="1"/>
          </p:cNvSpPr>
          <p:nvPr>
            <p:ph type="title"/>
          </p:nvPr>
        </p:nvSpPr>
        <p:spPr>
          <a:xfrm>
            <a:off x="2751513" y="291794"/>
            <a:ext cx="8602287" cy="930177"/>
          </a:xfrm>
          <a:prstGeom prst="rect">
            <a:avLst/>
          </a:prstGeom>
        </p:spPr>
        <p:txBody>
          <a:bodyPr vert="horz" lIns="91440" tIns="45720" rIns="91440" bIns="45720" rtlCol="0" anchor="ctr">
            <a:normAutofit/>
          </a:bodyPr>
          <a:lstStyle/>
          <a:p>
            <a:r>
              <a:rPr lang="en-GB"/>
              <a:t>Click to edit Master title style</a:t>
            </a:r>
            <a:endParaRPr lang="aa-ET"/>
          </a:p>
        </p:txBody>
      </p:sp>
      <p:sp>
        <p:nvSpPr>
          <p:cNvPr id="18" name="Text Placeholder 17">
            <a:extLst>
              <a:ext uri="{FF2B5EF4-FFF2-40B4-BE49-F238E27FC236}">
                <a16:creationId xmlns:a16="http://schemas.microsoft.com/office/drawing/2014/main" id="{AD394821-2868-4EF8-6E39-CCCC04BF74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a-ET"/>
          </a:p>
        </p:txBody>
      </p:sp>
      <p:cxnSp>
        <p:nvCxnSpPr>
          <p:cNvPr id="3" name="Straight Connector 2">
            <a:extLst>
              <a:ext uri="{FF2B5EF4-FFF2-40B4-BE49-F238E27FC236}">
                <a16:creationId xmlns:a16="http://schemas.microsoft.com/office/drawing/2014/main" id="{4EAD2543-0F31-E0B8-C1CA-64FAF24066C2}"/>
              </a:ext>
            </a:extLst>
          </p:cNvPr>
          <p:cNvCxnSpPr/>
          <p:nvPr userDrawn="1"/>
        </p:nvCxnSpPr>
        <p:spPr>
          <a:xfrm>
            <a:off x="2751513" y="1333462"/>
            <a:ext cx="8602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48314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3600" b="1"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A323B-F5C3-B592-FB36-4B5BAEECEC8A}"/>
              </a:ext>
            </a:extLst>
          </p:cNvPr>
          <p:cNvSpPr>
            <a:spLocks noGrp="1"/>
          </p:cNvSpPr>
          <p:nvPr>
            <p:ph type="ctrTitle"/>
          </p:nvPr>
        </p:nvSpPr>
        <p:spPr>
          <a:xfrm>
            <a:off x="838200" y="1941606"/>
            <a:ext cx="10515600" cy="2566386"/>
          </a:xfrm>
        </p:spPr>
        <p:txBody>
          <a:bodyPr anchor="ctr">
            <a:noAutofit/>
          </a:bodyPr>
          <a:lstStyle/>
          <a:p>
            <a:r>
              <a:rPr lang="en-GB" sz="4400" dirty="0">
                <a:solidFill>
                  <a:srgbClr val="FFFF00"/>
                </a:solidFill>
                <a:latin typeface="Tahoma" panose="020B0604030504040204" pitchFamily="34" charset="0"/>
                <a:ea typeface="Tahoma" panose="020B0604030504040204" pitchFamily="34" charset="0"/>
                <a:cs typeface="Tahoma" panose="020B0604030504040204" pitchFamily="34" charset="0"/>
              </a:rPr>
              <a:t>REQUIREMENT ENGINEERING </a:t>
            </a:r>
            <a:endParaRPr lang="aa-ET" sz="4400" dirty="0">
              <a:solidFill>
                <a:srgbClr val="FFFF00"/>
              </a:solidFill>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B6A380B1-3D40-258B-262F-E3A1CE85CEE4}"/>
              </a:ext>
            </a:extLst>
          </p:cNvPr>
          <p:cNvSpPr>
            <a:spLocks noGrp="1"/>
          </p:cNvSpPr>
          <p:nvPr>
            <p:ph type="subTitle" idx="1"/>
          </p:nvPr>
        </p:nvSpPr>
        <p:spPr>
          <a:xfrm>
            <a:off x="1524000" y="4926892"/>
            <a:ext cx="9144000" cy="1134173"/>
          </a:xfrm>
        </p:spPr>
        <p:txBody>
          <a:bodyPr>
            <a:normAutofit/>
          </a:bodyPr>
          <a:lstStyle/>
          <a:p>
            <a:r>
              <a:rPr lang="en-US" sz="3200" dirty="0"/>
              <a:t>LECTURE 3 </a:t>
            </a:r>
            <a:endParaRPr lang="aa-ET" sz="3200" dirty="0">
              <a:latin typeface="Tahoma" panose="020B0604030504040204" pitchFamily="34" charset="0"/>
              <a:ea typeface="Tahoma" panose="020B0604030504040204" pitchFamily="34" charset="0"/>
              <a:cs typeface="Tahoma" panose="020B0604030504040204" pitchFamily="34" charset="0"/>
            </a:endParaRPr>
          </a:p>
        </p:txBody>
      </p:sp>
      <p:sp>
        <p:nvSpPr>
          <p:cNvPr id="4" name="Footer Placeholder 7">
            <a:extLst>
              <a:ext uri="{FF2B5EF4-FFF2-40B4-BE49-F238E27FC236}">
                <a16:creationId xmlns:a16="http://schemas.microsoft.com/office/drawing/2014/main" id="{AA5908C0-CE78-2C19-AE4A-3DE035E8370B}"/>
              </a:ext>
            </a:extLst>
          </p:cNvPr>
          <p:cNvSpPr txBox="1">
            <a:spLocks/>
          </p:cNvSpPr>
          <p:nvPr/>
        </p:nvSpPr>
        <p:spPr>
          <a:xfrm>
            <a:off x="838200" y="6479966"/>
            <a:ext cx="10515600" cy="365125"/>
          </a:xfrm>
          <a:prstGeom prst="rect">
            <a:avLst/>
          </a:prstGeom>
          <a:ln>
            <a:noFill/>
          </a:ln>
        </p:spPr>
        <p:txBody>
          <a:bodyPr vert="horz" lIns="91440" tIns="45720" rIns="91440" bIns="45720" rtlCol="0" anchor="ctr"/>
          <a:lstStyle>
            <a:defPPr>
              <a:defRPr lang="en-US"/>
            </a:defPPr>
            <a:lvl1pPr marL="0" marR="0" indent="0" algn="ctr" defTabSz="457200" rtl="0" eaLnBrk="1" fontAlgn="auto" latinLnBrk="0" hangingPunct="1">
              <a:lnSpc>
                <a:spcPct val="100000"/>
              </a:lnSpc>
              <a:spcBef>
                <a:spcPts val="0"/>
              </a:spcBef>
              <a:spcAft>
                <a:spcPts val="0"/>
              </a:spcAft>
              <a:buClrTx/>
              <a:buSzTx/>
              <a:buFontTx/>
              <a:buNone/>
              <a:tabLst/>
              <a:defRPr sz="900" kern="12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800" dirty="0"/>
              <a:t>ALL RIGHTS RESERVED </a:t>
            </a:r>
          </a:p>
          <a:p>
            <a:r>
              <a:rPr lang="en-GB" sz="800" dirty="0"/>
              <a:t>No part of this document may be reproduced without written approval from Limkokwing University of Creative Technology</a:t>
            </a:r>
          </a:p>
          <a:p>
            <a:endParaRPr lang="aa-ET" sz="800" dirty="0"/>
          </a:p>
        </p:txBody>
      </p:sp>
    </p:spTree>
    <p:extLst>
      <p:ext uri="{BB962C8B-B14F-4D97-AF65-F5344CB8AC3E}">
        <p14:creationId xmlns:p14="http://schemas.microsoft.com/office/powerpoint/2010/main" val="392171472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D4C05-8FA1-F515-79C0-E77BB2053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C5A7A-88B6-2820-B3AE-290D2B012222}"/>
              </a:ext>
            </a:extLst>
          </p:cNvPr>
          <p:cNvSpPr>
            <a:spLocks noGrp="1"/>
          </p:cNvSpPr>
          <p:nvPr>
            <p:ph type="title"/>
          </p:nvPr>
        </p:nvSpPr>
        <p:spPr/>
        <p:txBody>
          <a:bodyPr/>
          <a:lstStyle/>
          <a:p>
            <a:r>
              <a:rPr lang="en-GB" altLang="en-US" dirty="0">
                <a:solidFill>
                  <a:srgbClr val="FFFF00"/>
                </a:solidFill>
              </a:rPr>
              <a:t>Objectives</a:t>
            </a:r>
            <a:endParaRPr lang="aa-ET" dirty="0">
              <a:solidFill>
                <a:srgbClr val="FFFF00"/>
              </a:solidFill>
            </a:endParaRPr>
          </a:p>
        </p:txBody>
      </p:sp>
      <p:sp>
        <p:nvSpPr>
          <p:cNvPr id="3" name="Content Placeholder 2">
            <a:extLst>
              <a:ext uri="{FF2B5EF4-FFF2-40B4-BE49-F238E27FC236}">
                <a16:creationId xmlns:a16="http://schemas.microsoft.com/office/drawing/2014/main" id="{B21E619E-FA61-DF91-9D9E-6DC170FDA0D5}"/>
              </a:ext>
            </a:extLst>
          </p:cNvPr>
          <p:cNvSpPr>
            <a:spLocks noGrp="1"/>
          </p:cNvSpPr>
          <p:nvPr>
            <p:ph idx="1"/>
          </p:nvPr>
        </p:nvSpPr>
        <p:spPr>
          <a:xfrm>
            <a:off x="838199" y="1485900"/>
            <a:ext cx="10906125" cy="4691063"/>
          </a:xfrm>
        </p:spPr>
        <p:txBody>
          <a:bodyPr>
            <a:normAutofit fontScale="92500" lnSpcReduction="20000"/>
          </a:bodyPr>
          <a:lstStyle/>
          <a:p>
            <a:pPr marL="0" indent="0">
              <a:lnSpc>
                <a:spcPct val="150000"/>
              </a:lnSpc>
              <a:buNone/>
            </a:pPr>
            <a:r>
              <a:rPr lang="en-GB" altLang="en-US" sz="2200" dirty="0"/>
              <a:t>By the end of the class student will understand the following</a:t>
            </a:r>
          </a:p>
          <a:p>
            <a:pPr marL="0" marR="0">
              <a:lnSpc>
                <a:spcPct val="150000"/>
              </a:lnSpc>
              <a:spcBef>
                <a:spcPts val="0"/>
              </a:spcBef>
              <a:spcAft>
                <a:spcPts val="0"/>
              </a:spcAft>
              <a:tabLst>
                <a:tab pos="1600200" algn="l"/>
              </a:tabLst>
            </a:pPr>
            <a:r>
              <a:rPr lang="en-US" sz="2200" dirty="0">
                <a:effectLst/>
                <a:latin typeface="Tahoma" panose="020B0604030504040204" pitchFamily="34" charset="0"/>
                <a:ea typeface="Times New Roman" panose="02020603050405020304" pitchFamily="18" charset="0"/>
              </a:rPr>
              <a:t>Meaning of Requirements and elicitation techniques (interviews, surveys, observation, etc.)</a:t>
            </a:r>
            <a:endParaRPr lang="en-US" sz="2200" dirty="0">
              <a:latin typeface="Times New Roman" panose="02020603050405020304" pitchFamily="18" charset="0"/>
              <a:ea typeface="Times New Roman" panose="02020603050405020304" pitchFamily="18" charset="0"/>
            </a:endParaRPr>
          </a:p>
          <a:p>
            <a:pPr marL="0" marR="0">
              <a:lnSpc>
                <a:spcPct val="150000"/>
              </a:lnSpc>
              <a:spcBef>
                <a:spcPts val="0"/>
              </a:spcBef>
              <a:spcAft>
                <a:spcPts val="0"/>
              </a:spcAft>
              <a:tabLst>
                <a:tab pos="1600200" algn="l"/>
              </a:tabLst>
            </a:pPr>
            <a:r>
              <a:rPr lang="en-US" sz="2200" dirty="0">
                <a:effectLst/>
                <a:latin typeface="Tahoma" panose="020B0604030504040204" pitchFamily="34" charset="0"/>
                <a:ea typeface="Times New Roman" panose="02020603050405020304" pitchFamily="18" charset="0"/>
              </a:rPr>
              <a:t>Requirements analysis and documentation</a:t>
            </a:r>
            <a:endParaRPr lang="en-US" sz="2200" dirty="0">
              <a:effectLst/>
              <a:latin typeface="Times New Roman" panose="02020603050405020304" pitchFamily="18" charset="0"/>
              <a:ea typeface="Times New Roman" panose="02020603050405020304" pitchFamily="18" charset="0"/>
            </a:endParaRPr>
          </a:p>
          <a:p>
            <a:pPr marL="0" marR="0">
              <a:lnSpc>
                <a:spcPct val="150000"/>
              </a:lnSpc>
              <a:spcBef>
                <a:spcPts val="0"/>
              </a:spcBef>
              <a:spcAft>
                <a:spcPts val="0"/>
              </a:spcAft>
              <a:tabLst>
                <a:tab pos="57150" algn="l"/>
              </a:tabLst>
            </a:pPr>
            <a:r>
              <a:rPr lang="en-US" sz="2200" dirty="0">
                <a:effectLst/>
                <a:latin typeface="Tahoma" panose="020B0604030504040204" pitchFamily="34" charset="0"/>
                <a:ea typeface="Times New Roman" panose="02020603050405020304" pitchFamily="18" charset="0"/>
              </a:rPr>
              <a:t>Developing Requirements</a:t>
            </a:r>
            <a:endParaRPr lang="en-US" sz="2200" dirty="0">
              <a:effectLst/>
              <a:latin typeface="Times New Roman" panose="02020603050405020304" pitchFamily="18" charset="0"/>
              <a:ea typeface="Times New Roman" panose="02020603050405020304" pitchFamily="18" charset="0"/>
            </a:endParaRPr>
          </a:p>
          <a:p>
            <a:pPr marL="0" marR="0">
              <a:lnSpc>
                <a:spcPct val="150000"/>
              </a:lnSpc>
              <a:spcBef>
                <a:spcPts val="0"/>
              </a:spcBef>
              <a:spcAft>
                <a:spcPts val="0"/>
              </a:spcAft>
              <a:tabLst>
                <a:tab pos="1600200" algn="l"/>
              </a:tabLst>
            </a:pPr>
            <a:r>
              <a:rPr lang="en-US" sz="2200" dirty="0">
                <a:effectLst/>
                <a:latin typeface="Tahoma" panose="020B0604030504040204" pitchFamily="34" charset="0"/>
                <a:ea typeface="Times New Roman" panose="02020603050405020304" pitchFamily="18" charset="0"/>
              </a:rPr>
              <a:t>Types of Requirements</a:t>
            </a:r>
            <a:endParaRPr lang="en-US" sz="2200" dirty="0">
              <a:effectLst/>
              <a:latin typeface="Times New Roman" panose="02020603050405020304" pitchFamily="18" charset="0"/>
              <a:ea typeface="Times New Roman" panose="02020603050405020304" pitchFamily="18" charset="0"/>
            </a:endParaRPr>
          </a:p>
          <a:p>
            <a:pPr marL="0" marR="0">
              <a:lnSpc>
                <a:spcPct val="150000"/>
              </a:lnSpc>
              <a:spcBef>
                <a:spcPts val="0"/>
              </a:spcBef>
              <a:spcAft>
                <a:spcPts val="0"/>
              </a:spcAft>
              <a:tabLst>
                <a:tab pos="1600200" algn="l"/>
              </a:tabLst>
            </a:pPr>
            <a:r>
              <a:rPr lang="en-US" sz="2200" dirty="0">
                <a:effectLst/>
                <a:latin typeface="Tahoma" panose="020B0604030504040204" pitchFamily="34" charset="0"/>
                <a:ea typeface="Times New Roman" panose="02020603050405020304" pitchFamily="18" charset="0"/>
              </a:rPr>
              <a:t>Some techniques for gathering Requirements</a:t>
            </a:r>
            <a:endParaRPr lang="en-US" sz="2200" dirty="0">
              <a:effectLst/>
              <a:latin typeface="Times New Roman" panose="02020603050405020304" pitchFamily="18" charset="0"/>
              <a:ea typeface="Times New Roman" panose="02020603050405020304" pitchFamily="18" charset="0"/>
            </a:endParaRPr>
          </a:p>
          <a:p>
            <a:pPr marL="0" marR="0">
              <a:lnSpc>
                <a:spcPct val="150000"/>
              </a:lnSpc>
              <a:spcBef>
                <a:spcPts val="0"/>
              </a:spcBef>
              <a:spcAft>
                <a:spcPts val="0"/>
              </a:spcAft>
              <a:tabLst>
                <a:tab pos="1600200" algn="l"/>
              </a:tabLst>
            </a:pPr>
            <a:r>
              <a:rPr lang="en-US" sz="2200" dirty="0">
                <a:effectLst/>
                <a:latin typeface="Tahoma" panose="020B0604030504040204" pitchFamily="34" charset="0"/>
                <a:ea typeface="Times New Roman" panose="02020603050405020304" pitchFamily="18" charset="0"/>
              </a:rPr>
              <a:t>Difficulties and Risks in domain and Requirements analysis</a:t>
            </a:r>
            <a:endParaRPr lang="en-US" sz="2200" dirty="0">
              <a:effectLst/>
              <a:latin typeface="Times New Roman" panose="02020603050405020304" pitchFamily="18" charset="0"/>
              <a:ea typeface="Times New Roman" panose="02020603050405020304" pitchFamily="18" charset="0"/>
            </a:endParaRPr>
          </a:p>
          <a:p>
            <a:pPr marL="0" marR="0">
              <a:lnSpc>
                <a:spcPct val="150000"/>
              </a:lnSpc>
              <a:spcBef>
                <a:spcPts val="0"/>
              </a:spcBef>
              <a:spcAft>
                <a:spcPts val="0"/>
              </a:spcAft>
              <a:tabLst>
                <a:tab pos="1600200" algn="l"/>
              </a:tabLst>
            </a:pPr>
            <a:r>
              <a:rPr lang="en-US" sz="2200" dirty="0">
                <a:effectLst/>
                <a:latin typeface="Tahoma" panose="020B0604030504040204" pitchFamily="34" charset="0"/>
                <a:ea typeface="Times New Roman" panose="02020603050405020304" pitchFamily="18" charset="0"/>
              </a:rPr>
              <a:t>Managing and prioritizing requirements</a:t>
            </a:r>
            <a:endParaRPr lang="en-US" sz="2200" dirty="0">
              <a:effectLst/>
              <a:latin typeface="Times New Roman" panose="02020603050405020304" pitchFamily="18" charset="0"/>
              <a:ea typeface="Times New Roman" panose="02020603050405020304" pitchFamily="18" charset="0"/>
            </a:endParaRPr>
          </a:p>
          <a:p>
            <a:pPr marL="0" marR="0">
              <a:lnSpc>
                <a:spcPct val="150000"/>
              </a:lnSpc>
              <a:spcBef>
                <a:spcPts val="0"/>
              </a:spcBef>
              <a:spcAft>
                <a:spcPts val="0"/>
              </a:spcAft>
              <a:tabLst>
                <a:tab pos="1600200" algn="l"/>
              </a:tabLst>
            </a:pPr>
            <a:r>
              <a:rPr lang="en-US" sz="2200" dirty="0">
                <a:effectLst/>
                <a:latin typeface="Tahoma" panose="020B0604030504040204" pitchFamily="34" charset="0"/>
                <a:ea typeface="Times New Roman" panose="02020603050405020304" pitchFamily="18" charset="0"/>
              </a:rPr>
              <a:t>Requirements validation and verification</a:t>
            </a:r>
            <a:endParaRPr lang="en-US" sz="2200" dirty="0">
              <a:effectLst/>
              <a:latin typeface="Times New Roman" panose="02020603050405020304" pitchFamily="18" charset="0"/>
              <a:ea typeface="Times New Roman" panose="02020603050405020304" pitchFamily="18" charset="0"/>
            </a:endParaRPr>
          </a:p>
          <a:p>
            <a:pPr marL="0" marR="0">
              <a:lnSpc>
                <a:spcPct val="150000"/>
              </a:lnSpc>
              <a:spcBef>
                <a:spcPts val="0"/>
              </a:spcBef>
              <a:spcAft>
                <a:spcPts val="0"/>
              </a:spcAft>
              <a:tabLst>
                <a:tab pos="1600200" algn="l"/>
              </a:tabLst>
            </a:pPr>
            <a:r>
              <a:rPr lang="en-US" sz="2200" dirty="0">
                <a:effectLst/>
                <a:latin typeface="Tahoma" panose="020B0604030504040204" pitchFamily="34" charset="0"/>
                <a:ea typeface="Times New Roman" panose="02020603050405020304" pitchFamily="18" charset="0"/>
              </a:rPr>
              <a:t>Choosing and provision of requirements for a sample of a project and use Figma to demonstrate</a:t>
            </a:r>
            <a:endParaRPr lang="en-US" sz="2200" dirty="0">
              <a:effectLst/>
              <a:latin typeface="Times New Roman" panose="02020603050405020304" pitchFamily="18" charset="0"/>
              <a:ea typeface="Times New Roman" panose="02020603050405020304" pitchFamily="18" charset="0"/>
            </a:endParaRPr>
          </a:p>
          <a:p>
            <a:pPr>
              <a:lnSpc>
                <a:spcPct val="150000"/>
              </a:lnSpc>
            </a:pPr>
            <a:endParaRPr lang="en-GB" altLang="en-US" sz="3200" dirty="0"/>
          </a:p>
          <a:p>
            <a:pPr marL="0" indent="0">
              <a:buNone/>
            </a:pPr>
            <a:endParaRPr lang="aa-ET" dirty="0">
              <a:latin typeface="Tahoma" panose="020B0604030504040204" pitchFamily="34" charset="0"/>
              <a:ea typeface="Tahoma" panose="020B0604030504040204" pitchFamily="34" charset="0"/>
              <a:cs typeface="Tahoma" panose="020B0604030504040204" pitchFamily="34" charset="0"/>
            </a:endParaRPr>
          </a:p>
          <a:p>
            <a:pPr marL="514350" indent="-514350">
              <a:buFont typeface="+mj-lt"/>
              <a:buAutoNum type="arabicPeriod"/>
            </a:pPr>
            <a:endParaRPr lang="aa-ET" dirty="0"/>
          </a:p>
          <a:p>
            <a:pPr marL="514350" indent="-514350">
              <a:buFont typeface="+mj-lt"/>
              <a:buAutoNum type="arabicPeriod"/>
            </a:pPr>
            <a:endParaRPr lang="aa-ET" dirty="0">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a:extLst>
              <a:ext uri="{FF2B5EF4-FFF2-40B4-BE49-F238E27FC236}">
                <a16:creationId xmlns:a16="http://schemas.microsoft.com/office/drawing/2014/main" id="{65708CEC-629E-8A5B-5C7D-3B2FF481269B}"/>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72990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lstStyle/>
          <a:p>
            <a:r>
              <a:rPr lang="en-GB" dirty="0">
                <a:solidFill>
                  <a:srgbClr val="FFFF00"/>
                </a:solidFill>
              </a:rPr>
              <a:t>Meaning of Requirement</a:t>
            </a:r>
            <a:endParaRPr lang="aa-ET" dirty="0">
              <a:solidFill>
                <a:srgbClr val="FFFF00"/>
              </a:solidFill>
            </a:endParaRPr>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p:txBody>
          <a:bodyPr>
            <a:normAutofit lnSpcReduction="10000"/>
          </a:bodyPr>
          <a:lstStyle/>
          <a:p>
            <a:pPr marL="0" indent="0">
              <a:buFontTx/>
              <a:buNone/>
              <a:defRPr/>
            </a:pPr>
            <a:r>
              <a:rPr lang="en-US" dirty="0"/>
              <a:t>In the context of software development or project management, a requirement refers to a description of a capability, feature, or condition that a system or product must fulfill to achieve its objectives or satisfy stakeholders. Requirements serve as the foundation for designing, building, and testing a solution.</a:t>
            </a:r>
            <a:endParaRPr lang="en-GB" b="0" i="0" dirty="0">
              <a:effectLst/>
            </a:endParaRPr>
          </a:p>
          <a:p>
            <a:pPr marL="0" indent="0">
              <a:buNone/>
            </a:pPr>
            <a:r>
              <a:rPr lang="en-US" sz="3200" dirty="0"/>
              <a:t>Requirements are typically gathered, analyzed, documented, validated, and verified throughout the project lifecycle to ensure that the final solution meets stakeholder needs and expectations. They serve as the basis for making design decisions, prioritizing tasks, and evaluating the success of the project.</a:t>
            </a:r>
            <a:endParaRPr lang="aa-ET" sz="3200"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229592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FF00"/>
                </a:solidFill>
              </a:rPr>
              <a:t>Requirements can be categorized into different types:</a:t>
            </a:r>
          </a:p>
        </p:txBody>
      </p:sp>
      <p:sp>
        <p:nvSpPr>
          <p:cNvPr id="3" name="Content Placeholder 2"/>
          <p:cNvSpPr>
            <a:spLocks noGrp="1"/>
          </p:cNvSpPr>
          <p:nvPr>
            <p:ph idx="1"/>
          </p:nvPr>
        </p:nvSpPr>
        <p:spPr/>
        <p:txBody>
          <a:bodyPr>
            <a:normAutofit/>
          </a:bodyPr>
          <a:lstStyle/>
          <a:p>
            <a:pPr marL="0" indent="0">
              <a:buNone/>
            </a:pPr>
            <a:r>
              <a:rPr lang="en-US" altLang="en-US" dirty="0">
                <a:solidFill>
                  <a:srgbClr val="FFFF00"/>
                </a:solidFill>
              </a:rPr>
              <a:t>1. Functional Requirements</a:t>
            </a:r>
            <a:r>
              <a:rPr lang="en-US" altLang="en-US" dirty="0"/>
              <a:t>: Describes what the system should do or the specific functions it should perform. For example, "Users should be able to browse restaurant menus, add items to their cart, and place orders.“</a:t>
            </a:r>
          </a:p>
          <a:p>
            <a:pPr marL="0" indent="0">
              <a:buNone/>
            </a:pPr>
            <a:r>
              <a:rPr lang="en-US" dirty="0">
                <a:solidFill>
                  <a:srgbClr val="FFFF00"/>
                </a:solidFill>
              </a:rPr>
              <a:t>2. Non-Functional Requirements: </a:t>
            </a:r>
            <a:r>
              <a:rPr lang="en-US" dirty="0"/>
              <a:t>Describes how the system should behave or the quality attributes it should possess. This includes aspects such as performance, reliability, security, usability, and scalability. For example, "The system should process orders within 30 seconds," or "The platform should be accessible to users with disabilities."</a:t>
            </a:r>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222177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Cont..</a:t>
            </a:r>
          </a:p>
        </p:txBody>
      </p:sp>
      <p:sp>
        <p:nvSpPr>
          <p:cNvPr id="3" name="Content Placeholder 2"/>
          <p:cNvSpPr>
            <a:spLocks noGrp="1"/>
          </p:cNvSpPr>
          <p:nvPr>
            <p:ph idx="1"/>
          </p:nvPr>
        </p:nvSpPr>
        <p:spPr>
          <a:xfrm>
            <a:off x="838200" y="1825625"/>
            <a:ext cx="11006138" cy="4351338"/>
          </a:xfrm>
        </p:spPr>
        <p:txBody>
          <a:bodyPr>
            <a:normAutofit/>
          </a:bodyPr>
          <a:lstStyle/>
          <a:p>
            <a:pPr marL="0" indent="0">
              <a:buNone/>
            </a:pPr>
            <a:r>
              <a:rPr lang="en-US" altLang="en-US" dirty="0">
                <a:solidFill>
                  <a:srgbClr val="FFFF00"/>
                </a:solidFill>
              </a:rPr>
              <a:t>3. Business Requirements: </a:t>
            </a:r>
            <a:r>
              <a:rPr lang="en-US" altLang="en-US" dirty="0"/>
              <a:t>Describes high-level business objectives or goals that the solution aims to achieve. For example, "Increase customer satisfaction by providing a seamless ordering experience," or "Reduce delivery times to improve customer retention."</a:t>
            </a:r>
          </a:p>
          <a:p>
            <a:pPr marL="0" indent="0">
              <a:buNone/>
            </a:pPr>
            <a:r>
              <a:rPr lang="en-US" altLang="en-US" dirty="0">
                <a:solidFill>
                  <a:srgbClr val="FFFF00"/>
                </a:solidFill>
              </a:rPr>
              <a:t>4. User Requirements: </a:t>
            </a:r>
            <a:r>
              <a:rPr lang="en-US" altLang="en-US" dirty="0"/>
              <a:t>Describes the needs, expectations, and preferences of the system's end users. User requirements focus on the user experience and how users interact with the system. For example, "Users should be able to track the status of their orders in real-time," or "The platform should support multiple payment options."</a:t>
            </a:r>
            <a:endParaRPr lang="en-US"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2959313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FF00"/>
                </a:solidFill>
              </a:rPr>
              <a:t>Requirements Elicitation Techniques:</a:t>
            </a:r>
          </a:p>
        </p:txBody>
      </p:sp>
      <p:sp>
        <p:nvSpPr>
          <p:cNvPr id="3" name="Content Placeholder 2"/>
          <p:cNvSpPr>
            <a:spLocks noGrp="1"/>
          </p:cNvSpPr>
          <p:nvPr>
            <p:ph idx="1"/>
          </p:nvPr>
        </p:nvSpPr>
        <p:spPr>
          <a:xfrm>
            <a:off x="838199" y="1825625"/>
            <a:ext cx="10748963" cy="4351338"/>
          </a:xfrm>
        </p:spPr>
        <p:txBody>
          <a:bodyPr>
            <a:normAutofit lnSpcReduction="10000"/>
          </a:bodyPr>
          <a:lstStyle/>
          <a:p>
            <a:pPr marL="0" indent="0">
              <a:buNone/>
            </a:pPr>
            <a:r>
              <a:rPr lang="en-US" dirty="0">
                <a:solidFill>
                  <a:srgbClr val="FFFF00"/>
                </a:solidFill>
              </a:rPr>
              <a:t>Interviews: </a:t>
            </a:r>
            <a:r>
              <a:rPr lang="en-US" dirty="0"/>
              <a:t>One-on-one discussions with stakeholders to gather information about their needs and expectations.</a:t>
            </a:r>
          </a:p>
          <a:p>
            <a:pPr marL="0" indent="0">
              <a:buNone/>
            </a:pPr>
            <a:r>
              <a:rPr lang="en-US" dirty="0">
                <a:solidFill>
                  <a:srgbClr val="FFFF00"/>
                </a:solidFill>
              </a:rPr>
              <a:t>Surveys: </a:t>
            </a:r>
            <a:r>
              <a:rPr lang="en-US" dirty="0"/>
              <a:t>Distributing questionnaires to a large group of stakeholders to collect feedback and opinions.</a:t>
            </a:r>
          </a:p>
          <a:p>
            <a:pPr marL="0" indent="0">
              <a:buNone/>
            </a:pPr>
            <a:r>
              <a:rPr lang="en-US" dirty="0">
                <a:solidFill>
                  <a:srgbClr val="FFFF00"/>
                </a:solidFill>
              </a:rPr>
              <a:t>Observation: </a:t>
            </a:r>
            <a:r>
              <a:rPr lang="en-US" dirty="0"/>
              <a:t>Directly observing users or stakeholders in their environment to understand their behaviors and requirements.</a:t>
            </a:r>
          </a:p>
          <a:p>
            <a:pPr marL="0" indent="0">
              <a:buNone/>
            </a:pPr>
            <a:r>
              <a:rPr lang="en-US" dirty="0">
                <a:solidFill>
                  <a:srgbClr val="FFFF00"/>
                </a:solidFill>
              </a:rPr>
              <a:t>Workshops: </a:t>
            </a:r>
            <a:r>
              <a:rPr lang="en-US" dirty="0"/>
              <a:t>Collaborative sessions with stakeholders to brainstorm ideas, clarify requirements, and reach consensus.</a:t>
            </a:r>
          </a:p>
          <a:p>
            <a:pPr marL="0" indent="0">
              <a:buNone/>
            </a:pPr>
            <a:r>
              <a:rPr lang="en-US" dirty="0">
                <a:solidFill>
                  <a:srgbClr val="FFFF00"/>
                </a:solidFill>
              </a:rPr>
              <a:t>Prototyping: </a:t>
            </a:r>
            <a:r>
              <a:rPr lang="en-US" dirty="0"/>
              <a:t>Creating mockups or prototypes to gather feedback and refine requirements.</a:t>
            </a:r>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157874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dirty="0">
                <a:solidFill>
                  <a:srgbClr val="FFFF00"/>
                </a:solidFill>
              </a:rPr>
              <a:t>Requirements Analysis and Documentation:</a:t>
            </a:r>
            <a:endParaRPr lang="en-US" dirty="0">
              <a:solidFill>
                <a:srgbClr val="FFFF00"/>
              </a:solidFill>
            </a:endParaRPr>
          </a:p>
        </p:txBody>
      </p:sp>
      <p:sp>
        <p:nvSpPr>
          <p:cNvPr id="3" name="Content Placeholder 2"/>
          <p:cNvSpPr>
            <a:spLocks noGrp="1"/>
          </p:cNvSpPr>
          <p:nvPr>
            <p:ph idx="1"/>
          </p:nvPr>
        </p:nvSpPr>
        <p:spPr>
          <a:xfrm>
            <a:off x="838199" y="1825625"/>
            <a:ext cx="11020425" cy="4351338"/>
          </a:xfrm>
        </p:spPr>
        <p:txBody>
          <a:bodyPr>
            <a:normAutofit lnSpcReduction="10000"/>
          </a:bodyPr>
          <a:lstStyle/>
          <a:p>
            <a:pPr marL="0" indent="0">
              <a:buNone/>
            </a:pPr>
            <a:r>
              <a:rPr lang="en-US" altLang="en-US" dirty="0"/>
              <a:t>Requirement Analysis: Analyzing collected requirements to understand their significance, feasibility, and impact on the project.</a:t>
            </a:r>
          </a:p>
          <a:p>
            <a:pPr marL="0" indent="0">
              <a:buNone/>
            </a:pPr>
            <a:r>
              <a:rPr lang="en-US" altLang="en-US" dirty="0"/>
              <a:t>Documentation: Recording requirements in a structured format such as a requirements document, use cases, user stories, or a requirements traceability matrix.</a:t>
            </a:r>
          </a:p>
          <a:p>
            <a:pPr marL="0" indent="0">
              <a:buNone/>
            </a:pPr>
            <a:r>
              <a:rPr lang="en-US" altLang="en-US" dirty="0"/>
              <a:t>Developing Requirements:</a:t>
            </a:r>
          </a:p>
          <a:p>
            <a:pPr marL="0" indent="0">
              <a:buNone/>
            </a:pPr>
            <a:r>
              <a:rPr lang="en-US" altLang="en-US" dirty="0"/>
              <a:t>Requirement Prioritization: Ranking requirements based on their importance and impact on project objectives.</a:t>
            </a:r>
          </a:p>
          <a:p>
            <a:pPr marL="0" indent="0">
              <a:buNone/>
            </a:pPr>
            <a:r>
              <a:rPr lang="en-US" altLang="en-US" dirty="0"/>
              <a:t>Requirement Refinement: Clarifying ambiguous requirements and resolving conflicts between different stakeholder needs.</a:t>
            </a:r>
            <a:endParaRPr lang="en-US"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227943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dirty="0">
                <a:solidFill>
                  <a:srgbClr val="FFFF00"/>
                </a:solidFill>
              </a:rPr>
              <a:t>Techniques for Gathering Requirements:</a:t>
            </a:r>
            <a:endParaRPr lang="en-US" dirty="0">
              <a:solidFill>
                <a:srgbClr val="FFFF00"/>
              </a:solidFill>
            </a:endParaRPr>
          </a:p>
        </p:txBody>
      </p:sp>
      <p:sp>
        <p:nvSpPr>
          <p:cNvPr id="3" name="Content Placeholder 2"/>
          <p:cNvSpPr>
            <a:spLocks noGrp="1"/>
          </p:cNvSpPr>
          <p:nvPr>
            <p:ph idx="1"/>
          </p:nvPr>
        </p:nvSpPr>
        <p:spPr/>
        <p:txBody>
          <a:bodyPr>
            <a:normAutofit/>
          </a:bodyPr>
          <a:lstStyle/>
          <a:p>
            <a:pPr>
              <a:lnSpc>
                <a:spcPct val="170000"/>
              </a:lnSpc>
              <a:buNone/>
            </a:pPr>
            <a:r>
              <a:rPr lang="en-US" altLang="en-US" sz="2000" dirty="0">
                <a:solidFill>
                  <a:srgbClr val="FFFF00"/>
                </a:solidFill>
              </a:rPr>
              <a:t>Brainstorming:</a:t>
            </a:r>
            <a:r>
              <a:rPr lang="en-US" altLang="en-US" sz="2000" dirty="0"/>
              <a:t> Generating ideas and requirements through group discussions.</a:t>
            </a:r>
          </a:p>
          <a:p>
            <a:pPr>
              <a:lnSpc>
                <a:spcPct val="170000"/>
              </a:lnSpc>
              <a:buNone/>
            </a:pPr>
            <a:r>
              <a:rPr lang="en-US" altLang="en-US" sz="2000" dirty="0">
                <a:solidFill>
                  <a:srgbClr val="FFFF00"/>
                </a:solidFill>
              </a:rPr>
              <a:t>Use Case Analysis: </a:t>
            </a:r>
            <a:r>
              <a:rPr lang="en-US" altLang="en-US" sz="2000" dirty="0"/>
              <a:t>Identifying interactions between system components and stakeholders.</a:t>
            </a:r>
          </a:p>
          <a:p>
            <a:pPr>
              <a:lnSpc>
                <a:spcPct val="170000"/>
              </a:lnSpc>
              <a:buNone/>
            </a:pPr>
            <a:r>
              <a:rPr lang="en-US" altLang="en-US" sz="2000" dirty="0">
                <a:solidFill>
                  <a:srgbClr val="FFFF00"/>
                </a:solidFill>
              </a:rPr>
              <a:t>Context Diagrams: </a:t>
            </a:r>
            <a:r>
              <a:rPr lang="en-US" altLang="en-US" sz="2000" dirty="0"/>
              <a:t>Visualizing the system and its interactions with external entities.</a:t>
            </a:r>
            <a:endParaRPr lang="en-US" sz="1600"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945147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solidFill>
                  <a:srgbClr val="FFFF00"/>
                </a:solidFill>
              </a:rPr>
              <a:t>Difficulties and Risks in Domain and Requirements Analysis:</a:t>
            </a:r>
            <a:endParaRPr lang="en-US" dirty="0">
              <a:solidFill>
                <a:srgbClr val="FFFF00"/>
              </a:solidFill>
            </a:endParaRPr>
          </a:p>
        </p:txBody>
      </p:sp>
      <p:sp>
        <p:nvSpPr>
          <p:cNvPr id="3" name="Content Placeholder 2"/>
          <p:cNvSpPr>
            <a:spLocks noGrp="1"/>
          </p:cNvSpPr>
          <p:nvPr>
            <p:ph idx="1"/>
          </p:nvPr>
        </p:nvSpPr>
        <p:spPr/>
        <p:txBody>
          <a:bodyPr>
            <a:normAutofit/>
          </a:bodyPr>
          <a:lstStyle/>
          <a:p>
            <a:pPr>
              <a:defRPr/>
            </a:pPr>
            <a:r>
              <a:rPr lang="en-US" dirty="0"/>
              <a:t>Ambiguity: Unclear or conflicting requirements.</a:t>
            </a:r>
          </a:p>
          <a:p>
            <a:pPr>
              <a:defRPr/>
            </a:pPr>
            <a:r>
              <a:rPr lang="en-US" dirty="0"/>
              <a:t>Scope Creep: Continuous expansion of project scope.</a:t>
            </a:r>
          </a:p>
          <a:p>
            <a:pPr>
              <a:defRPr/>
            </a:pPr>
            <a:r>
              <a:rPr lang="en-US" dirty="0"/>
              <a:t>Stakeholder Miscommunication: Misunderstanding or misinterpretation of requirements.</a:t>
            </a:r>
          </a:p>
          <a:p>
            <a:pPr>
              <a:defRPr/>
            </a:pPr>
            <a:r>
              <a:rPr lang="en-US" dirty="0"/>
              <a:t>Changing Requirements: Requirements evolving throughout the project lifecycle.</a:t>
            </a:r>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3057835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normAutofit fontScale="90000"/>
          </a:bodyPr>
          <a:lstStyle/>
          <a:p>
            <a:pPr eaLnBrk="1" hangingPunct="1"/>
            <a:r>
              <a:rPr lang="en-GB" altLang="en-US" dirty="0">
                <a:solidFill>
                  <a:srgbClr val="FFFF00"/>
                </a:solidFill>
              </a:rPr>
              <a:t>Managing and Prioritizing Requirements:</a:t>
            </a:r>
          </a:p>
        </p:txBody>
      </p:sp>
      <p:sp>
        <p:nvSpPr>
          <p:cNvPr id="2" name="Content Placeholder 1">
            <a:extLst>
              <a:ext uri="{FF2B5EF4-FFF2-40B4-BE49-F238E27FC236}">
                <a16:creationId xmlns:a16="http://schemas.microsoft.com/office/drawing/2014/main" id="{A876C912-379F-8704-6648-7E55BFC8AFE4}"/>
              </a:ext>
            </a:extLst>
          </p:cNvPr>
          <p:cNvSpPr>
            <a:spLocks noGrp="1"/>
          </p:cNvSpPr>
          <p:nvPr>
            <p:ph idx="1"/>
          </p:nvPr>
        </p:nvSpPr>
        <p:spPr>
          <a:xfrm>
            <a:off x="838200" y="1825625"/>
            <a:ext cx="10777538" cy="4351338"/>
          </a:xfrm>
        </p:spPr>
        <p:txBody>
          <a:bodyPr>
            <a:normAutofit/>
          </a:bodyPr>
          <a:lstStyle/>
          <a:p>
            <a:pPr marL="0" indent="0">
              <a:buNone/>
            </a:pPr>
            <a:r>
              <a:rPr lang="en-US" dirty="0">
                <a:solidFill>
                  <a:srgbClr val="FFFF00"/>
                </a:solidFill>
              </a:rPr>
              <a:t>Requirements Traceability: </a:t>
            </a:r>
            <a:r>
              <a:rPr lang="en-US" dirty="0"/>
              <a:t>Tracking requirements from inception to implementation.</a:t>
            </a:r>
          </a:p>
          <a:p>
            <a:pPr marL="0" indent="0">
              <a:buNone/>
            </a:pPr>
            <a:r>
              <a:rPr lang="en-US" dirty="0">
                <a:solidFill>
                  <a:srgbClr val="FFFF00"/>
                </a:solidFill>
              </a:rPr>
              <a:t>Prioritization Techniques: </a:t>
            </a:r>
            <a:r>
              <a:rPr lang="en-US" dirty="0" err="1"/>
              <a:t>MoSCoW</a:t>
            </a:r>
            <a:r>
              <a:rPr lang="en-US" dirty="0"/>
              <a:t> (Must have, Should have, Could have, Won't have), Kano Model, Value vs. Complexity matrix.</a:t>
            </a:r>
          </a:p>
          <a:p>
            <a:pPr marL="0" indent="0">
              <a:buNone/>
            </a:pPr>
            <a:r>
              <a:rPr lang="en-US" dirty="0">
                <a:solidFill>
                  <a:srgbClr val="FFFF00"/>
                </a:solidFill>
              </a:rPr>
              <a:t>Requirements Validation and Verification:</a:t>
            </a:r>
          </a:p>
          <a:p>
            <a:pPr marL="0" indent="0">
              <a:buNone/>
            </a:pPr>
            <a:r>
              <a:rPr lang="en-US" dirty="0">
                <a:solidFill>
                  <a:srgbClr val="FFFF00"/>
                </a:solidFill>
              </a:rPr>
              <a:t>Validation: </a:t>
            </a:r>
            <a:r>
              <a:rPr lang="en-US" dirty="0"/>
              <a:t>Ensuring that the requirements meet stakeholder needs and expectations.</a:t>
            </a:r>
          </a:p>
          <a:p>
            <a:pPr marL="0" indent="0">
              <a:buNone/>
            </a:pPr>
            <a:r>
              <a:rPr lang="en-US" dirty="0">
                <a:solidFill>
                  <a:srgbClr val="FFFF00"/>
                </a:solidFill>
              </a:rPr>
              <a:t>Verification: </a:t>
            </a:r>
            <a:r>
              <a:rPr lang="en-US" dirty="0"/>
              <a:t>Ensuring that the implemented solution meets the specified requirements.</a:t>
            </a:r>
          </a:p>
        </p:txBody>
      </p:sp>
      <p:sp>
        <p:nvSpPr>
          <p:cNvPr id="14338" name="Footer Placeholder 4"/>
          <p:cNvSpPr>
            <a:spLocks noGrp="1"/>
          </p:cNvSpPr>
          <p:nvPr>
            <p:ph type="ftr" sz="quarter" idx="3"/>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14339" name="Slide Number Placeholder 5"/>
          <p:cNvSpPr>
            <a:spLocks noGrp="1"/>
          </p:cNvSpPr>
          <p:nvPr>
            <p:ph type="sldNum" sz="quarter" idx="4294967295"/>
          </p:nvPr>
        </p:nvSpPr>
        <p:spPr>
          <a:xfrm>
            <a:off x="102870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C0555588-D3CE-4ED1-B5D1-D2503DD7CC4D}" type="slidenum">
              <a:rPr lang="en-GB" altLang="en-US" sz="1000">
                <a:solidFill>
                  <a:srgbClr val="FFFF00"/>
                </a:solidFill>
                <a:latin typeface="Arial" panose="020B0604020202020204" pitchFamily="34" charset="0"/>
              </a:rPr>
              <a:pPr>
                <a:spcBef>
                  <a:spcPct val="0"/>
                </a:spcBef>
                <a:buClrTx/>
                <a:buFontTx/>
                <a:buNone/>
              </a:pPr>
              <a:t>10</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2544772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15363"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39EA7CA7-2C35-46C3-B1A7-003749F8D113}" type="slidenum">
              <a:rPr lang="en-GB" altLang="en-US" sz="1000">
                <a:solidFill>
                  <a:srgbClr val="FFFF00"/>
                </a:solidFill>
                <a:latin typeface="Arial" panose="020B0604020202020204" pitchFamily="34" charset="0"/>
              </a:rPr>
              <a:pPr>
                <a:spcBef>
                  <a:spcPct val="0"/>
                </a:spcBef>
                <a:buClrTx/>
                <a:buFontTx/>
                <a:buNone/>
              </a:pPr>
              <a:t>11</a:t>
            </a:fld>
            <a:endParaRPr lang="en-GB" altLang="en-US" sz="1000">
              <a:solidFill>
                <a:srgbClr val="FFFF00"/>
              </a:solidFill>
              <a:latin typeface="Arial" panose="020B0604020202020204" pitchFamily="34" charset="0"/>
            </a:endParaRPr>
          </a:p>
        </p:txBody>
      </p:sp>
      <p:sp>
        <p:nvSpPr>
          <p:cNvPr id="15364" name="Rectangle 2"/>
          <p:cNvSpPr>
            <a:spLocks noGrp="1" noChangeArrowheads="1"/>
          </p:cNvSpPr>
          <p:nvPr>
            <p:ph type="title"/>
          </p:nvPr>
        </p:nvSpPr>
        <p:spPr/>
        <p:txBody>
          <a:bodyPr>
            <a:noAutofit/>
          </a:bodyPr>
          <a:lstStyle/>
          <a:p>
            <a:pPr eaLnBrk="1" hangingPunct="1"/>
            <a:r>
              <a:rPr lang="en-US" altLang="en-US" sz="2800" dirty="0">
                <a:solidFill>
                  <a:srgbClr val="FFFF00"/>
                </a:solidFill>
              </a:rPr>
              <a:t>Choosing and Provision of Requirements for a Sample Project and Use Figma to Demonstrate:</a:t>
            </a:r>
            <a:endParaRPr lang="en-GB" altLang="en-US" sz="2800" dirty="0">
              <a:solidFill>
                <a:srgbClr val="FFFF00"/>
              </a:solidFill>
            </a:endParaRPr>
          </a:p>
        </p:txBody>
      </p:sp>
      <p:sp>
        <p:nvSpPr>
          <p:cNvPr id="15365" name="Rectangle 3"/>
          <p:cNvSpPr>
            <a:spLocks noGrp="1" noChangeArrowheads="1"/>
          </p:cNvSpPr>
          <p:nvPr>
            <p:ph type="body" idx="1"/>
          </p:nvPr>
        </p:nvSpPr>
        <p:spPr/>
        <p:txBody>
          <a:bodyPr>
            <a:normAutofit/>
          </a:bodyPr>
          <a:lstStyle/>
          <a:p>
            <a:pPr eaLnBrk="1" hangingPunct="1"/>
            <a:r>
              <a:rPr lang="en-US" altLang="en-US" dirty="0"/>
              <a:t>Choose a sample project (e.g., a simple website, a mobile app).</a:t>
            </a:r>
          </a:p>
          <a:p>
            <a:pPr eaLnBrk="1" hangingPunct="1"/>
            <a:r>
              <a:rPr lang="en-US" altLang="en-US" dirty="0"/>
              <a:t>Identify and prioritize requirements for the project.</a:t>
            </a:r>
          </a:p>
          <a:p>
            <a:pPr eaLnBrk="1" hangingPunct="1"/>
            <a:r>
              <a:rPr lang="en-US" altLang="en-US" dirty="0"/>
              <a:t>Use Figma or any other prototyping tool to create wireframes or mockups demonstrating how the requirements will be implemented in the final product.</a:t>
            </a:r>
            <a:endParaRPr lang="en-GB" altLang="en-US" dirty="0"/>
          </a:p>
        </p:txBody>
      </p:sp>
    </p:spTree>
    <p:extLst>
      <p:ext uri="{BB962C8B-B14F-4D97-AF65-F5344CB8AC3E}">
        <p14:creationId xmlns:p14="http://schemas.microsoft.com/office/powerpoint/2010/main" val="3837550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fontScale="90000"/>
          </a:bodyPr>
          <a:lstStyle/>
          <a:p>
            <a:r>
              <a:rPr lang="en-US" altLang="en-US" dirty="0">
                <a:solidFill>
                  <a:srgbClr val="FFFF00"/>
                </a:solidFill>
              </a:rPr>
              <a:t>Project: Online Food Delivery Platform</a:t>
            </a:r>
          </a:p>
        </p:txBody>
      </p:sp>
      <p:sp>
        <p:nvSpPr>
          <p:cNvPr id="3" name="Content Placeholder 2"/>
          <p:cNvSpPr>
            <a:spLocks noGrp="1"/>
          </p:cNvSpPr>
          <p:nvPr>
            <p:ph idx="1"/>
          </p:nvPr>
        </p:nvSpPr>
        <p:spPr>
          <a:xfrm>
            <a:off x="838200" y="1825625"/>
            <a:ext cx="10777538" cy="4351338"/>
          </a:xfrm>
        </p:spPr>
        <p:txBody>
          <a:bodyPr>
            <a:normAutofit/>
          </a:bodyPr>
          <a:lstStyle/>
          <a:p>
            <a:pPr marL="0" indent="0">
              <a:buNone/>
              <a:defRPr/>
            </a:pPr>
            <a:r>
              <a:rPr lang="en-US" sz="2400" dirty="0"/>
              <a:t>Project Overview: The project aims to develop an online food delivery platform to connect users with restaurants and facilitate food orders and deliveries. The platform will allow users to browse menus, place orders, make payments, and track deliveries.</a:t>
            </a:r>
          </a:p>
          <a:p>
            <a:pPr marL="0" indent="0">
              <a:buNone/>
              <a:defRPr/>
            </a:pPr>
            <a:r>
              <a:rPr lang="en-US" sz="2400" dirty="0"/>
              <a:t>       Requirement Gathering Process:</a:t>
            </a:r>
          </a:p>
          <a:p>
            <a:pPr>
              <a:buFont typeface="Wingdings" panose="05000000000000000000" pitchFamily="2" charset="2"/>
              <a:buChar char="Ø"/>
              <a:defRPr/>
            </a:pPr>
            <a:r>
              <a:rPr lang="en-US" sz="2400" dirty="0"/>
              <a:t>Identify Stakeholders:</a:t>
            </a:r>
          </a:p>
          <a:p>
            <a:pPr marL="0" indent="0">
              <a:buNone/>
              <a:defRPr/>
            </a:pPr>
            <a:r>
              <a:rPr lang="en-US" sz="2400" dirty="0"/>
              <a:t>Users (customers)</a:t>
            </a:r>
          </a:p>
          <a:p>
            <a:pPr marL="0" indent="0">
              <a:buNone/>
              <a:defRPr/>
            </a:pPr>
            <a:r>
              <a:rPr lang="en-US" sz="2400" dirty="0"/>
              <a:t>Restaurants and food vendors</a:t>
            </a:r>
          </a:p>
          <a:p>
            <a:pPr marL="0" indent="0">
              <a:buNone/>
              <a:defRPr/>
            </a:pPr>
            <a:r>
              <a:rPr lang="en-US" sz="2400" dirty="0"/>
              <a:t>Delivery drivers</a:t>
            </a:r>
          </a:p>
          <a:p>
            <a:pPr marL="0" indent="0">
              <a:buNone/>
              <a:defRPr/>
            </a:pPr>
            <a:r>
              <a:rPr lang="en-US" sz="2400" dirty="0"/>
              <a:t>Administrators (platform managers)</a:t>
            </a:r>
            <a:endParaRPr lang="en-US" sz="3200" dirty="0"/>
          </a:p>
        </p:txBody>
      </p:sp>
      <p:sp>
        <p:nvSpPr>
          <p:cNvPr id="16388"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16389"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D6646643-6D04-40DB-A7FB-068FC46F212A}" type="slidenum">
              <a:rPr lang="en-GB" altLang="en-US" sz="1000">
                <a:solidFill>
                  <a:srgbClr val="FFFF00"/>
                </a:solidFill>
                <a:latin typeface="Arial" panose="020B0604020202020204" pitchFamily="34" charset="0"/>
              </a:rPr>
              <a:pPr/>
              <a:t>12</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2572388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dirty="0">
                <a:solidFill>
                  <a:srgbClr val="FFFF00"/>
                </a:solidFill>
              </a:rPr>
              <a:t>Continue…</a:t>
            </a:r>
          </a:p>
        </p:txBody>
      </p:sp>
      <p:sp>
        <p:nvSpPr>
          <p:cNvPr id="17411" name="Content Placeholder 2"/>
          <p:cNvSpPr>
            <a:spLocks noGrp="1"/>
          </p:cNvSpPr>
          <p:nvPr>
            <p:ph idx="1"/>
          </p:nvPr>
        </p:nvSpPr>
        <p:spPr/>
        <p:txBody>
          <a:bodyPr>
            <a:normAutofit/>
          </a:bodyPr>
          <a:lstStyle/>
          <a:p>
            <a:pPr>
              <a:buFont typeface="Wingdings" panose="05000000000000000000" pitchFamily="2" charset="2"/>
              <a:buChar char="ü"/>
            </a:pPr>
            <a:r>
              <a:rPr lang="en-US" altLang="en-US" dirty="0"/>
              <a:t>Select Requirement Gathering Techniques:</a:t>
            </a:r>
          </a:p>
          <a:p>
            <a:r>
              <a:rPr lang="en-US" altLang="en-US" dirty="0"/>
              <a:t>Interviews with potential users to understand their preferences, needs, and pain points.</a:t>
            </a:r>
          </a:p>
          <a:p>
            <a:r>
              <a:rPr lang="en-US" altLang="en-US" dirty="0"/>
              <a:t>Surveys distributed to users to gather feedback on their expectations from an online food delivery platform.</a:t>
            </a:r>
          </a:p>
          <a:p>
            <a:r>
              <a:rPr lang="en-US" altLang="en-US" dirty="0"/>
              <a:t>Observations of users interacting with existing food delivery apps to identify common features and usability issues.</a:t>
            </a:r>
          </a:p>
          <a:p>
            <a:r>
              <a:rPr lang="en-US" altLang="en-US" dirty="0"/>
              <a:t>Workshops with restaurant owners and delivery drivers to gather insights into their requirements and constraints.</a:t>
            </a:r>
          </a:p>
        </p:txBody>
      </p:sp>
      <p:sp>
        <p:nvSpPr>
          <p:cNvPr id="17412"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17413"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323B3091-F109-49E3-B416-3CD5BC90536E}" type="slidenum">
              <a:rPr lang="en-GB" altLang="en-US" sz="1000">
                <a:solidFill>
                  <a:srgbClr val="FFFF00"/>
                </a:solidFill>
                <a:latin typeface="Arial" panose="020B0604020202020204" pitchFamily="34" charset="0"/>
              </a:rPr>
              <a:pPr/>
              <a:t>13</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2296797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dirty="0">
                <a:solidFill>
                  <a:srgbClr val="FFFF00"/>
                </a:solidFill>
              </a:rPr>
              <a:t>Continue…</a:t>
            </a:r>
          </a:p>
        </p:txBody>
      </p:sp>
      <p:sp>
        <p:nvSpPr>
          <p:cNvPr id="3" name="Content Placeholder 2"/>
          <p:cNvSpPr>
            <a:spLocks noGrp="1"/>
          </p:cNvSpPr>
          <p:nvPr>
            <p:ph idx="1"/>
          </p:nvPr>
        </p:nvSpPr>
        <p:spPr>
          <a:xfrm>
            <a:off x="838199" y="1825625"/>
            <a:ext cx="10963275" cy="4351338"/>
          </a:xfrm>
        </p:spPr>
        <p:txBody>
          <a:bodyPr>
            <a:normAutofit fontScale="92500"/>
          </a:bodyPr>
          <a:lstStyle/>
          <a:p>
            <a:pPr>
              <a:buFont typeface="Wingdings" panose="05000000000000000000" pitchFamily="2" charset="2"/>
              <a:buChar char="ü"/>
              <a:defRPr/>
            </a:pPr>
            <a:r>
              <a:rPr lang="en-US" dirty="0"/>
              <a:t>Conduct Requirement Gathering Activities:</a:t>
            </a:r>
          </a:p>
          <a:p>
            <a:pPr>
              <a:defRPr/>
            </a:pPr>
            <a:r>
              <a:rPr lang="en-US" dirty="0"/>
              <a:t>Interview a sample of potential users to understand their preferences regarding food choices, delivery time, payment methods, etc.</a:t>
            </a:r>
          </a:p>
          <a:p>
            <a:pPr>
              <a:defRPr/>
            </a:pPr>
            <a:r>
              <a:rPr lang="en-US" dirty="0"/>
              <a:t>Distribute surveys to a wider audience to collect quantitative data on user preferences and habits.</a:t>
            </a:r>
          </a:p>
          <a:p>
            <a:pPr>
              <a:defRPr/>
            </a:pPr>
            <a:r>
              <a:rPr lang="en-US" dirty="0"/>
              <a:t>Observe users ordering food from existing platforms to identify usability issues and pain points.</a:t>
            </a:r>
          </a:p>
          <a:p>
            <a:pPr>
              <a:defRPr/>
            </a:pPr>
            <a:r>
              <a:rPr lang="en-US" dirty="0"/>
              <a:t>Organize workshops with restaurant owners and delivery drivers to discuss their requirements regarding order management, delivery logistics, and payment processing.</a:t>
            </a:r>
          </a:p>
        </p:txBody>
      </p:sp>
      <p:sp>
        <p:nvSpPr>
          <p:cNvPr id="18436"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18437"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D71D24D3-A12B-4377-99B7-AF8389AA9C85}" type="slidenum">
              <a:rPr lang="en-GB" altLang="en-US" sz="1000">
                <a:solidFill>
                  <a:srgbClr val="FFFF00"/>
                </a:solidFill>
                <a:latin typeface="Arial" panose="020B0604020202020204" pitchFamily="34" charset="0"/>
              </a:rPr>
              <a:pPr/>
              <a:t>14</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3133863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en-GB" altLang="en-US" dirty="0" err="1">
                <a:solidFill>
                  <a:srgbClr val="FFFF00"/>
                </a:solidFill>
              </a:rPr>
              <a:t>cont</a:t>
            </a:r>
            <a:r>
              <a:rPr lang="en-GB" altLang="en-US" dirty="0">
                <a:solidFill>
                  <a:srgbClr val="FFFF00"/>
                </a:solidFill>
              </a:rPr>
              <a:t>…</a:t>
            </a:r>
          </a:p>
        </p:txBody>
      </p:sp>
      <p:sp>
        <p:nvSpPr>
          <p:cNvPr id="2" name="Content Placeholder 1">
            <a:extLst>
              <a:ext uri="{FF2B5EF4-FFF2-40B4-BE49-F238E27FC236}">
                <a16:creationId xmlns:a16="http://schemas.microsoft.com/office/drawing/2014/main" id="{5DFDB43E-3A7C-E0A0-7CFB-6487B71A6B1C}"/>
              </a:ext>
            </a:extLst>
          </p:cNvPr>
          <p:cNvSpPr>
            <a:spLocks noGrp="1"/>
          </p:cNvSpPr>
          <p:nvPr>
            <p:ph idx="1"/>
          </p:nvPr>
        </p:nvSpPr>
        <p:spPr/>
        <p:txBody>
          <a:bodyPr/>
          <a:lstStyle/>
          <a:p>
            <a:pPr>
              <a:buFont typeface="Wingdings" panose="05000000000000000000" pitchFamily="2" charset="2"/>
              <a:buChar char="ü"/>
            </a:pPr>
            <a:r>
              <a:rPr lang="en-US" dirty="0"/>
              <a:t>Analyze and Document Requirements:</a:t>
            </a:r>
          </a:p>
          <a:p>
            <a:pPr marL="0" indent="0">
              <a:buNone/>
            </a:pPr>
            <a:r>
              <a:rPr lang="en-US" dirty="0"/>
              <a:t>Analyze the gathered data to identify common themes and prioritize requirements based on user needs and business objectives.</a:t>
            </a:r>
          </a:p>
          <a:p>
            <a:pPr marL="0" indent="0">
              <a:buNone/>
            </a:pPr>
            <a:r>
              <a:rPr lang="en-US" dirty="0"/>
              <a:t>Document requirements in a structured format such as user stories, use cases, or a requirements traceability matrix.</a:t>
            </a:r>
          </a:p>
          <a:p>
            <a:pPr marL="0" indent="0">
              <a:buNone/>
            </a:pPr>
            <a:r>
              <a:rPr lang="en-US" dirty="0"/>
              <a:t>Ensure that requirements are clear, concise, and unambiguous to facilitate communication with the development team.</a:t>
            </a:r>
          </a:p>
        </p:txBody>
      </p:sp>
      <p:sp>
        <p:nvSpPr>
          <p:cNvPr id="19458" name="Footer Placeholder 4"/>
          <p:cNvSpPr>
            <a:spLocks noGrp="1"/>
          </p:cNvSpPr>
          <p:nvPr>
            <p:ph type="ftr" sz="quarter" idx="3"/>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19459" name="Slide Number Placeholder 5"/>
          <p:cNvSpPr>
            <a:spLocks noGrp="1"/>
          </p:cNvSpPr>
          <p:nvPr>
            <p:ph type="sldNum" sz="quarter" idx="4294967295"/>
          </p:nvPr>
        </p:nvSpPr>
        <p:spPr>
          <a:xfrm>
            <a:off x="102870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E77BD47C-618A-4665-A0DC-CBFACD34FCF2}" type="slidenum">
              <a:rPr lang="en-GB" altLang="en-US" sz="1000">
                <a:solidFill>
                  <a:srgbClr val="FFFF00"/>
                </a:solidFill>
                <a:latin typeface="Arial" panose="020B0604020202020204" pitchFamily="34" charset="0"/>
              </a:rPr>
              <a:pPr>
                <a:spcBef>
                  <a:spcPct val="0"/>
                </a:spcBef>
                <a:buClrTx/>
                <a:buFontTx/>
                <a:buNone/>
              </a:pPr>
              <a:t>15</a:t>
            </a:fld>
            <a:endParaRPr lang="en-GB" altLang="en-US" sz="1000">
              <a:solidFill>
                <a:srgbClr val="FFFF00"/>
              </a:solidFill>
              <a:latin typeface="Arial" panose="020B0604020202020204" pitchFamily="34" charset="0"/>
            </a:endParaRPr>
          </a:p>
        </p:txBody>
      </p:sp>
      <p:sp>
        <p:nvSpPr>
          <p:cNvPr id="19467" name="Line 13"/>
          <p:cNvSpPr>
            <a:spLocks noChangeShapeType="1"/>
          </p:cNvSpPr>
          <p:nvPr/>
        </p:nvSpPr>
        <p:spPr bwMode="auto">
          <a:xfrm flipH="1" flipV="1">
            <a:off x="5232401" y="4076701"/>
            <a:ext cx="142875" cy="288925"/>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9468" name="Line 14"/>
          <p:cNvSpPr>
            <a:spLocks noChangeShapeType="1"/>
          </p:cNvSpPr>
          <p:nvPr/>
        </p:nvSpPr>
        <p:spPr bwMode="auto">
          <a:xfrm flipV="1">
            <a:off x="3575050" y="4292600"/>
            <a:ext cx="0" cy="431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1176317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0483"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D6EEFF49-2354-497E-A713-E154AEDD115B}" type="slidenum">
              <a:rPr lang="en-GB" altLang="en-US" sz="1000">
                <a:solidFill>
                  <a:srgbClr val="FFFF00"/>
                </a:solidFill>
                <a:latin typeface="Arial" panose="020B0604020202020204" pitchFamily="34" charset="0"/>
              </a:rPr>
              <a:pPr>
                <a:spcBef>
                  <a:spcPct val="0"/>
                </a:spcBef>
                <a:buClrTx/>
                <a:buFontTx/>
                <a:buNone/>
              </a:pPr>
              <a:t>16</a:t>
            </a:fld>
            <a:endParaRPr lang="en-GB" altLang="en-US" sz="1000">
              <a:solidFill>
                <a:srgbClr val="FFFF00"/>
              </a:solidFill>
              <a:latin typeface="Arial" panose="020B0604020202020204" pitchFamily="34" charset="0"/>
            </a:endParaRPr>
          </a:p>
        </p:txBody>
      </p:sp>
      <p:sp>
        <p:nvSpPr>
          <p:cNvPr id="20484" name="Rectangle 2"/>
          <p:cNvSpPr>
            <a:spLocks noGrp="1" noChangeArrowheads="1"/>
          </p:cNvSpPr>
          <p:nvPr>
            <p:ph type="title"/>
          </p:nvPr>
        </p:nvSpPr>
        <p:spPr/>
        <p:txBody>
          <a:bodyPr/>
          <a:lstStyle/>
          <a:p>
            <a:pPr eaLnBrk="1" hangingPunct="1"/>
            <a:r>
              <a:rPr lang="en-GB" altLang="en-US" sz="3200" dirty="0">
                <a:solidFill>
                  <a:srgbClr val="FFFF00"/>
                </a:solidFill>
              </a:rPr>
              <a:t>Continue…</a:t>
            </a:r>
          </a:p>
        </p:txBody>
      </p:sp>
      <p:sp>
        <p:nvSpPr>
          <p:cNvPr id="20485" name="Rectangle 3"/>
          <p:cNvSpPr>
            <a:spLocks noGrp="1" noChangeArrowheads="1"/>
          </p:cNvSpPr>
          <p:nvPr>
            <p:ph type="body" idx="1"/>
          </p:nvPr>
        </p:nvSpPr>
        <p:spPr>
          <a:xfrm>
            <a:off x="838199" y="1825624"/>
            <a:ext cx="11020425" cy="4575175"/>
          </a:xfrm>
        </p:spPr>
        <p:txBody>
          <a:bodyPr>
            <a:normAutofit fontScale="85000" lnSpcReduction="20000"/>
          </a:bodyPr>
          <a:lstStyle/>
          <a:p>
            <a:pPr eaLnBrk="1" hangingPunct="1">
              <a:buFont typeface="Wingdings" panose="05000000000000000000" pitchFamily="2" charset="2"/>
              <a:buChar char="ü"/>
            </a:pPr>
            <a:r>
              <a:rPr lang="en-US" altLang="en-US" dirty="0"/>
              <a:t>Validate and Verify Requirements:</a:t>
            </a:r>
          </a:p>
          <a:p>
            <a:pPr eaLnBrk="1" hangingPunct="1"/>
            <a:r>
              <a:rPr lang="en-US" altLang="en-US" dirty="0"/>
              <a:t>Validate requirements by reviewing them with stakeholders to ensure they accurately reflect their needs and expectations.</a:t>
            </a:r>
          </a:p>
          <a:p>
            <a:pPr eaLnBrk="1" hangingPunct="1"/>
            <a:r>
              <a:rPr lang="en-US" altLang="en-US" dirty="0"/>
              <a:t>Verify requirements by assessing whether the proposed solution meets the specified criteria and objectives.</a:t>
            </a:r>
          </a:p>
          <a:p>
            <a:pPr eaLnBrk="1" hangingPunct="1"/>
            <a:r>
              <a:rPr lang="en-US" altLang="en-US" dirty="0"/>
              <a:t>Use techniques such as prototyping and user testing to gather feedback on the proposed solution and iterate on the requirements as needed.</a:t>
            </a:r>
          </a:p>
          <a:p>
            <a:pPr eaLnBrk="1" hangingPunct="1">
              <a:buFont typeface="Wingdings" panose="05000000000000000000" pitchFamily="2" charset="2"/>
              <a:buChar char="ü"/>
            </a:pPr>
            <a:r>
              <a:rPr lang="en-US" altLang="en-US" dirty="0"/>
              <a:t>Manage and Prioritize Requirements:</a:t>
            </a:r>
          </a:p>
          <a:p>
            <a:pPr eaLnBrk="1" hangingPunct="1"/>
            <a:r>
              <a:rPr lang="en-US" altLang="en-US" dirty="0"/>
              <a:t>Establish a process for managing and prioritizing requirements throughout the project lifecycle.</a:t>
            </a:r>
          </a:p>
          <a:p>
            <a:pPr eaLnBrk="1" hangingPunct="1"/>
            <a:r>
              <a:rPr lang="en-US" altLang="en-US" dirty="0"/>
              <a:t>Use techniques such as </a:t>
            </a:r>
            <a:r>
              <a:rPr lang="en-US" altLang="en-US" dirty="0" err="1"/>
              <a:t>MoSCoW</a:t>
            </a:r>
            <a:r>
              <a:rPr lang="en-US" altLang="en-US" dirty="0"/>
              <a:t> prioritization to categorize requirements into must-have, should-have, could-have, and won't-have categories.</a:t>
            </a:r>
          </a:p>
          <a:p>
            <a:pPr eaLnBrk="1" hangingPunct="1"/>
            <a:r>
              <a:rPr lang="en-US" altLang="en-US" dirty="0"/>
              <a:t>Continuously review and update requirements based on changing stakeholder needs and project constraints.</a:t>
            </a:r>
            <a:endParaRPr lang="en-GB" altLang="en-US" dirty="0"/>
          </a:p>
        </p:txBody>
      </p:sp>
    </p:spTree>
    <p:extLst>
      <p:ext uri="{BB962C8B-B14F-4D97-AF65-F5344CB8AC3E}">
        <p14:creationId xmlns:p14="http://schemas.microsoft.com/office/powerpoint/2010/main" val="3361226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normAutofit fontScale="90000"/>
          </a:bodyPr>
          <a:lstStyle/>
          <a:p>
            <a:r>
              <a:rPr lang="en-US" altLang="en-US" dirty="0">
                <a:solidFill>
                  <a:srgbClr val="FFFF00"/>
                </a:solidFill>
              </a:rPr>
              <a:t>Use Figma to Demonstrate Requirements:</a:t>
            </a:r>
          </a:p>
        </p:txBody>
      </p:sp>
      <p:sp>
        <p:nvSpPr>
          <p:cNvPr id="21507" name="Content Placeholder 2"/>
          <p:cNvSpPr>
            <a:spLocks noGrp="1"/>
          </p:cNvSpPr>
          <p:nvPr>
            <p:ph idx="1"/>
          </p:nvPr>
        </p:nvSpPr>
        <p:spPr/>
        <p:txBody>
          <a:bodyPr/>
          <a:lstStyle/>
          <a:p>
            <a:r>
              <a:rPr lang="en-US" altLang="en-US" dirty="0"/>
              <a:t>Use Figma or a similar prototyping tool to create wireframes or mockups demonstrating how the requirements will be implemented in the final product.</a:t>
            </a:r>
          </a:p>
          <a:p>
            <a:r>
              <a:rPr lang="en-US" altLang="en-US" dirty="0"/>
              <a:t>Collaborate with stakeholders to gather feedback on the prototypes and refine the requirements as needed.</a:t>
            </a:r>
          </a:p>
          <a:p>
            <a:r>
              <a:rPr lang="en-US" altLang="en-US" dirty="0"/>
              <a:t>Ensure that the prototypes accurately represent the intended functionality and user experience of the online food delivery platform.</a:t>
            </a:r>
          </a:p>
        </p:txBody>
      </p:sp>
      <p:sp>
        <p:nvSpPr>
          <p:cNvPr id="21508"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1509"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7BDF5C03-547B-44AB-B8E6-600F126956E1}" type="slidenum">
              <a:rPr lang="en-GB" altLang="en-US" sz="1000">
                <a:solidFill>
                  <a:srgbClr val="FFFF00"/>
                </a:solidFill>
                <a:latin typeface="Arial" panose="020B0604020202020204" pitchFamily="34" charset="0"/>
              </a:rPr>
              <a:pPr/>
              <a:t>17</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3623794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a:bodyPr>
          <a:lstStyle/>
          <a:p>
            <a:r>
              <a:rPr lang="en-US" altLang="en-US" dirty="0">
                <a:solidFill>
                  <a:srgbClr val="FFFF00"/>
                </a:solidFill>
              </a:rPr>
              <a:t>Projects: E-Learning Platform: </a:t>
            </a:r>
          </a:p>
        </p:txBody>
      </p:sp>
      <p:sp>
        <p:nvSpPr>
          <p:cNvPr id="22531" name="Content Placeholder 2"/>
          <p:cNvSpPr>
            <a:spLocks noGrp="1"/>
          </p:cNvSpPr>
          <p:nvPr>
            <p:ph idx="1"/>
          </p:nvPr>
        </p:nvSpPr>
        <p:spPr>
          <a:xfrm>
            <a:off x="414339" y="1571624"/>
            <a:ext cx="11601450" cy="4829175"/>
          </a:xfrm>
        </p:spPr>
        <p:txBody>
          <a:bodyPr>
            <a:normAutofit fontScale="77500" lnSpcReduction="20000"/>
          </a:bodyPr>
          <a:lstStyle/>
          <a:p>
            <a:pPr marL="0" indent="0">
              <a:lnSpc>
                <a:spcPct val="170000"/>
              </a:lnSpc>
              <a:buNone/>
            </a:pPr>
            <a:r>
              <a:rPr lang="en-US" altLang="en-US" dirty="0"/>
              <a:t>Develop an e-learning platform for students to access educational resources, participate in online courses, and interact with instructors. Functional requirements should cover course enrollment, content delivery, discussion forums, and assessment tools. Non-functional requirements should address accessibility, reliability, and content security. students should create functional and non-functional requirement documents, as well as use Figma or a similar tool to create prototypes demonstrating the proposed web and mobile interfaces. They should also consider additional documents such as project plans, user personas, user stories, and testing plans to ensure comprehensive project management and execution.</a:t>
            </a:r>
          </a:p>
        </p:txBody>
      </p:sp>
      <p:sp>
        <p:nvSpPr>
          <p:cNvPr id="22532"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2533"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1CA41AC2-F7FE-442C-B07D-EC0E63F80791}" type="slidenum">
              <a:rPr lang="en-GB" altLang="en-US" sz="1000">
                <a:solidFill>
                  <a:srgbClr val="FFFF00"/>
                </a:solidFill>
                <a:latin typeface="Arial" panose="020B0604020202020204" pitchFamily="34" charset="0"/>
              </a:rPr>
              <a:pPr/>
              <a:t>18</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3218092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209800" y="404813"/>
            <a:ext cx="8305800" cy="1143000"/>
          </a:xfrm>
        </p:spPr>
        <p:txBody>
          <a:bodyPr/>
          <a:lstStyle/>
          <a:p>
            <a:r>
              <a:rPr lang="en-US" altLang="en-US" dirty="0"/>
              <a:t>    </a:t>
            </a:r>
            <a:r>
              <a:rPr lang="en-US" altLang="en-US" dirty="0">
                <a:solidFill>
                  <a:srgbClr val="FFFF00"/>
                </a:solidFill>
              </a:rPr>
              <a:t>E-commerce</a:t>
            </a:r>
          </a:p>
        </p:txBody>
      </p:sp>
      <p:sp>
        <p:nvSpPr>
          <p:cNvPr id="3" name="Content Placeholder 2"/>
          <p:cNvSpPr>
            <a:spLocks noGrp="1"/>
          </p:cNvSpPr>
          <p:nvPr>
            <p:ph idx="1"/>
          </p:nvPr>
        </p:nvSpPr>
        <p:spPr>
          <a:xfrm>
            <a:off x="514350" y="1547813"/>
            <a:ext cx="11387138" cy="4710112"/>
          </a:xfrm>
        </p:spPr>
        <p:txBody>
          <a:bodyPr>
            <a:normAutofit lnSpcReduction="10000"/>
          </a:bodyPr>
          <a:lstStyle/>
          <a:p>
            <a:pPr marL="0" indent="0">
              <a:lnSpc>
                <a:spcPct val="120000"/>
              </a:lnSpc>
              <a:buNone/>
              <a:defRPr/>
            </a:pPr>
            <a:r>
              <a:rPr lang="en-US" sz="2000" dirty="0"/>
              <a:t>Design and develop a comprehensive e-commerce platform that allows users to buy and sell products online. The platform should provide a seamless shopping experience for customers while offering robust features for merchants to manage their inventory, orders, and sales.</a:t>
            </a:r>
          </a:p>
          <a:p>
            <a:pPr marL="0" indent="0">
              <a:lnSpc>
                <a:spcPct val="120000"/>
              </a:lnSpc>
              <a:buNone/>
              <a:defRPr/>
            </a:pPr>
            <a:r>
              <a:rPr lang="en-US" sz="2000" dirty="0">
                <a:solidFill>
                  <a:srgbClr val="FFFF00"/>
                </a:solidFill>
              </a:rPr>
              <a:t>Functional Requirements:</a:t>
            </a:r>
          </a:p>
          <a:p>
            <a:pPr marL="0" indent="0">
              <a:lnSpc>
                <a:spcPct val="120000"/>
              </a:lnSpc>
              <a:buNone/>
              <a:defRPr/>
            </a:pPr>
            <a:r>
              <a:rPr lang="en-US" sz="2000" dirty="0"/>
              <a:t>User Authentication and Registration:</a:t>
            </a:r>
          </a:p>
          <a:p>
            <a:pPr marL="0" indent="0">
              <a:lnSpc>
                <a:spcPct val="120000"/>
              </a:lnSpc>
              <a:buNone/>
              <a:defRPr/>
            </a:pPr>
            <a:r>
              <a:rPr lang="en-US" sz="2000" dirty="0"/>
              <a:t>Allow users to register accounts or log in using email, social media accounts, or guest checkout.</a:t>
            </a:r>
          </a:p>
          <a:p>
            <a:pPr marL="0" indent="0">
              <a:lnSpc>
                <a:spcPct val="120000"/>
              </a:lnSpc>
              <a:buNone/>
              <a:defRPr/>
            </a:pPr>
            <a:r>
              <a:rPr lang="en-US" sz="2000" dirty="0"/>
              <a:t>Implement email verification and password reset functionality for account security.</a:t>
            </a:r>
          </a:p>
          <a:p>
            <a:pPr marL="0" indent="0">
              <a:lnSpc>
                <a:spcPct val="120000"/>
              </a:lnSpc>
              <a:buNone/>
              <a:defRPr/>
            </a:pPr>
            <a:r>
              <a:rPr lang="en-US" sz="2000" dirty="0"/>
              <a:t>Product Catalog Management:</a:t>
            </a:r>
          </a:p>
          <a:p>
            <a:pPr marL="0" indent="0">
              <a:lnSpc>
                <a:spcPct val="120000"/>
              </a:lnSpc>
              <a:buNone/>
              <a:defRPr/>
            </a:pPr>
            <a:r>
              <a:rPr lang="en-US" sz="2000" dirty="0"/>
              <a:t>Enable merchants to upload product listings with details such as name, description, price, and images.</a:t>
            </a:r>
          </a:p>
          <a:p>
            <a:pPr marL="0" indent="0">
              <a:lnSpc>
                <a:spcPct val="120000"/>
              </a:lnSpc>
              <a:buNone/>
              <a:defRPr/>
            </a:pPr>
            <a:r>
              <a:rPr lang="en-US" sz="2000" dirty="0"/>
              <a:t>Support categorization and filtering of products for easy navigation and search.</a:t>
            </a:r>
          </a:p>
        </p:txBody>
      </p:sp>
      <p:sp>
        <p:nvSpPr>
          <p:cNvPr id="23556"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3557"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2EB906ED-3FA5-439E-91CA-86057F1ECDF9}" type="slidenum">
              <a:rPr lang="en-GB" altLang="en-US" sz="1000">
                <a:solidFill>
                  <a:srgbClr val="FFFF00"/>
                </a:solidFill>
                <a:latin typeface="Arial" panose="020B0604020202020204" pitchFamily="34" charset="0"/>
              </a:rPr>
              <a:pPr/>
              <a:t>19</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1500165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4579"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94B986D8-F5FF-4B1D-96FA-F77FA75CE531}" type="slidenum">
              <a:rPr lang="en-GB" altLang="en-US" sz="1000">
                <a:solidFill>
                  <a:srgbClr val="FFFF00"/>
                </a:solidFill>
                <a:latin typeface="Arial" panose="020B0604020202020204" pitchFamily="34" charset="0"/>
              </a:rPr>
              <a:pPr>
                <a:spcBef>
                  <a:spcPct val="0"/>
                </a:spcBef>
                <a:buClrTx/>
                <a:buFontTx/>
                <a:buNone/>
              </a:pPr>
              <a:t>20</a:t>
            </a:fld>
            <a:endParaRPr lang="en-GB" altLang="en-US" sz="1000">
              <a:solidFill>
                <a:srgbClr val="FFFF00"/>
              </a:solidFill>
              <a:latin typeface="Arial" panose="020B0604020202020204" pitchFamily="34" charset="0"/>
            </a:endParaRPr>
          </a:p>
        </p:txBody>
      </p:sp>
      <p:sp>
        <p:nvSpPr>
          <p:cNvPr id="24580" name="Rectangle 2"/>
          <p:cNvSpPr>
            <a:spLocks noGrp="1" noChangeArrowheads="1"/>
          </p:cNvSpPr>
          <p:nvPr>
            <p:ph type="title"/>
          </p:nvPr>
        </p:nvSpPr>
        <p:spPr/>
        <p:txBody>
          <a:bodyPr/>
          <a:lstStyle/>
          <a:p>
            <a:pPr eaLnBrk="1" hangingPunct="1"/>
            <a:r>
              <a:rPr lang="en-GB" altLang="en-US" dirty="0">
                <a:solidFill>
                  <a:srgbClr val="FFFF00"/>
                </a:solidFill>
              </a:rPr>
              <a:t>Functional Requirement cont.</a:t>
            </a:r>
          </a:p>
        </p:txBody>
      </p:sp>
      <p:sp>
        <p:nvSpPr>
          <p:cNvPr id="13317" name="Rectangle 3"/>
          <p:cNvSpPr>
            <a:spLocks noGrp="1" noChangeArrowheads="1"/>
          </p:cNvSpPr>
          <p:nvPr>
            <p:ph type="body" idx="1"/>
          </p:nvPr>
        </p:nvSpPr>
        <p:spPr>
          <a:xfrm>
            <a:off x="838199" y="1825625"/>
            <a:ext cx="11034713" cy="4351338"/>
          </a:xfrm>
        </p:spPr>
        <p:txBody>
          <a:bodyPr>
            <a:normAutofit fontScale="92500" lnSpcReduction="20000"/>
          </a:bodyPr>
          <a:lstStyle/>
          <a:p>
            <a:pPr marL="0" indent="0">
              <a:lnSpc>
                <a:spcPct val="110000"/>
              </a:lnSpc>
              <a:buNone/>
              <a:defRPr/>
            </a:pPr>
            <a:r>
              <a:rPr lang="en-US" sz="2000" dirty="0"/>
              <a:t>Shopping Cart and Checkout:</a:t>
            </a:r>
          </a:p>
          <a:p>
            <a:pPr marL="0" indent="0">
              <a:lnSpc>
                <a:spcPct val="110000"/>
              </a:lnSpc>
              <a:buNone/>
              <a:defRPr/>
            </a:pPr>
            <a:r>
              <a:rPr lang="en-US" sz="2000" dirty="0"/>
              <a:t>Allow users to add products to their shopping cart, update quantities, and proceed to checkout.</a:t>
            </a:r>
          </a:p>
          <a:p>
            <a:pPr marL="0" indent="0">
              <a:lnSpc>
                <a:spcPct val="110000"/>
              </a:lnSpc>
              <a:buNone/>
              <a:defRPr/>
            </a:pPr>
            <a:r>
              <a:rPr lang="en-US" sz="2000" dirty="0"/>
              <a:t>Implement a secure checkout process with support for multiple payment gateways (e.g., credit/debit cards, PayPal, Stripe).</a:t>
            </a:r>
          </a:p>
          <a:p>
            <a:pPr marL="0" indent="0">
              <a:lnSpc>
                <a:spcPct val="110000"/>
              </a:lnSpc>
              <a:buNone/>
              <a:defRPr/>
            </a:pPr>
            <a:r>
              <a:rPr lang="en-US" sz="2000" dirty="0"/>
              <a:t>Order Management:</a:t>
            </a:r>
          </a:p>
          <a:p>
            <a:pPr marL="0" indent="0">
              <a:lnSpc>
                <a:spcPct val="110000"/>
              </a:lnSpc>
              <a:buNone/>
              <a:defRPr/>
            </a:pPr>
            <a:r>
              <a:rPr lang="en-US" sz="2000" dirty="0"/>
              <a:t>Provide merchants with tools to view and manage incoming orders, process payments, and generate invoices.</a:t>
            </a:r>
          </a:p>
          <a:p>
            <a:pPr marL="0" indent="0">
              <a:lnSpc>
                <a:spcPct val="110000"/>
              </a:lnSpc>
              <a:buNone/>
              <a:defRPr/>
            </a:pPr>
            <a:r>
              <a:rPr lang="en-US" sz="2000" dirty="0"/>
              <a:t>Allow customers to track the status of their orders and view order history.</a:t>
            </a:r>
          </a:p>
          <a:p>
            <a:pPr marL="0" indent="0">
              <a:lnSpc>
                <a:spcPct val="110000"/>
              </a:lnSpc>
              <a:buNone/>
              <a:defRPr/>
            </a:pPr>
            <a:r>
              <a:rPr lang="en-US" sz="2000" dirty="0"/>
              <a:t>User Reviews and Ratings:</a:t>
            </a:r>
          </a:p>
          <a:p>
            <a:pPr marL="0" indent="0">
              <a:lnSpc>
                <a:spcPct val="110000"/>
              </a:lnSpc>
              <a:buNone/>
              <a:defRPr/>
            </a:pPr>
            <a:r>
              <a:rPr lang="en-US" sz="2000" dirty="0"/>
              <a:t>Enable customers to leave reviews and ratings for products they've purchased.</a:t>
            </a:r>
          </a:p>
          <a:p>
            <a:pPr marL="0" indent="0">
              <a:lnSpc>
                <a:spcPct val="110000"/>
              </a:lnSpc>
              <a:buNone/>
              <a:defRPr/>
            </a:pPr>
            <a:r>
              <a:rPr lang="en-US" sz="2000" dirty="0"/>
              <a:t>Display average ratings and reviews on product pages to help users make informed purchasing decisions.</a:t>
            </a:r>
          </a:p>
        </p:txBody>
      </p:sp>
    </p:spTree>
    <p:extLst>
      <p:ext uri="{BB962C8B-B14F-4D97-AF65-F5344CB8AC3E}">
        <p14:creationId xmlns:p14="http://schemas.microsoft.com/office/powerpoint/2010/main" val="2738395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5603"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D90D2DE0-0A4F-4DF7-9355-4F6D20960C06}" type="slidenum">
              <a:rPr lang="en-GB" altLang="en-US" sz="1000">
                <a:solidFill>
                  <a:srgbClr val="FFFF00"/>
                </a:solidFill>
                <a:latin typeface="Arial" panose="020B0604020202020204" pitchFamily="34" charset="0"/>
              </a:rPr>
              <a:pPr>
                <a:spcBef>
                  <a:spcPct val="0"/>
                </a:spcBef>
                <a:buClrTx/>
                <a:buFontTx/>
                <a:buNone/>
              </a:pPr>
              <a:t>21</a:t>
            </a:fld>
            <a:endParaRPr lang="en-GB" altLang="en-US" sz="1000">
              <a:solidFill>
                <a:srgbClr val="FFFF00"/>
              </a:solidFill>
              <a:latin typeface="Arial" panose="020B0604020202020204" pitchFamily="34" charset="0"/>
            </a:endParaRPr>
          </a:p>
        </p:txBody>
      </p:sp>
      <p:sp>
        <p:nvSpPr>
          <p:cNvPr id="25604" name="Rectangle 2"/>
          <p:cNvSpPr>
            <a:spLocks noGrp="1" noChangeArrowheads="1"/>
          </p:cNvSpPr>
          <p:nvPr>
            <p:ph type="title"/>
          </p:nvPr>
        </p:nvSpPr>
        <p:spPr/>
        <p:txBody>
          <a:bodyPr/>
          <a:lstStyle/>
          <a:p>
            <a:pPr eaLnBrk="1" hangingPunct="1"/>
            <a:r>
              <a:rPr lang="en-GB" altLang="en-US" dirty="0">
                <a:solidFill>
                  <a:srgbClr val="FFFF00"/>
                </a:solidFill>
              </a:rPr>
              <a:t>Continue…</a:t>
            </a:r>
          </a:p>
        </p:txBody>
      </p:sp>
      <p:sp>
        <p:nvSpPr>
          <p:cNvPr id="25605" name="Rectangle 3"/>
          <p:cNvSpPr>
            <a:spLocks noGrp="1" noChangeArrowheads="1"/>
          </p:cNvSpPr>
          <p:nvPr>
            <p:ph type="body" idx="1"/>
          </p:nvPr>
        </p:nvSpPr>
        <p:spPr>
          <a:xfrm>
            <a:off x="414339" y="1825625"/>
            <a:ext cx="11458574" cy="4351338"/>
          </a:xfrm>
        </p:spPr>
        <p:txBody>
          <a:bodyPr>
            <a:normAutofit fontScale="85000" lnSpcReduction="20000"/>
          </a:bodyPr>
          <a:lstStyle/>
          <a:p>
            <a:pPr eaLnBrk="1" hangingPunct="1"/>
            <a:r>
              <a:rPr lang="en-US" altLang="en-US" dirty="0"/>
              <a:t>Inventory Management:</a:t>
            </a:r>
          </a:p>
          <a:p>
            <a:pPr eaLnBrk="1" hangingPunct="1"/>
            <a:r>
              <a:rPr lang="en-US" altLang="en-US" dirty="0"/>
              <a:t>Allow merchants to track inventory levels, update stock quantities, and receive low stock notifications.</a:t>
            </a:r>
          </a:p>
          <a:p>
            <a:pPr eaLnBrk="1" hangingPunct="1"/>
            <a:r>
              <a:rPr lang="en-US" altLang="en-US" dirty="0"/>
              <a:t>Implement features for backordering and pre-ordering items when stock is unavailable.</a:t>
            </a:r>
          </a:p>
          <a:p>
            <a:pPr eaLnBrk="1" hangingPunct="1"/>
            <a:r>
              <a:rPr lang="en-US" altLang="en-US" dirty="0"/>
              <a:t>Shipping and Delivery:</a:t>
            </a:r>
          </a:p>
          <a:p>
            <a:pPr eaLnBrk="1" hangingPunct="1"/>
            <a:r>
              <a:rPr lang="en-US" altLang="en-US" dirty="0"/>
              <a:t>Integrate with shipping carriers to calculate shipping rates based on destination, package weight, and shipping method.</a:t>
            </a:r>
          </a:p>
          <a:p>
            <a:pPr eaLnBrk="1" hangingPunct="1"/>
            <a:r>
              <a:rPr lang="en-US" altLang="en-US" dirty="0"/>
              <a:t>Provide customers with estimated delivery dates and tracking information for their orders.</a:t>
            </a:r>
          </a:p>
          <a:p>
            <a:pPr eaLnBrk="1" hangingPunct="1"/>
            <a:r>
              <a:rPr lang="en-US" altLang="en-US" dirty="0"/>
              <a:t>User Account Dashboard:</a:t>
            </a:r>
          </a:p>
          <a:p>
            <a:pPr eaLnBrk="1" hangingPunct="1"/>
            <a:r>
              <a:rPr lang="en-US" altLang="en-US" dirty="0"/>
              <a:t>Offer users a personalized dashboard where they can view order history, manage account settings, and update shipping addresses.</a:t>
            </a:r>
            <a:endParaRPr lang="en-GB" altLang="en-US" dirty="0"/>
          </a:p>
        </p:txBody>
      </p:sp>
    </p:spTree>
    <p:extLst>
      <p:ext uri="{BB962C8B-B14F-4D97-AF65-F5344CB8AC3E}">
        <p14:creationId xmlns:p14="http://schemas.microsoft.com/office/powerpoint/2010/main" val="1379805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dirty="0">
                <a:solidFill>
                  <a:srgbClr val="FFFF00"/>
                </a:solidFill>
              </a:rPr>
              <a:t>Non-Functional Requirements:</a:t>
            </a:r>
          </a:p>
        </p:txBody>
      </p:sp>
      <p:sp>
        <p:nvSpPr>
          <p:cNvPr id="26627"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altLang="en-US" dirty="0"/>
              <a:t>Performance and Scalability:</a:t>
            </a:r>
          </a:p>
          <a:p>
            <a:pPr>
              <a:buFont typeface="Wingdings" panose="05000000000000000000" pitchFamily="2" charset="2"/>
              <a:buChar char="§"/>
            </a:pPr>
            <a:r>
              <a:rPr lang="en-US" altLang="en-US" dirty="0"/>
              <a:t>Ensure the platform can handle high traffic loads and scale gracefully as the user base grows.</a:t>
            </a:r>
          </a:p>
          <a:p>
            <a:pPr>
              <a:buFont typeface="Wingdings" panose="05000000000000000000" pitchFamily="2" charset="2"/>
              <a:buChar char="§"/>
            </a:pPr>
            <a:r>
              <a:rPr lang="en-US" altLang="en-US" dirty="0"/>
              <a:t>Optimize page load times and minimize latency to provide a smooth browsing and shopping experience.</a:t>
            </a:r>
          </a:p>
          <a:p>
            <a:pPr>
              <a:buFont typeface="Wingdings" panose="05000000000000000000" pitchFamily="2" charset="2"/>
              <a:buChar char="§"/>
            </a:pPr>
            <a:r>
              <a:rPr lang="en-US" altLang="en-US" dirty="0"/>
              <a:t>Security:</a:t>
            </a:r>
          </a:p>
          <a:p>
            <a:pPr>
              <a:buFont typeface="Wingdings" panose="05000000000000000000" pitchFamily="2" charset="2"/>
              <a:buChar char="§"/>
            </a:pPr>
            <a:r>
              <a:rPr lang="en-US" altLang="en-US" dirty="0"/>
              <a:t>Implement encryption and secure protocols to protect user data and payment information.</a:t>
            </a:r>
          </a:p>
          <a:p>
            <a:pPr>
              <a:buFont typeface="Wingdings" panose="05000000000000000000" pitchFamily="2" charset="2"/>
              <a:buChar char="§"/>
            </a:pPr>
            <a:r>
              <a:rPr lang="en-US" altLang="en-US" dirty="0"/>
              <a:t>Regularly audit and patch vulnerabilities to safeguard against security threats and attacks.</a:t>
            </a:r>
          </a:p>
        </p:txBody>
      </p:sp>
      <p:sp>
        <p:nvSpPr>
          <p:cNvPr id="26628"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6629"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C1AB499E-89E4-4BBA-8FF3-E5115736F591}" type="slidenum">
              <a:rPr lang="en-GB" altLang="en-US" sz="1000">
                <a:solidFill>
                  <a:srgbClr val="FFFF00"/>
                </a:solidFill>
                <a:latin typeface="Arial" panose="020B0604020202020204" pitchFamily="34" charset="0"/>
              </a:rPr>
              <a:pPr/>
              <a:t>22</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4245408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dirty="0">
                <a:solidFill>
                  <a:srgbClr val="FFFF00"/>
                </a:solidFill>
              </a:rPr>
              <a:t>Non-Functional Requirements </a:t>
            </a:r>
            <a:r>
              <a:rPr lang="en-US" altLang="en-US" dirty="0" err="1">
                <a:solidFill>
                  <a:srgbClr val="FFFF00"/>
                </a:solidFill>
              </a:rPr>
              <a:t>cont</a:t>
            </a:r>
            <a:r>
              <a:rPr lang="en-US" altLang="en-US" dirty="0">
                <a:solidFill>
                  <a:srgbClr val="FFFF00"/>
                </a:solidFill>
              </a:rPr>
              <a:t>:</a:t>
            </a:r>
          </a:p>
        </p:txBody>
      </p:sp>
      <p:sp>
        <p:nvSpPr>
          <p:cNvPr id="27651" name="Content Placeholder 2"/>
          <p:cNvSpPr>
            <a:spLocks noGrp="1"/>
          </p:cNvSpPr>
          <p:nvPr>
            <p:ph idx="1"/>
          </p:nvPr>
        </p:nvSpPr>
        <p:spPr/>
        <p:txBody>
          <a:bodyPr>
            <a:normAutofit fontScale="92500" lnSpcReduction="10000"/>
          </a:bodyPr>
          <a:lstStyle/>
          <a:p>
            <a:r>
              <a:rPr lang="en-US" altLang="en-US" dirty="0"/>
              <a:t>Usability and Accessibility:</a:t>
            </a:r>
          </a:p>
          <a:p>
            <a:r>
              <a:rPr lang="en-US" altLang="en-US" dirty="0"/>
              <a:t>Design user interfaces that are intuitive, responsive, and accessible to users with disabilities.</a:t>
            </a:r>
          </a:p>
          <a:p>
            <a:r>
              <a:rPr lang="en-US" altLang="en-US" dirty="0"/>
              <a:t>Conduct usability testing with real users to identify and address usability issues.</a:t>
            </a:r>
          </a:p>
          <a:p>
            <a:r>
              <a:rPr lang="en-US" altLang="en-US" dirty="0"/>
              <a:t>Compatibility:</a:t>
            </a:r>
          </a:p>
          <a:p>
            <a:r>
              <a:rPr lang="en-US" altLang="en-US" dirty="0"/>
              <a:t>Ensure cross-browser compatibility to support a wide range of devices and browsers.</a:t>
            </a:r>
          </a:p>
          <a:p>
            <a:r>
              <a:rPr lang="en-US" altLang="en-US" dirty="0"/>
              <a:t>Design responsive layouts that adapt to different screen sizes and resolutions for a consistent experience on desktop and mobile devices.</a:t>
            </a:r>
          </a:p>
        </p:txBody>
      </p:sp>
      <p:sp>
        <p:nvSpPr>
          <p:cNvPr id="27652"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7653"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78373A73-521C-4346-B5F4-97EE47B8C7EA}" type="slidenum">
              <a:rPr lang="en-GB" altLang="en-US" sz="1000">
                <a:solidFill>
                  <a:srgbClr val="FFFF00"/>
                </a:solidFill>
                <a:latin typeface="Arial" panose="020B0604020202020204" pitchFamily="34" charset="0"/>
              </a:rPr>
              <a:pPr/>
              <a:t>23</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4188163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8675"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CFC99522-6D2C-475A-BF8F-3B036633540C}" type="slidenum">
              <a:rPr lang="en-GB" altLang="en-US" sz="1000">
                <a:solidFill>
                  <a:srgbClr val="FFFF00"/>
                </a:solidFill>
                <a:latin typeface="Arial" panose="020B0604020202020204" pitchFamily="34" charset="0"/>
              </a:rPr>
              <a:pPr>
                <a:spcBef>
                  <a:spcPct val="0"/>
                </a:spcBef>
                <a:buClrTx/>
                <a:buFontTx/>
                <a:buNone/>
              </a:pPr>
              <a:t>24</a:t>
            </a:fld>
            <a:endParaRPr lang="en-GB" altLang="en-US" sz="1000">
              <a:solidFill>
                <a:srgbClr val="FFFF00"/>
              </a:solidFill>
              <a:latin typeface="Arial" panose="020B0604020202020204" pitchFamily="34" charset="0"/>
            </a:endParaRPr>
          </a:p>
        </p:txBody>
      </p:sp>
      <p:sp>
        <p:nvSpPr>
          <p:cNvPr id="28676" name="Rectangle 2"/>
          <p:cNvSpPr>
            <a:spLocks noGrp="1" noChangeArrowheads="1"/>
          </p:cNvSpPr>
          <p:nvPr>
            <p:ph type="title"/>
          </p:nvPr>
        </p:nvSpPr>
        <p:spPr/>
        <p:txBody>
          <a:bodyPr>
            <a:normAutofit fontScale="90000"/>
          </a:bodyPr>
          <a:lstStyle/>
          <a:p>
            <a:pPr eaLnBrk="1" hangingPunct="1"/>
            <a:r>
              <a:rPr lang="en-GB" altLang="en-US" dirty="0">
                <a:solidFill>
                  <a:srgbClr val="FFFF00"/>
                </a:solidFill>
              </a:rPr>
              <a:t>Figma Prototype and Documentation:</a:t>
            </a:r>
          </a:p>
        </p:txBody>
      </p:sp>
      <p:sp>
        <p:nvSpPr>
          <p:cNvPr id="28677" name="Rectangle 3"/>
          <p:cNvSpPr>
            <a:spLocks noGrp="1" noChangeArrowheads="1"/>
          </p:cNvSpPr>
          <p:nvPr>
            <p:ph type="body" idx="1"/>
          </p:nvPr>
        </p:nvSpPr>
        <p:spPr>
          <a:xfrm>
            <a:off x="600075" y="1825625"/>
            <a:ext cx="11301413" cy="4351338"/>
          </a:xfrm>
        </p:spPr>
        <p:txBody>
          <a:bodyPr>
            <a:normAutofit/>
          </a:bodyPr>
          <a:lstStyle/>
          <a:p>
            <a:pPr eaLnBrk="1" hangingPunct="1">
              <a:buFontTx/>
              <a:buNone/>
            </a:pPr>
            <a:r>
              <a:rPr lang="en-US" altLang="en-US" sz="3200" dirty="0"/>
              <a:t> Use Figma or a similar prototyping tool to create</a:t>
            </a:r>
          </a:p>
          <a:p>
            <a:pPr eaLnBrk="1" hangingPunct="1">
              <a:buFontTx/>
              <a:buNone/>
            </a:pPr>
            <a:r>
              <a:rPr lang="en-US" altLang="en-US" sz="3200" dirty="0"/>
              <a:t> wireframes and mockups demonstrating the web and mobile interfaces of the e-commerce platform.</a:t>
            </a:r>
          </a:p>
          <a:p>
            <a:pPr eaLnBrk="1" hangingPunct="1">
              <a:buFontTx/>
              <a:buNone/>
            </a:pPr>
            <a:r>
              <a:rPr lang="en-US" altLang="en-US" sz="3200" dirty="0"/>
              <a:t> Provide detailed documentation outlining the project requirements, including functional and non-functional specifications, user stories, use cases, and technical architecture diagrams.</a:t>
            </a:r>
            <a:endParaRPr lang="en-GB" altLang="en-US" sz="3200" dirty="0"/>
          </a:p>
        </p:txBody>
      </p:sp>
    </p:spTree>
    <p:extLst>
      <p:ext uri="{BB962C8B-B14F-4D97-AF65-F5344CB8AC3E}">
        <p14:creationId xmlns:p14="http://schemas.microsoft.com/office/powerpoint/2010/main" val="3388774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9699"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80878D13-A5B8-46DA-BC42-D7626F19D6BE}" type="slidenum">
              <a:rPr lang="en-GB" altLang="en-US" sz="1000">
                <a:solidFill>
                  <a:srgbClr val="FFFF00"/>
                </a:solidFill>
                <a:latin typeface="Arial" panose="020B0604020202020204" pitchFamily="34" charset="0"/>
              </a:rPr>
              <a:pPr>
                <a:spcBef>
                  <a:spcPct val="0"/>
                </a:spcBef>
                <a:buClrTx/>
                <a:buFontTx/>
                <a:buNone/>
              </a:pPr>
              <a:t>25</a:t>
            </a:fld>
            <a:endParaRPr lang="en-GB" altLang="en-US" sz="1000">
              <a:solidFill>
                <a:srgbClr val="FFFF00"/>
              </a:solidFill>
              <a:latin typeface="Arial" panose="020B0604020202020204" pitchFamily="34" charset="0"/>
            </a:endParaRPr>
          </a:p>
        </p:txBody>
      </p:sp>
      <p:sp>
        <p:nvSpPr>
          <p:cNvPr id="29700" name="Rectangle 2"/>
          <p:cNvSpPr>
            <a:spLocks noGrp="1" noChangeArrowheads="1"/>
          </p:cNvSpPr>
          <p:nvPr>
            <p:ph type="title"/>
          </p:nvPr>
        </p:nvSpPr>
        <p:spPr/>
        <p:txBody>
          <a:bodyPr/>
          <a:lstStyle/>
          <a:p>
            <a:pPr eaLnBrk="1" hangingPunct="1"/>
            <a:r>
              <a:rPr lang="en-GB" altLang="en-US" dirty="0">
                <a:solidFill>
                  <a:srgbClr val="FFFF00"/>
                </a:solidFill>
              </a:rPr>
              <a:t>Samples of other projects</a:t>
            </a:r>
          </a:p>
        </p:txBody>
      </p:sp>
      <p:sp>
        <p:nvSpPr>
          <p:cNvPr id="29701" name="Rectangle 3"/>
          <p:cNvSpPr>
            <a:spLocks noGrp="1" noChangeArrowheads="1"/>
          </p:cNvSpPr>
          <p:nvPr>
            <p:ph type="body" idx="1"/>
          </p:nvPr>
        </p:nvSpPr>
        <p:spPr>
          <a:xfrm>
            <a:off x="838200" y="1825625"/>
            <a:ext cx="10877550" cy="4351338"/>
          </a:xfrm>
        </p:spPr>
        <p:txBody>
          <a:bodyPr/>
          <a:lstStyle/>
          <a:p>
            <a:pPr>
              <a:buFont typeface="Wingdings" panose="05000000000000000000" pitchFamily="2" charset="2"/>
              <a:buChar char="Ø"/>
            </a:pPr>
            <a:r>
              <a:rPr lang="en-US" altLang="en-US" sz="2000" dirty="0"/>
              <a:t>Event Planning Website:</a:t>
            </a:r>
          </a:p>
          <a:p>
            <a:pPr marL="457200" indent="-457200">
              <a:lnSpc>
                <a:spcPct val="100000"/>
              </a:lnSpc>
              <a:buNone/>
            </a:pPr>
            <a:r>
              <a:rPr lang="en-US" altLang="en-US" sz="2000" dirty="0"/>
              <a:t>Build a website for event planning and management, allowing users to create and promote</a:t>
            </a:r>
          </a:p>
          <a:p>
            <a:pPr marL="457200" indent="-457200">
              <a:lnSpc>
                <a:spcPct val="100000"/>
              </a:lnSpc>
              <a:buNone/>
            </a:pPr>
            <a:r>
              <a:rPr lang="en-US" altLang="en-US" sz="2000" dirty="0"/>
              <a:t>events, manage RSVPs, and sell tickets. Functional requirements should include event</a:t>
            </a:r>
          </a:p>
          <a:p>
            <a:pPr marL="457200" indent="-457200">
              <a:lnSpc>
                <a:spcPct val="100000"/>
              </a:lnSpc>
              <a:buNone/>
            </a:pPr>
            <a:r>
              <a:rPr lang="en-US" altLang="en-US" sz="2000" dirty="0"/>
              <a:t>creation, ticketing, attendee management, and event analytics. Non-functional</a:t>
            </a:r>
          </a:p>
          <a:p>
            <a:pPr marL="457200" indent="-457200">
              <a:lnSpc>
                <a:spcPct val="100000"/>
              </a:lnSpc>
              <a:buNone/>
            </a:pPr>
            <a:r>
              <a:rPr lang="en-US" altLang="en-US" sz="2000" dirty="0"/>
              <a:t>requirements should focus on performance, security, and mobile responsiveness. Students</a:t>
            </a:r>
          </a:p>
          <a:p>
            <a:pPr marL="457200" indent="-457200">
              <a:lnSpc>
                <a:spcPct val="100000"/>
              </a:lnSpc>
              <a:buNone/>
            </a:pPr>
            <a:r>
              <a:rPr lang="en-US" altLang="en-US" sz="2000" dirty="0"/>
              <a:t>should create functional and non-functional requirement documents, as well as use Figma</a:t>
            </a:r>
          </a:p>
          <a:p>
            <a:pPr marL="457200" indent="-457200">
              <a:lnSpc>
                <a:spcPct val="100000"/>
              </a:lnSpc>
              <a:buNone/>
            </a:pPr>
            <a:r>
              <a:rPr lang="en-US" altLang="en-US" sz="2000" dirty="0"/>
              <a:t>or a similar tool to create prototypes demonstrating the proposed web and mobile</a:t>
            </a:r>
          </a:p>
          <a:p>
            <a:pPr marL="457200" indent="-457200">
              <a:lnSpc>
                <a:spcPct val="100000"/>
              </a:lnSpc>
              <a:buNone/>
            </a:pPr>
            <a:r>
              <a:rPr lang="en-US" altLang="en-US" sz="2000" dirty="0"/>
              <a:t>interfaces. They should also consider additional documents such as project plans, user</a:t>
            </a:r>
          </a:p>
          <a:p>
            <a:pPr marL="457200" indent="-457200">
              <a:lnSpc>
                <a:spcPct val="100000"/>
              </a:lnSpc>
              <a:buNone/>
            </a:pPr>
            <a:r>
              <a:rPr lang="en-US" altLang="en-US" sz="2000" dirty="0"/>
              <a:t>personas, user stories, and testing plans to ensure comprehensive project management and</a:t>
            </a:r>
          </a:p>
          <a:p>
            <a:pPr marL="457200" indent="-457200">
              <a:lnSpc>
                <a:spcPct val="100000"/>
              </a:lnSpc>
              <a:buNone/>
            </a:pPr>
            <a:r>
              <a:rPr lang="en-US" altLang="en-US" sz="2000" dirty="0"/>
              <a:t>execution.</a:t>
            </a:r>
            <a:endParaRPr lang="en-GB" altLang="en-US" sz="2000" dirty="0"/>
          </a:p>
        </p:txBody>
      </p:sp>
    </p:spTree>
    <p:extLst>
      <p:ext uri="{BB962C8B-B14F-4D97-AF65-F5344CB8AC3E}">
        <p14:creationId xmlns:p14="http://schemas.microsoft.com/office/powerpoint/2010/main" val="3415069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30723"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9A2BAC2C-36DC-4B7C-B86B-FB2D8C26ED31}" type="slidenum">
              <a:rPr lang="en-GB" altLang="en-US" sz="1000">
                <a:solidFill>
                  <a:srgbClr val="FFFF00"/>
                </a:solidFill>
                <a:latin typeface="Arial" panose="020B0604020202020204" pitchFamily="34" charset="0"/>
              </a:rPr>
              <a:pPr>
                <a:spcBef>
                  <a:spcPct val="0"/>
                </a:spcBef>
                <a:buClrTx/>
                <a:buFontTx/>
                <a:buNone/>
              </a:pPr>
              <a:t>26</a:t>
            </a:fld>
            <a:endParaRPr lang="en-GB" altLang="en-US" sz="1000">
              <a:solidFill>
                <a:srgbClr val="FFFF00"/>
              </a:solidFill>
              <a:latin typeface="Arial" panose="020B0604020202020204" pitchFamily="34" charset="0"/>
            </a:endParaRPr>
          </a:p>
        </p:txBody>
      </p:sp>
      <p:sp>
        <p:nvSpPr>
          <p:cNvPr id="30724" name="Rectangle 2"/>
          <p:cNvSpPr>
            <a:spLocks noGrp="1" noChangeArrowheads="1"/>
          </p:cNvSpPr>
          <p:nvPr>
            <p:ph type="title"/>
          </p:nvPr>
        </p:nvSpPr>
        <p:spPr/>
        <p:txBody>
          <a:bodyPr/>
          <a:lstStyle/>
          <a:p>
            <a:pPr eaLnBrk="1" hangingPunct="1"/>
            <a:r>
              <a:rPr lang="en-GB" altLang="en-US" dirty="0">
                <a:solidFill>
                  <a:srgbClr val="FFFF00"/>
                </a:solidFill>
              </a:rPr>
              <a:t>Continue</a:t>
            </a:r>
          </a:p>
        </p:txBody>
      </p:sp>
      <p:sp>
        <p:nvSpPr>
          <p:cNvPr id="30725" name="Rectangle 3"/>
          <p:cNvSpPr>
            <a:spLocks noGrp="1" noChangeArrowheads="1"/>
          </p:cNvSpPr>
          <p:nvPr>
            <p:ph type="body" idx="1"/>
          </p:nvPr>
        </p:nvSpPr>
        <p:spPr>
          <a:xfrm>
            <a:off x="838200" y="1825625"/>
            <a:ext cx="11049000" cy="4351338"/>
          </a:xfrm>
        </p:spPr>
        <p:txBody>
          <a:bodyPr/>
          <a:lstStyle/>
          <a:p>
            <a:pPr>
              <a:buFont typeface="Wingdings" panose="05000000000000000000" pitchFamily="2" charset="2"/>
              <a:buChar char="Ø"/>
            </a:pPr>
            <a:r>
              <a:rPr lang="en-US" altLang="en-US" sz="1800" dirty="0"/>
              <a:t>Travel Booking Platform:</a:t>
            </a:r>
          </a:p>
          <a:p>
            <a:pPr marL="457200" indent="-457200">
              <a:buNone/>
            </a:pPr>
            <a:r>
              <a:rPr lang="en-US" altLang="en-US" sz="1800" dirty="0"/>
              <a:t>Develop a travel booking platform that enables users to search for flights, hotels, and rental cars, and</a:t>
            </a:r>
          </a:p>
          <a:p>
            <a:pPr marL="457200" indent="-457200">
              <a:buNone/>
            </a:pPr>
            <a:r>
              <a:rPr lang="en-US" altLang="en-US" sz="1800" dirty="0"/>
              <a:t>make reservations. Functional requirements should include search filters, booking forms, payment</a:t>
            </a:r>
          </a:p>
          <a:p>
            <a:pPr marL="457200" indent="-457200">
              <a:buNone/>
            </a:pPr>
            <a:r>
              <a:rPr lang="en-US" altLang="en-US" sz="1800" dirty="0"/>
              <a:t>processing, and itinerary management. Non-functional requirements should consider reliability,</a:t>
            </a:r>
          </a:p>
          <a:p>
            <a:pPr marL="457200" indent="-457200">
              <a:buNone/>
            </a:pPr>
            <a:r>
              <a:rPr lang="en-US" altLang="en-US" sz="1800" dirty="0"/>
              <a:t>scalability, and cross-device compatibility. students should create functional and non-functional</a:t>
            </a:r>
          </a:p>
          <a:p>
            <a:pPr marL="457200" indent="-457200">
              <a:buNone/>
            </a:pPr>
            <a:r>
              <a:rPr lang="en-US" altLang="en-US" sz="1800" dirty="0"/>
              <a:t>requirement documents, as well as use Figma or a similar tool to create prototypes demonstrating the</a:t>
            </a:r>
          </a:p>
          <a:p>
            <a:pPr marL="457200" indent="-457200">
              <a:buNone/>
            </a:pPr>
            <a:r>
              <a:rPr lang="en-US" altLang="en-US" sz="1800" dirty="0"/>
              <a:t>proposed web and mobile interfaces. They should also consider additional documents such as project</a:t>
            </a:r>
          </a:p>
          <a:p>
            <a:pPr marL="457200" indent="-457200">
              <a:buNone/>
            </a:pPr>
            <a:r>
              <a:rPr lang="en-US" altLang="en-US" sz="1800" dirty="0"/>
              <a:t>plans, user personas, user stories, and testing plans to ensure comprehensive project management</a:t>
            </a:r>
          </a:p>
          <a:p>
            <a:pPr marL="457200" indent="-457200">
              <a:buNone/>
            </a:pPr>
            <a:r>
              <a:rPr lang="en-US" altLang="en-US" sz="1800" dirty="0"/>
              <a:t>and execution.</a:t>
            </a:r>
            <a:endParaRPr lang="en-GB" altLang="en-US" sz="1800" dirty="0"/>
          </a:p>
        </p:txBody>
      </p:sp>
    </p:spTree>
    <p:extLst>
      <p:ext uri="{BB962C8B-B14F-4D97-AF65-F5344CB8AC3E}">
        <p14:creationId xmlns:p14="http://schemas.microsoft.com/office/powerpoint/2010/main" val="3257373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31747"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59A5CD3A-9F0D-4A34-8E21-3B6819D36377}" type="slidenum">
              <a:rPr lang="en-GB" altLang="en-US" sz="1000">
                <a:solidFill>
                  <a:srgbClr val="FFFF00"/>
                </a:solidFill>
                <a:latin typeface="Arial" panose="020B0604020202020204" pitchFamily="34" charset="0"/>
              </a:rPr>
              <a:pPr>
                <a:spcBef>
                  <a:spcPct val="0"/>
                </a:spcBef>
                <a:buClrTx/>
                <a:buFontTx/>
                <a:buNone/>
              </a:pPr>
              <a:t>27</a:t>
            </a:fld>
            <a:endParaRPr lang="en-GB" altLang="en-US" sz="1000">
              <a:solidFill>
                <a:srgbClr val="FFFF00"/>
              </a:solidFill>
              <a:latin typeface="Arial" panose="020B0604020202020204" pitchFamily="34" charset="0"/>
            </a:endParaRPr>
          </a:p>
        </p:txBody>
      </p:sp>
      <p:sp>
        <p:nvSpPr>
          <p:cNvPr id="31748" name="Rectangle 2"/>
          <p:cNvSpPr>
            <a:spLocks noGrp="1" noChangeArrowheads="1"/>
          </p:cNvSpPr>
          <p:nvPr>
            <p:ph type="title"/>
          </p:nvPr>
        </p:nvSpPr>
        <p:spPr/>
        <p:txBody>
          <a:bodyPr/>
          <a:lstStyle/>
          <a:p>
            <a:pPr eaLnBrk="1" hangingPunct="1"/>
            <a:r>
              <a:rPr lang="en-GB" altLang="en-US" dirty="0">
                <a:solidFill>
                  <a:srgbClr val="FFFF00"/>
                </a:solidFill>
              </a:rPr>
              <a:t>Continue</a:t>
            </a:r>
          </a:p>
        </p:txBody>
      </p:sp>
      <p:sp>
        <p:nvSpPr>
          <p:cNvPr id="31749" name="Rectangle 3"/>
          <p:cNvSpPr>
            <a:spLocks noGrp="1" noChangeArrowheads="1"/>
          </p:cNvSpPr>
          <p:nvPr>
            <p:ph type="body" idx="1"/>
          </p:nvPr>
        </p:nvSpPr>
        <p:spPr/>
        <p:txBody>
          <a:bodyPr>
            <a:normAutofit lnSpcReduction="10000"/>
          </a:bodyPr>
          <a:lstStyle/>
          <a:p>
            <a:pPr eaLnBrk="1" hangingPunct="1">
              <a:lnSpc>
                <a:spcPct val="100000"/>
              </a:lnSpc>
              <a:buFont typeface="Wingdings" panose="05000000000000000000" pitchFamily="2" charset="2"/>
              <a:buChar char="Ø"/>
            </a:pPr>
            <a:r>
              <a:rPr lang="en-US" altLang="en-US" sz="2400" dirty="0"/>
              <a:t>Language Learning App:</a:t>
            </a:r>
          </a:p>
          <a:p>
            <a:pPr marL="0" indent="0" eaLnBrk="1" hangingPunct="1">
              <a:lnSpc>
                <a:spcPct val="100000"/>
              </a:lnSpc>
              <a:buNone/>
            </a:pPr>
            <a:r>
              <a:rPr lang="en-US" altLang="en-US" sz="2400" dirty="0"/>
              <a:t>Create a language learning app that helps users learn new languages through interactive lessons, quizzes, and language practice exercises. Functional requirements should include lesson plans, progress tracking, pronunciation exercises, and gamification features. Non-functional requirements should address performance, accessibility, and content localization. students should create functional and non-functional requirement documents, as well as use Figma or a similar tool to create prototypes demonstrating the proposed web and mobile interfaces. They should also consider additional documents such as project plans, user personas, user stories, and testing plans to ensure comprehensive project management and execution. </a:t>
            </a:r>
            <a:endParaRPr lang="en-GB" altLang="en-US" sz="2400" dirty="0"/>
          </a:p>
          <a:p>
            <a:pPr eaLnBrk="1" hangingPunct="1">
              <a:buFontTx/>
              <a:buNone/>
            </a:pPr>
            <a:endParaRPr lang="en-GB" altLang="en-US" sz="2000" dirty="0"/>
          </a:p>
        </p:txBody>
      </p:sp>
    </p:spTree>
    <p:extLst>
      <p:ext uri="{BB962C8B-B14F-4D97-AF65-F5344CB8AC3E}">
        <p14:creationId xmlns:p14="http://schemas.microsoft.com/office/powerpoint/2010/main" val="3669760210"/>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docProps/app.xml><?xml version="1.0" encoding="utf-8"?>
<Properties xmlns="http://schemas.openxmlformats.org/officeDocument/2006/extended-properties" xmlns:vt="http://schemas.openxmlformats.org/officeDocument/2006/docPropsVTypes">
  <Template/>
  <TotalTime>1216</TotalTime>
  <Words>2587</Words>
  <Application>Microsoft Office PowerPoint</Application>
  <PresentationFormat>Widescreen</PresentationFormat>
  <Paragraphs>212</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Tahoma</vt:lpstr>
      <vt:lpstr>Times New Roman</vt:lpstr>
      <vt:lpstr>Wingdings</vt:lpstr>
      <vt:lpstr>Office Theme</vt:lpstr>
      <vt:lpstr>REQUIREMENT ENGINEERING </vt:lpstr>
      <vt:lpstr>Objectives</vt:lpstr>
      <vt:lpstr>Meaning of Requirement</vt:lpstr>
      <vt:lpstr>Requirements can be categorized into different types:</vt:lpstr>
      <vt:lpstr>Cont..</vt:lpstr>
      <vt:lpstr>Requirements Elicitation Techniques:</vt:lpstr>
      <vt:lpstr>Requirements Analysis and Documentation:</vt:lpstr>
      <vt:lpstr>Techniques for Gathering Requirements:</vt:lpstr>
      <vt:lpstr>Difficulties and Risks in Domain and Requirements Analysis:</vt:lpstr>
      <vt:lpstr>Managing and Prioritizing Requirements:</vt:lpstr>
      <vt:lpstr>Choosing and Provision of Requirements for a Sample Project and Use Figma to Demonstrate:</vt:lpstr>
      <vt:lpstr>Project: Online Food Delivery Platform</vt:lpstr>
      <vt:lpstr>Continue…</vt:lpstr>
      <vt:lpstr>Continue…</vt:lpstr>
      <vt:lpstr>cont…</vt:lpstr>
      <vt:lpstr>Continue…</vt:lpstr>
      <vt:lpstr>Use Figma to Demonstrate Requirements:</vt:lpstr>
      <vt:lpstr>Projects: E-Learning Platform: </vt:lpstr>
      <vt:lpstr>    E-commerce</vt:lpstr>
      <vt:lpstr>Functional Requirement cont.</vt:lpstr>
      <vt:lpstr>Continue…</vt:lpstr>
      <vt:lpstr>Non-Functional Requirements:</vt:lpstr>
      <vt:lpstr>Non-Functional Requirements cont:</vt:lpstr>
      <vt:lpstr>Figma Prototype and Documentation:</vt:lpstr>
      <vt:lpstr>Samples of other projects</vt:lpstr>
      <vt:lpstr>Continue</vt:lpstr>
      <vt:lpstr>Continue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user</cp:lastModifiedBy>
  <cp:revision>23</cp:revision>
  <dcterms:created xsi:type="dcterms:W3CDTF">2023-03-30T14:56:20Z</dcterms:created>
  <dcterms:modified xsi:type="dcterms:W3CDTF">2024-04-03T14:28:27Z</dcterms:modified>
</cp:coreProperties>
</file>